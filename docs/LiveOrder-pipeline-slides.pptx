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Mở đầu: LiveOrder là bản demo livestream bán hàng chạy trên một process Next.js + socket.io. Bài trình bày hôm nay đi theo pipeline toàn dự án, nhưng trọng tâm là hai lõi: Aho-Corasick bắt SKU trong comment để chốt đơn, và RAG trong Inbox AI 24/7. Thông điệp xuyên suốt: mọi thứ realtime, nhưng DB là nguồn sự thật duy nhất.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nỗi đau: chốt đơn thủ công dễ bỏ sót, shop offline thì không ai tư vấn, và AI trả lời sai vì giá/kho thay đổi. Aho-Corasick xử lý bài toán comment → đơn; RAG xử lý bài toán tư vấn có nguồn. Kết quả mong đợi: không bỏ sót đơn, AI 24/7 đúng shop, và kho không bao giờ âm.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Điểm cần nói: chỉ một process, nhưng có hai không gian realtime — /live cho comment và đơn, /inbox cho chat và AI. Danh tính luôn lấy từ JWT ở handshake, không tin payload. PostgreSQL là nguồn sự thật duy nhất cho giá, kho, trạng thái đơn và mode hội thoại. Embedder và RAG index nằm trên globalThis để không bị nhân bản giữa các bundle của Next.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sơ đồ xương sống của toàn dự án. Lane trên là live commerce: seller mở live, buyer comment, Aho-Corasick bắt SKU, tạo đơn PENDING, thanh toán QR, giao hàng và tổng kết Dashboard. Lane dưới là AI 24/7 chạy song song trong Inbox: RAG top-5, Groq, trace và takeover. Hai lane gặp nhau ở DB: Product, Order, Conversation, DirectMessage.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Automaton gồm trie các SKU, fail link nối hậu tố dài nhất, và output lan truyền theo fail link. Nhờ fail link, quét text chỉ đi một lượt, độ phức tạp O(n + số match), không phải thử từng SKU. Word boundary đảm bảo SP01 không khớp trong SP010; start/end UTF-16 đảm bảo highlight đúng. Một automaton được cache theo phiên live và chỉ nạp SKU của đúng shop đó.</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Đi qua 5 bước. Điểm quan trọng nhất là bước 4: điều kiện stock &gt;= qty nằm trong chính câu UPDATE, trong cùng transaction với INSERT Order. Vì vậy hai transaction song song không thể cùng trừ khi kho chỉ còn 1. Bước 3 chống trùng bằng eventId sinh từ session, user, nonce và SKU; request thua bị unique chặn sẽ trả đơn của request thắng. Ba kết quả cuối: tạo đơn, hết hàng, hoặc trùng nonce.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Đọc ví dụ trên terminal: comment 'lấy SP01 2 cái' cho match tại [4,8), qty 2, thời gian 0,31 ms đo thật, đơn #12 và kho 8 → 6. Bảng bên phải là các ca biên đã kiểm thử: SP010, xSP01, SP01SP02 đều không khớp; số 3 chữ số không thành qty; SĐT bị che. Nhấn mạnh: đúng shop, đúng kho, đúng vị trí highlight.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RAG có hai pha. Pha nạp là lazy: chỉ dựng index khi shop được hỏi lần đầu, hoặc sau khi bị invalidate. Pha truy vấn đi qua router trước: nếu là câu hỏi về đơn thì đi template DB, nếu không mới embed câu hỏi và lấy top-5. Điểm mấu chốt: giá và kho không nằm trong vector — chúng được đọc tươi từ DB mỗi lần dựng prompt, nên đổi giá không cần đánh lại index.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Index được dựng lười theo từng shop và giữ trong RAM trên globalThis. Một model e5-small duy nhất cho cả process, cache khoảng 113 MB. Vector đã normalize nên cosine chỉ là dot product, topK mặc định 5. Sửa KB hoặc tên/SKU sản phẩm sẽ gọi invalidateShopIndex; đổi giá/kho thì không cần vì hai trường này không được embed. Không có vector DB — đây là lựa chọn có chủ đích cho demo.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Router có ba nhánh: nếu mode = HUMAN thì AI im lặng; nếu là câu hỏi về đơn thì trả template đọc DB theo đúng buyer + shop, không gọi LLM; còn lại mới đi RAG. Nhánh RAG lấy top-5, dựng context gồm KB, toàn bộ sản phẩm với giá/kho tươi, SKU exact, live đang mở và 20 tin gần nhất. Groq lỗi thì fallback toàn bộ KB. Takeover được kiểm tra lại bằng version sau khi AI trả lời.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chỉ có một system message chứa vai, quy tắc và toàn bộ ngữ cảnh; sau đó là lịch sử 20 tin và câu hỏi. Bốn chốt chặn: cô lập shop, câu hỏi đơn đi template DB, takeover thắng bằng version, và trace đầy đủ để giải thích. Trace lưu model, topK + score, sản phẩm, token, thời gian, fallback/error — hiển thị ở UI 'Vì sao AI trả lời thế này?'.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kịch bản demo 10 phút. Mở live, khách chốt SP01 2 cái để thấy Aho-Corasick; hỏi size để thấy RAG; hỏi đơn để thấy template DB; thanh toán QR để thấy SYSTEM message và inbox nhảy; cuối cùng seller takeover để thấy AI dừng, rồi kết thúc live và mở Dashboard. Mỗi mốc đều có bằng chứng: log ms, chip nguồn, trace, trạng thái đơn trong DB.</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Chốt ba ý: Aho-Corasick biến comment thành đơn nhanh, đúng và không oversell; RAG biến dữ liệu shop thành câu trả lời đúng shop, đúng giá/kho, có dẫn nguồn; takeover + trace + fallback giữ niềm tin — người thật luôn thắng, AI không bịa. Cảm ơn hội đồng, mời đặt câu hỏi.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7818120" y="0"/>
            <a:ext cx="18288" cy="6858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1234440"/>
            <a:ext cx="6675120" cy="274320"/>
          </a:xfrm>
          <a:prstGeom prst="rect">
            <a:avLst/>
          </a:prstGeom>
          <a:noFill/>
        </p:spPr>
        <p:txBody>
          <a:bodyPr wrap="square" lIns="36576" tIns="18288" rIns="36576" bIns="18288" anchor="t">
            <a:spAutoFit/>
          </a:bodyPr>
          <a:lstStyle/>
          <a:p>
            <a:pPr algn="l">
              <a:lnSpc>
                <a:spcPct val="100000"/>
              </a:lnSpc>
              <a:spcAft>
                <a:spcPts val="0"/>
              </a:spcAft>
            </a:pPr>
            <a:r>
              <a:rPr sz="1000" b="1" i="0">
                <a:solidFill>
                  <a:srgbClr val="5EEAD4"/>
                </a:solidFill>
                <a:latin typeface="Segoe UI"/>
              </a:rPr>
              <a:t>ĐỒ ÁN TỐT NGHIỆP · LIVESTREAM COMMERCE</a:t>
            </a:r>
          </a:p>
        </p:txBody>
      </p:sp>
      <p:sp>
        <p:nvSpPr>
          <p:cNvPr id="5" name="TextBox 4"/>
          <p:cNvSpPr txBox="1"/>
          <p:nvPr/>
        </p:nvSpPr>
        <p:spPr>
          <a:xfrm>
            <a:off x="758952" y="1691640"/>
            <a:ext cx="6766560" cy="914400"/>
          </a:xfrm>
          <a:prstGeom prst="rect">
            <a:avLst/>
          </a:prstGeom>
          <a:noFill/>
        </p:spPr>
        <p:txBody>
          <a:bodyPr wrap="square" lIns="36576" tIns="18288" rIns="36576" bIns="18288" anchor="t">
            <a:spAutoFit/>
          </a:bodyPr>
          <a:lstStyle/>
          <a:p>
            <a:pPr algn="l">
              <a:lnSpc>
                <a:spcPct val="100000"/>
              </a:lnSpc>
              <a:spcAft>
                <a:spcPts val="0"/>
              </a:spcAft>
            </a:pPr>
            <a:r>
              <a:rPr sz="5400" b="1" i="0">
                <a:solidFill>
                  <a:srgbClr val="FFFFFF"/>
                </a:solidFill>
                <a:latin typeface="Segoe UI"/>
              </a:rPr>
              <a:t>LiveOrder</a:t>
            </a:r>
          </a:p>
        </p:txBody>
      </p:sp>
      <p:sp>
        <p:nvSpPr>
          <p:cNvPr id="6" name="TextBox 5"/>
          <p:cNvSpPr txBox="1"/>
          <p:nvPr/>
        </p:nvSpPr>
        <p:spPr>
          <a:xfrm>
            <a:off x="777240" y="2606040"/>
            <a:ext cx="6675120" cy="502920"/>
          </a:xfrm>
          <a:prstGeom prst="rect">
            <a:avLst/>
          </a:prstGeom>
          <a:noFill/>
        </p:spPr>
        <p:txBody>
          <a:bodyPr wrap="square" lIns="36576" tIns="18288" rIns="36576" bIns="18288" anchor="t">
            <a:spAutoFit/>
          </a:bodyPr>
          <a:lstStyle/>
          <a:p>
            <a:pPr algn="l">
              <a:lnSpc>
                <a:spcPct val="100000"/>
              </a:lnSpc>
              <a:spcAft>
                <a:spcPts val="0"/>
              </a:spcAft>
            </a:pPr>
            <a:r>
              <a:rPr sz="2700" b="1" i="0">
                <a:solidFill>
                  <a:srgbClr val="99F6E4"/>
                </a:solidFill>
                <a:latin typeface="Segoe UI"/>
              </a:rPr>
              <a:t>PIPELINE TOÀN DỰ ÁN</a:t>
            </a:r>
          </a:p>
        </p:txBody>
      </p:sp>
      <p:sp>
        <p:nvSpPr>
          <p:cNvPr id="7" name="TextBox 6"/>
          <p:cNvSpPr txBox="1"/>
          <p:nvPr/>
        </p:nvSpPr>
        <p:spPr>
          <a:xfrm>
            <a:off x="777240" y="3246120"/>
            <a:ext cx="6583680" cy="685800"/>
          </a:xfrm>
          <a:prstGeom prst="rect">
            <a:avLst/>
          </a:prstGeom>
          <a:noFill/>
        </p:spPr>
        <p:txBody>
          <a:bodyPr wrap="square" lIns="36576" tIns="18288" rIns="36576" bIns="18288" anchor="t">
            <a:spAutoFit/>
          </a:bodyPr>
          <a:lstStyle/>
          <a:p>
            <a:pPr algn="l">
              <a:lnSpc>
                <a:spcPct val="115000"/>
              </a:lnSpc>
              <a:spcAft>
                <a:spcPts val="0"/>
              </a:spcAft>
            </a:pPr>
            <a:r>
              <a:rPr sz="1300" b="0" i="0">
                <a:solidFill>
                  <a:srgbClr val="CBD5E1"/>
                </a:solidFill>
                <a:latin typeface="Segoe UI"/>
              </a:rPr>
              <a:t>Từ comment livestream đến đơn hàng, và AI tư vấn 24/7 —</a:t>
            </a:r>
          </a:p>
          <a:p>
            <a:pPr algn="l">
              <a:lnSpc>
                <a:spcPct val="115000"/>
              </a:lnSpc>
              <a:spcAft>
                <a:spcPts val="0"/>
              </a:spcAft>
            </a:pPr>
            <a:r>
              <a:rPr sz="1300" b="0" i="0">
                <a:solidFill>
                  <a:srgbClr val="CBD5E1"/>
                </a:solidFill>
                <a:latin typeface="Segoe UI"/>
              </a:rPr>
              <a:t>một process, hai lõi thuật toán, một nguồn sự thật.</a:t>
            </a:r>
          </a:p>
        </p:txBody>
      </p:sp>
      <p:sp>
        <p:nvSpPr>
          <p:cNvPr id="8" name="Rounded Rectangle 7"/>
          <p:cNvSpPr/>
          <p:nvPr/>
        </p:nvSpPr>
        <p:spPr>
          <a:xfrm>
            <a:off x="777240" y="4343400"/>
            <a:ext cx="3154680" cy="868680"/>
          </a:xfrm>
          <a:prstGeom prst="roundRect">
            <a:avLst>
              <a:gd name="adj" fmla="val 12000"/>
            </a:avLst>
          </a:prstGeom>
          <a:solidFill>
            <a:srgbClr val="0F2E2C"/>
          </a:solidFill>
          <a:ln w="1524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14400" y="4416552"/>
            <a:ext cx="1920240" cy="228600"/>
          </a:xfrm>
          <a:prstGeom prst="rect">
            <a:avLst/>
          </a:prstGeom>
          <a:noFill/>
        </p:spPr>
        <p:txBody>
          <a:bodyPr wrap="square" lIns="36576" tIns="18288" rIns="36576" bIns="18288" anchor="t">
            <a:spAutoFit/>
          </a:bodyPr>
          <a:lstStyle/>
          <a:p>
            <a:pPr algn="l">
              <a:lnSpc>
                <a:spcPct val="100000"/>
              </a:lnSpc>
              <a:spcAft>
                <a:spcPts val="0"/>
              </a:spcAft>
            </a:pPr>
            <a:r>
              <a:rPr sz="850" b="1" i="0">
                <a:solidFill>
                  <a:srgbClr val="5EEAD4"/>
                </a:solidFill>
                <a:latin typeface="Segoe UI"/>
              </a:rPr>
              <a:t>①  CỐT LÕI 1</a:t>
            </a:r>
          </a:p>
        </p:txBody>
      </p:sp>
      <p:sp>
        <p:nvSpPr>
          <p:cNvPr id="10" name="TextBox 9"/>
          <p:cNvSpPr txBox="1"/>
          <p:nvPr/>
        </p:nvSpPr>
        <p:spPr>
          <a:xfrm>
            <a:off x="914400" y="4663440"/>
            <a:ext cx="2880360" cy="411480"/>
          </a:xfrm>
          <a:prstGeom prst="rect">
            <a:avLst/>
          </a:prstGeom>
          <a:noFill/>
        </p:spPr>
        <p:txBody>
          <a:bodyPr wrap="square" lIns="36576" tIns="18288" rIns="36576" bIns="18288" anchor="t">
            <a:spAutoFit/>
          </a:bodyPr>
          <a:lstStyle/>
          <a:p>
            <a:pPr algn="l">
              <a:lnSpc>
                <a:spcPct val="100000"/>
              </a:lnSpc>
              <a:spcAft>
                <a:spcPts val="0"/>
              </a:spcAft>
            </a:pPr>
            <a:r>
              <a:rPr sz="1700" b="1" i="0">
                <a:solidFill>
                  <a:srgbClr val="FFFFFF"/>
                </a:solidFill>
                <a:latin typeface="Segoe UI"/>
              </a:rPr>
              <a:t>Aho-Corasick</a:t>
            </a:r>
          </a:p>
        </p:txBody>
      </p:sp>
      <p:sp>
        <p:nvSpPr>
          <p:cNvPr id="11" name="TextBox 10"/>
          <p:cNvSpPr txBox="1"/>
          <p:nvPr/>
        </p:nvSpPr>
        <p:spPr>
          <a:xfrm>
            <a:off x="2514600" y="4681728"/>
            <a:ext cx="1325880" cy="320040"/>
          </a:xfrm>
          <a:prstGeom prst="rect">
            <a:avLst/>
          </a:prstGeom>
          <a:noFill/>
        </p:spPr>
        <p:txBody>
          <a:bodyPr wrap="square" lIns="36576" tIns="18288" rIns="36576" bIns="18288" anchor="t">
            <a:spAutoFit/>
          </a:bodyPr>
          <a:lstStyle/>
          <a:p>
            <a:pPr algn="r">
              <a:lnSpc>
                <a:spcPct val="100000"/>
              </a:lnSpc>
              <a:spcAft>
                <a:spcPts val="0"/>
              </a:spcAft>
            </a:pPr>
            <a:r>
              <a:rPr sz="850" b="0" i="0">
                <a:solidFill>
                  <a:srgbClr val="99F6E4"/>
                </a:solidFill>
                <a:latin typeface="Segoe UI"/>
              </a:rPr>
              <a:t>bắt SKU → đơn</a:t>
            </a:r>
          </a:p>
        </p:txBody>
      </p:sp>
      <p:sp>
        <p:nvSpPr>
          <p:cNvPr id="12" name="Rounded Rectangle 11"/>
          <p:cNvSpPr/>
          <p:nvPr/>
        </p:nvSpPr>
        <p:spPr>
          <a:xfrm>
            <a:off x="4096512" y="4343400"/>
            <a:ext cx="3246120" cy="868680"/>
          </a:xfrm>
          <a:prstGeom prst="roundRect">
            <a:avLst>
              <a:gd name="adj" fmla="val 12000"/>
            </a:avLst>
          </a:prstGeom>
          <a:solidFill>
            <a:srgbClr val="15203A"/>
          </a:solidFill>
          <a:ln w="1524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233672" y="4416552"/>
            <a:ext cx="2011680" cy="228600"/>
          </a:xfrm>
          <a:prstGeom prst="rect">
            <a:avLst/>
          </a:prstGeom>
          <a:noFill/>
        </p:spPr>
        <p:txBody>
          <a:bodyPr wrap="square" lIns="36576" tIns="18288" rIns="36576" bIns="18288" anchor="t">
            <a:spAutoFit/>
          </a:bodyPr>
          <a:lstStyle/>
          <a:p>
            <a:pPr algn="l">
              <a:lnSpc>
                <a:spcPct val="100000"/>
              </a:lnSpc>
              <a:spcAft>
                <a:spcPts val="0"/>
              </a:spcAft>
            </a:pPr>
            <a:r>
              <a:rPr sz="850" b="1" i="0">
                <a:solidFill>
                  <a:srgbClr val="93C5FD"/>
                </a:solidFill>
                <a:latin typeface="Segoe UI"/>
              </a:rPr>
              <a:t>②  CỐT LÕI 2</a:t>
            </a:r>
          </a:p>
        </p:txBody>
      </p:sp>
      <p:sp>
        <p:nvSpPr>
          <p:cNvPr id="14" name="TextBox 13"/>
          <p:cNvSpPr txBox="1"/>
          <p:nvPr/>
        </p:nvSpPr>
        <p:spPr>
          <a:xfrm>
            <a:off x="4233672" y="4663440"/>
            <a:ext cx="1828800" cy="411480"/>
          </a:xfrm>
          <a:prstGeom prst="rect">
            <a:avLst/>
          </a:prstGeom>
          <a:noFill/>
        </p:spPr>
        <p:txBody>
          <a:bodyPr wrap="square" lIns="36576" tIns="18288" rIns="36576" bIns="18288" anchor="t">
            <a:spAutoFit/>
          </a:bodyPr>
          <a:lstStyle/>
          <a:p>
            <a:pPr algn="l">
              <a:lnSpc>
                <a:spcPct val="100000"/>
              </a:lnSpc>
              <a:spcAft>
                <a:spcPts val="0"/>
              </a:spcAft>
            </a:pPr>
            <a:r>
              <a:rPr sz="1700" b="1" i="0">
                <a:solidFill>
                  <a:srgbClr val="FFFFFF"/>
                </a:solidFill>
                <a:latin typeface="Segoe UI"/>
              </a:rPr>
              <a:t>RAG</a:t>
            </a:r>
          </a:p>
        </p:txBody>
      </p:sp>
      <p:sp>
        <p:nvSpPr>
          <p:cNvPr id="15" name="TextBox 14"/>
          <p:cNvSpPr txBox="1"/>
          <p:nvPr/>
        </p:nvSpPr>
        <p:spPr>
          <a:xfrm>
            <a:off x="5166360" y="4681728"/>
            <a:ext cx="2011680" cy="320040"/>
          </a:xfrm>
          <a:prstGeom prst="rect">
            <a:avLst/>
          </a:prstGeom>
          <a:noFill/>
        </p:spPr>
        <p:txBody>
          <a:bodyPr wrap="square" lIns="36576" tIns="18288" rIns="36576" bIns="18288" anchor="t">
            <a:spAutoFit/>
          </a:bodyPr>
          <a:lstStyle/>
          <a:p>
            <a:pPr algn="r">
              <a:lnSpc>
                <a:spcPct val="100000"/>
              </a:lnSpc>
              <a:spcAft>
                <a:spcPts val="0"/>
              </a:spcAft>
            </a:pPr>
            <a:r>
              <a:rPr sz="850" b="0" i="0">
                <a:solidFill>
                  <a:srgbClr val="BFDBFE"/>
                </a:solidFill>
                <a:latin typeface="Segoe UI"/>
              </a:rPr>
              <a:t>Inbox AI 24/7</a:t>
            </a:r>
          </a:p>
        </p:txBody>
      </p:sp>
      <p:sp>
        <p:nvSpPr>
          <p:cNvPr id="16" name="TextBox 15"/>
          <p:cNvSpPr txBox="1"/>
          <p:nvPr/>
        </p:nvSpPr>
        <p:spPr>
          <a:xfrm>
            <a:off x="777240" y="5623560"/>
            <a:ext cx="6675120" cy="320040"/>
          </a:xfrm>
          <a:prstGeom prst="rect">
            <a:avLst/>
          </a:prstGeom>
          <a:noFill/>
        </p:spPr>
        <p:txBody>
          <a:bodyPr wrap="square" lIns="36576" tIns="18288" rIns="36576" bIns="18288" anchor="t">
            <a:spAutoFit/>
          </a:bodyPr>
          <a:lstStyle/>
          <a:p>
            <a:pPr algn="l">
              <a:lnSpc>
                <a:spcPct val="100000"/>
              </a:lnSpc>
              <a:spcAft>
                <a:spcPts val="0"/>
              </a:spcAft>
            </a:pPr>
            <a:r>
              <a:rPr sz="900" b="0" i="0">
                <a:solidFill>
                  <a:srgbClr val="64748B"/>
                </a:solidFill>
                <a:latin typeface="Segoe UI"/>
              </a:rPr>
              <a:t>Next.js 16 · React 19 · Socket.IO · Prisma 7 / PostgreSQL · e5-small local · Groq</a:t>
            </a:r>
          </a:p>
        </p:txBody>
      </p:sp>
      <p:sp>
        <p:nvSpPr>
          <p:cNvPr id="17" name="Rounded Rectangle 16"/>
          <p:cNvSpPr/>
          <p:nvPr/>
        </p:nvSpPr>
        <p:spPr>
          <a:xfrm>
            <a:off x="8275320" y="1417320"/>
            <a:ext cx="3337560" cy="4160520"/>
          </a:xfrm>
          <a:prstGeom prst="roundRect">
            <a:avLst>
              <a:gd name="adj" fmla="val 12000"/>
            </a:avLst>
          </a:prstGeom>
          <a:solidFill>
            <a:srgbClr val="111C30"/>
          </a:solid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503920" y="1600200"/>
            <a:ext cx="2880360" cy="228600"/>
          </a:xfrm>
          <a:prstGeom prst="rect">
            <a:avLst/>
          </a:prstGeom>
          <a:noFill/>
        </p:spPr>
        <p:txBody>
          <a:bodyPr wrap="square" lIns="36576" tIns="18288" rIns="36576" bIns="18288" anchor="t">
            <a:spAutoFit/>
          </a:bodyPr>
          <a:lstStyle/>
          <a:p>
            <a:pPr algn="l">
              <a:lnSpc>
                <a:spcPct val="100000"/>
              </a:lnSpc>
              <a:spcAft>
                <a:spcPts val="0"/>
              </a:spcAft>
            </a:pPr>
            <a:r>
              <a:rPr sz="850" b="1" i="0">
                <a:solidFill>
                  <a:srgbClr val="5EEAD4"/>
                </a:solidFill>
                <a:latin typeface="Segoe UI"/>
              </a:rPr>
              <a:t>LIVE PIPELINE</a:t>
            </a:r>
          </a:p>
        </p:txBody>
      </p:sp>
      <p:sp>
        <p:nvSpPr>
          <p:cNvPr id="19" name="Rounded Rectangle 18"/>
          <p:cNvSpPr/>
          <p:nvPr/>
        </p:nvSpPr>
        <p:spPr>
          <a:xfrm>
            <a:off x="8503920" y="1920240"/>
            <a:ext cx="2880360" cy="566928"/>
          </a:xfrm>
          <a:prstGeom prst="roundRect">
            <a:avLst>
              <a:gd name="adj" fmla="val 12000"/>
            </a:avLst>
          </a:prstGeom>
          <a:solidFill>
            <a:srgbClr val="17243C"/>
          </a:solidFill>
          <a:ln w="12700">
            <a:solidFill>
              <a:srgbClr val="2B3B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613648" y="1975104"/>
            <a:ext cx="2697480" cy="201168"/>
          </a:xfrm>
          <a:prstGeom prst="rect">
            <a:avLst/>
          </a:prstGeom>
          <a:noFill/>
        </p:spPr>
        <p:txBody>
          <a:bodyPr wrap="square" lIns="36576" tIns="18288" rIns="36576" bIns="18288" anchor="t">
            <a:spAutoFit/>
          </a:bodyPr>
          <a:lstStyle/>
          <a:p>
            <a:pPr algn="l">
              <a:lnSpc>
                <a:spcPct val="100000"/>
              </a:lnSpc>
              <a:spcAft>
                <a:spcPts val="0"/>
              </a:spcAft>
            </a:pPr>
            <a:r>
              <a:rPr sz="850" b="1" i="0">
                <a:solidFill>
                  <a:srgbClr val="FFFFFF"/>
                </a:solidFill>
                <a:latin typeface="Segoe UI"/>
              </a:rPr>
              <a:t>comment</a:t>
            </a:r>
          </a:p>
        </p:txBody>
      </p:sp>
      <p:sp>
        <p:nvSpPr>
          <p:cNvPr id="21" name="TextBox 20"/>
          <p:cNvSpPr txBox="1"/>
          <p:nvPr/>
        </p:nvSpPr>
        <p:spPr>
          <a:xfrm>
            <a:off x="8613648" y="2185416"/>
            <a:ext cx="2697480" cy="201168"/>
          </a:xfrm>
          <a:prstGeom prst="rect">
            <a:avLst/>
          </a:prstGeom>
          <a:noFill/>
        </p:spPr>
        <p:txBody>
          <a:bodyPr wrap="square" lIns="36576" tIns="18288" rIns="36576" bIns="18288" anchor="t">
            <a:spAutoFit/>
          </a:bodyPr>
          <a:lstStyle/>
          <a:p>
            <a:pPr algn="l">
              <a:lnSpc>
                <a:spcPct val="100000"/>
              </a:lnSpc>
              <a:spcAft>
                <a:spcPts val="0"/>
              </a:spcAft>
            </a:pPr>
            <a:r>
              <a:rPr sz="750" b="0" i="0">
                <a:solidFill>
                  <a:srgbClr val="94A3B8"/>
                </a:solidFill>
                <a:latin typeface="Segoe UI"/>
              </a:rPr>
              <a:t>SP01 2 cái</a:t>
            </a:r>
          </a:p>
        </p:txBody>
      </p:sp>
      <p:cxnSp>
        <p:nvCxnSpPr>
          <p:cNvPr id="22" name="Connector 21"/>
          <p:cNvCxnSpPr/>
          <p:nvPr/>
        </p:nvCxnSpPr>
        <p:spPr>
          <a:xfrm>
            <a:off x="9939528" y="2487168"/>
            <a:ext cx="0" cy="128016"/>
          </a:xfrm>
          <a:prstGeom prst="line">
            <a:avLst/>
          </a:prstGeom>
          <a:ln w="127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503920" y="2615184"/>
            <a:ext cx="2880360" cy="566928"/>
          </a:xfrm>
          <a:prstGeom prst="roundRect">
            <a:avLst>
              <a:gd name="adj" fmla="val 12000"/>
            </a:avLst>
          </a:prstGeom>
          <a:solidFill>
            <a:srgbClr val="17243C"/>
          </a:solidFill>
          <a:ln w="12700">
            <a:solidFill>
              <a:srgbClr val="2B3B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613648" y="2670048"/>
            <a:ext cx="2697480" cy="201168"/>
          </a:xfrm>
          <a:prstGeom prst="rect">
            <a:avLst/>
          </a:prstGeom>
          <a:noFill/>
        </p:spPr>
        <p:txBody>
          <a:bodyPr wrap="square" lIns="36576" tIns="18288" rIns="36576" bIns="18288" anchor="t">
            <a:spAutoFit/>
          </a:bodyPr>
          <a:lstStyle/>
          <a:p>
            <a:pPr algn="l">
              <a:lnSpc>
                <a:spcPct val="100000"/>
              </a:lnSpc>
              <a:spcAft>
                <a:spcPts val="0"/>
              </a:spcAft>
            </a:pPr>
            <a:r>
              <a:rPr sz="850" b="1" i="0">
                <a:solidFill>
                  <a:srgbClr val="FFFFFF"/>
                </a:solidFill>
                <a:latin typeface="Segoe UI"/>
              </a:rPr>
              <a:t>Aho-Corasick</a:t>
            </a:r>
          </a:p>
        </p:txBody>
      </p:sp>
      <p:sp>
        <p:nvSpPr>
          <p:cNvPr id="25" name="TextBox 24"/>
          <p:cNvSpPr txBox="1"/>
          <p:nvPr/>
        </p:nvSpPr>
        <p:spPr>
          <a:xfrm>
            <a:off x="8613648" y="2880360"/>
            <a:ext cx="2697480" cy="201168"/>
          </a:xfrm>
          <a:prstGeom prst="rect">
            <a:avLst/>
          </a:prstGeom>
          <a:noFill/>
        </p:spPr>
        <p:txBody>
          <a:bodyPr wrap="square" lIns="36576" tIns="18288" rIns="36576" bIns="18288" anchor="t">
            <a:spAutoFit/>
          </a:bodyPr>
          <a:lstStyle/>
          <a:p>
            <a:pPr algn="l">
              <a:lnSpc>
                <a:spcPct val="100000"/>
              </a:lnSpc>
              <a:spcAft>
                <a:spcPts val="0"/>
              </a:spcAft>
            </a:pPr>
            <a:r>
              <a:rPr sz="750" b="0" i="0">
                <a:solidFill>
                  <a:srgbClr val="94A3B8"/>
                </a:solidFill>
                <a:latin typeface="Segoe UI"/>
              </a:rPr>
              <a:t>match · qty · 0,x ms</a:t>
            </a:r>
          </a:p>
        </p:txBody>
      </p:sp>
      <p:cxnSp>
        <p:nvCxnSpPr>
          <p:cNvPr id="26" name="Connector 25"/>
          <p:cNvCxnSpPr/>
          <p:nvPr/>
        </p:nvCxnSpPr>
        <p:spPr>
          <a:xfrm>
            <a:off x="9939528" y="3182112"/>
            <a:ext cx="0" cy="128016"/>
          </a:xfrm>
          <a:prstGeom prst="line">
            <a:avLst/>
          </a:prstGeom>
          <a:ln w="127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503920" y="3310128"/>
            <a:ext cx="2880360" cy="566928"/>
          </a:xfrm>
          <a:prstGeom prst="roundRect">
            <a:avLst>
              <a:gd name="adj" fmla="val 12000"/>
            </a:avLst>
          </a:prstGeom>
          <a:solidFill>
            <a:srgbClr val="17243C"/>
          </a:solidFill>
          <a:ln w="12700">
            <a:solidFill>
              <a:srgbClr val="2B3B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613648" y="3364992"/>
            <a:ext cx="2697480" cy="201168"/>
          </a:xfrm>
          <a:prstGeom prst="rect">
            <a:avLst/>
          </a:prstGeom>
          <a:noFill/>
        </p:spPr>
        <p:txBody>
          <a:bodyPr wrap="square" lIns="36576" tIns="18288" rIns="36576" bIns="18288" anchor="t">
            <a:spAutoFit/>
          </a:bodyPr>
          <a:lstStyle/>
          <a:p>
            <a:pPr algn="l">
              <a:lnSpc>
                <a:spcPct val="100000"/>
              </a:lnSpc>
              <a:spcAft>
                <a:spcPts val="0"/>
              </a:spcAft>
            </a:pPr>
            <a:r>
              <a:rPr sz="850" b="1" i="0">
                <a:solidFill>
                  <a:srgbClr val="FFFFFF"/>
                </a:solidFill>
                <a:latin typeface="Segoe UI"/>
              </a:rPr>
              <a:t>Order PENDING</a:t>
            </a:r>
          </a:p>
        </p:txBody>
      </p:sp>
      <p:sp>
        <p:nvSpPr>
          <p:cNvPr id="29" name="TextBox 28"/>
          <p:cNvSpPr txBox="1"/>
          <p:nvPr/>
        </p:nvSpPr>
        <p:spPr>
          <a:xfrm>
            <a:off x="8613648" y="3575304"/>
            <a:ext cx="2697480" cy="201168"/>
          </a:xfrm>
          <a:prstGeom prst="rect">
            <a:avLst/>
          </a:prstGeom>
          <a:noFill/>
        </p:spPr>
        <p:txBody>
          <a:bodyPr wrap="square" lIns="36576" tIns="18288" rIns="36576" bIns="18288" anchor="t">
            <a:spAutoFit/>
          </a:bodyPr>
          <a:lstStyle/>
          <a:p>
            <a:pPr algn="l">
              <a:lnSpc>
                <a:spcPct val="100000"/>
              </a:lnSpc>
              <a:spcAft>
                <a:spcPts val="0"/>
              </a:spcAft>
            </a:pPr>
            <a:r>
              <a:rPr sz="750" b="0" i="0">
                <a:solidFill>
                  <a:srgbClr val="94A3B8"/>
                </a:solidFill>
                <a:latin typeface="Segoe UI"/>
              </a:rPr>
              <a:t>trừ kho nguyên tử</a:t>
            </a:r>
          </a:p>
        </p:txBody>
      </p:sp>
      <p:cxnSp>
        <p:nvCxnSpPr>
          <p:cNvPr id="30" name="Connector 29"/>
          <p:cNvCxnSpPr/>
          <p:nvPr/>
        </p:nvCxnSpPr>
        <p:spPr>
          <a:xfrm>
            <a:off x="9939528" y="3877056"/>
            <a:ext cx="0" cy="128016"/>
          </a:xfrm>
          <a:prstGeom prst="line">
            <a:avLst/>
          </a:prstGeom>
          <a:ln w="127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503920" y="4005072"/>
            <a:ext cx="2880360" cy="566928"/>
          </a:xfrm>
          <a:prstGeom prst="roundRect">
            <a:avLst>
              <a:gd name="adj" fmla="val 12000"/>
            </a:avLst>
          </a:prstGeom>
          <a:solidFill>
            <a:srgbClr val="17243C"/>
          </a:solidFill>
          <a:ln w="12700">
            <a:solidFill>
              <a:srgbClr val="2B3B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613648" y="4059935"/>
            <a:ext cx="2697480" cy="201168"/>
          </a:xfrm>
          <a:prstGeom prst="rect">
            <a:avLst/>
          </a:prstGeom>
          <a:noFill/>
        </p:spPr>
        <p:txBody>
          <a:bodyPr wrap="square" lIns="36576" tIns="18288" rIns="36576" bIns="18288" anchor="t">
            <a:spAutoFit/>
          </a:bodyPr>
          <a:lstStyle/>
          <a:p>
            <a:pPr algn="l">
              <a:lnSpc>
                <a:spcPct val="100000"/>
              </a:lnSpc>
              <a:spcAft>
                <a:spcPts val="0"/>
              </a:spcAft>
            </a:pPr>
            <a:r>
              <a:rPr sz="850" b="1" i="0">
                <a:solidFill>
                  <a:srgbClr val="FFFFFF"/>
                </a:solidFill>
                <a:latin typeface="Segoe UI"/>
              </a:rPr>
              <a:t>QR → PAID</a:t>
            </a:r>
          </a:p>
        </p:txBody>
      </p:sp>
      <p:sp>
        <p:nvSpPr>
          <p:cNvPr id="33" name="TextBox 32"/>
          <p:cNvSpPr txBox="1"/>
          <p:nvPr/>
        </p:nvSpPr>
        <p:spPr>
          <a:xfrm>
            <a:off x="8613648" y="4270248"/>
            <a:ext cx="2697480" cy="201168"/>
          </a:xfrm>
          <a:prstGeom prst="rect">
            <a:avLst/>
          </a:prstGeom>
          <a:noFill/>
        </p:spPr>
        <p:txBody>
          <a:bodyPr wrap="square" lIns="36576" tIns="18288" rIns="36576" bIns="18288" anchor="t">
            <a:spAutoFit/>
          </a:bodyPr>
          <a:lstStyle/>
          <a:p>
            <a:pPr algn="l">
              <a:lnSpc>
                <a:spcPct val="100000"/>
              </a:lnSpc>
              <a:spcAft>
                <a:spcPts val="0"/>
              </a:spcAft>
            </a:pPr>
            <a:r>
              <a:rPr sz="750" b="0" i="0">
                <a:solidFill>
                  <a:srgbClr val="94A3B8"/>
                </a:solidFill>
                <a:latin typeface="Segoe UI"/>
              </a:rPr>
              <a:t>SYSTEM message</a:t>
            </a:r>
          </a:p>
        </p:txBody>
      </p:sp>
      <p:sp>
        <p:nvSpPr>
          <p:cNvPr id="34" name="TextBox 33"/>
          <p:cNvSpPr txBox="1"/>
          <p:nvPr/>
        </p:nvSpPr>
        <p:spPr>
          <a:xfrm>
            <a:off x="8503920" y="4800600"/>
            <a:ext cx="2880360" cy="228600"/>
          </a:xfrm>
          <a:prstGeom prst="rect">
            <a:avLst/>
          </a:prstGeom>
          <a:noFill/>
        </p:spPr>
        <p:txBody>
          <a:bodyPr wrap="square" lIns="36576" tIns="18288" rIns="36576" bIns="18288" anchor="t">
            <a:spAutoFit/>
          </a:bodyPr>
          <a:lstStyle/>
          <a:p>
            <a:pPr algn="l">
              <a:lnSpc>
                <a:spcPct val="100000"/>
              </a:lnSpc>
              <a:spcAft>
                <a:spcPts val="0"/>
              </a:spcAft>
            </a:pPr>
            <a:r>
              <a:rPr sz="850" b="1" i="0">
                <a:solidFill>
                  <a:srgbClr val="93C5FD"/>
                </a:solidFill>
                <a:latin typeface="Segoe UI"/>
              </a:rPr>
              <a:t>AI PIPELINE</a:t>
            </a:r>
          </a:p>
        </p:txBody>
      </p:sp>
      <p:sp>
        <p:nvSpPr>
          <p:cNvPr id="35" name="Rounded Rectangle 34"/>
          <p:cNvSpPr/>
          <p:nvPr/>
        </p:nvSpPr>
        <p:spPr>
          <a:xfrm>
            <a:off x="8503920" y="5047488"/>
            <a:ext cx="2880360" cy="384048"/>
          </a:xfrm>
          <a:prstGeom prst="roundRect">
            <a:avLst>
              <a:gd name="adj" fmla="val 12000"/>
            </a:avLst>
          </a:prstGeom>
          <a:solidFill>
            <a:srgbClr val="17243C"/>
          </a:solidFill>
          <a:ln w="12700">
            <a:solidFill>
              <a:srgbClr val="2B3B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613648" y="5102352"/>
            <a:ext cx="2697480" cy="256032"/>
          </a:xfrm>
          <a:prstGeom prst="rect">
            <a:avLst/>
          </a:prstGeom>
          <a:noFill/>
        </p:spPr>
        <p:txBody>
          <a:bodyPr wrap="square" lIns="36576" tIns="18288" rIns="36576" bIns="18288" anchor="t">
            <a:spAutoFit/>
          </a:bodyPr>
          <a:lstStyle/>
          <a:p>
            <a:pPr algn="l">
              <a:lnSpc>
                <a:spcPct val="100000"/>
              </a:lnSpc>
              <a:spcAft>
                <a:spcPts val="0"/>
              </a:spcAft>
            </a:pPr>
            <a:r>
              <a:rPr sz="800" b="0" i="0">
                <a:solidFill>
                  <a:srgbClr val="DBEAFE"/>
                </a:solidFill>
                <a:latin typeface="Segoe UI"/>
              </a:rPr>
              <a:t>Inbox → RAG top-5 → Groq → trace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94360" y="274320"/>
            <a:ext cx="6400800" cy="228600"/>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0F766E"/>
                </a:solidFill>
                <a:latin typeface="Segoe UI"/>
              </a:rPr>
              <a:t>01 · BÀI TOÁN</a:t>
            </a:r>
          </a:p>
        </p:txBody>
      </p:sp>
      <p:sp>
        <p:nvSpPr>
          <p:cNvPr id="4" name="TextBox 3"/>
          <p:cNvSpPr txBox="1"/>
          <p:nvPr/>
        </p:nvSpPr>
        <p:spPr>
          <a:xfrm>
            <a:off x="576072" y="493776"/>
            <a:ext cx="10424160" cy="502920"/>
          </a:xfrm>
          <a:prstGeom prst="rect">
            <a:avLst/>
          </a:prstGeom>
          <a:noFill/>
        </p:spPr>
        <p:txBody>
          <a:bodyPr wrap="square" lIns="36576" tIns="18288" rIns="36576" bIns="18288" anchor="t">
            <a:spAutoFit/>
          </a:bodyPr>
          <a:lstStyle/>
          <a:p>
            <a:pPr algn="l">
              <a:lnSpc>
                <a:spcPct val="100000"/>
              </a:lnSpc>
              <a:spcAft>
                <a:spcPts val="0"/>
              </a:spcAft>
            </a:pPr>
            <a:r>
              <a:rPr sz="2300" b="1" i="0">
                <a:solidFill>
                  <a:srgbClr val="0F172A"/>
                </a:solidFill>
                <a:latin typeface="Segoe UI"/>
              </a:rPr>
              <a:t>Hai nỗi đau, hai lõi thuật toán</a:t>
            </a:r>
          </a:p>
        </p:txBody>
      </p:sp>
      <p:sp>
        <p:nvSpPr>
          <p:cNvPr id="5" name="TextBox 4"/>
          <p:cNvSpPr txBox="1"/>
          <p:nvPr/>
        </p:nvSpPr>
        <p:spPr>
          <a:xfrm>
            <a:off x="10698480" y="283464"/>
            <a:ext cx="960120" cy="228600"/>
          </a:xfrm>
          <a:prstGeom prst="rect">
            <a:avLst/>
          </a:prstGeom>
          <a:noFill/>
        </p:spPr>
        <p:txBody>
          <a:bodyPr wrap="square" lIns="36576" tIns="18288" rIns="36576" bIns="18288" anchor="t">
            <a:spAutoFit/>
          </a:bodyPr>
          <a:lstStyle/>
          <a:p>
            <a:pPr algn="r">
              <a:lnSpc>
                <a:spcPct val="100000"/>
              </a:lnSpc>
              <a:spcAft>
                <a:spcPts val="0"/>
              </a:spcAft>
            </a:pPr>
            <a:r>
              <a:rPr sz="900" b="1" i="0">
                <a:solidFill>
                  <a:srgbClr val="94A3B8"/>
                </a:solidFill>
                <a:latin typeface="Segoe UI"/>
              </a:rPr>
              <a:t>02 / 13</a:t>
            </a:r>
          </a:p>
        </p:txBody>
      </p:sp>
      <p:sp>
        <p:nvSpPr>
          <p:cNvPr id="6" name="Rounded Rectangle 5"/>
          <p:cNvSpPr/>
          <p:nvPr/>
        </p:nvSpPr>
        <p:spPr>
          <a:xfrm>
            <a:off x="594360" y="1325880"/>
            <a:ext cx="3429000" cy="105156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94360" y="1325880"/>
            <a:ext cx="64008" cy="1051560"/>
          </a:xfrm>
          <a:prstGeom prst="rect">
            <a:avLst/>
          </a:prstGeom>
          <a:solidFill>
            <a:srgbClr val="BE1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58952" y="1408176"/>
            <a:ext cx="3154680" cy="256032"/>
          </a:xfrm>
          <a:prstGeom prst="rect">
            <a:avLst/>
          </a:prstGeom>
          <a:noFill/>
        </p:spPr>
        <p:txBody>
          <a:bodyPr wrap="square" lIns="36576" tIns="18288" rIns="36576" bIns="18288" anchor="t">
            <a:spAutoFit/>
          </a:bodyPr>
          <a:lstStyle/>
          <a:p>
            <a:pPr algn="l">
              <a:lnSpc>
                <a:spcPct val="100000"/>
              </a:lnSpc>
              <a:spcAft>
                <a:spcPts val="0"/>
              </a:spcAft>
            </a:pPr>
            <a:r>
              <a:rPr sz="1250" b="1" i="0">
                <a:solidFill>
                  <a:srgbClr val="0F172A"/>
                </a:solidFill>
                <a:latin typeface="Segoe UI"/>
              </a:rPr>
              <a:t>Chốt đơn thủ công</a:t>
            </a:r>
          </a:p>
        </p:txBody>
      </p:sp>
      <p:sp>
        <p:nvSpPr>
          <p:cNvPr id="9" name="TextBox 8"/>
          <p:cNvSpPr txBox="1"/>
          <p:nvPr/>
        </p:nvSpPr>
        <p:spPr>
          <a:xfrm>
            <a:off x="758952" y="1700784"/>
            <a:ext cx="3154680" cy="566928"/>
          </a:xfrm>
          <a:prstGeom prst="rect">
            <a:avLst/>
          </a:prstGeom>
          <a:noFill/>
        </p:spPr>
        <p:txBody>
          <a:bodyPr wrap="square" lIns="36576" tIns="18288" rIns="36576" bIns="18288" anchor="t">
            <a:spAutoFit/>
          </a:bodyPr>
          <a:lstStyle/>
          <a:p>
            <a:pPr algn="l">
              <a:lnSpc>
                <a:spcPct val="100000"/>
              </a:lnSpc>
              <a:spcAft>
                <a:spcPts val="0"/>
              </a:spcAft>
            </a:pPr>
            <a:r>
              <a:rPr sz="900" b="0" i="0">
                <a:solidFill>
                  <a:srgbClr val="64748B"/>
                </a:solidFill>
                <a:latin typeface="Segoe UI"/>
              </a:rPr>
              <a:t>Comment trôi rất nhanh; bỏ sót mã, tính sai số lượng,</a:t>
            </a:r>
          </a:p>
          <a:p>
            <a:pPr algn="l">
              <a:lnSpc>
                <a:spcPct val="100000"/>
              </a:lnSpc>
              <a:spcAft>
                <a:spcPts val="0"/>
              </a:spcAft>
            </a:pPr>
            <a:r>
              <a:rPr sz="900" b="0" i="0">
                <a:solidFill>
                  <a:srgbClr val="64748B"/>
                </a:solidFill>
                <a:latin typeface="Segoe UI"/>
              </a:rPr>
              <a:t>trừ kho không kịp.</a:t>
            </a:r>
          </a:p>
        </p:txBody>
      </p:sp>
      <p:sp>
        <p:nvSpPr>
          <p:cNvPr id="10" name="Rounded Rectangle 9"/>
          <p:cNvSpPr/>
          <p:nvPr/>
        </p:nvSpPr>
        <p:spPr>
          <a:xfrm>
            <a:off x="4251960" y="1325880"/>
            <a:ext cx="3429000" cy="105156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251960" y="1325880"/>
            <a:ext cx="64008" cy="1051560"/>
          </a:xfrm>
          <a:prstGeom prst="rect">
            <a:avLst/>
          </a:prstGeom>
          <a:solidFill>
            <a:srgbClr val="BE1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416552" y="1408176"/>
            <a:ext cx="3154680" cy="256032"/>
          </a:xfrm>
          <a:prstGeom prst="rect">
            <a:avLst/>
          </a:prstGeom>
          <a:noFill/>
        </p:spPr>
        <p:txBody>
          <a:bodyPr wrap="square" lIns="36576" tIns="18288" rIns="36576" bIns="18288" anchor="t">
            <a:spAutoFit/>
          </a:bodyPr>
          <a:lstStyle/>
          <a:p>
            <a:pPr algn="l">
              <a:lnSpc>
                <a:spcPct val="100000"/>
              </a:lnSpc>
              <a:spcAft>
                <a:spcPts val="0"/>
              </a:spcAft>
            </a:pPr>
            <a:r>
              <a:rPr sz="1250" b="1" i="0">
                <a:solidFill>
                  <a:srgbClr val="0F172A"/>
                </a:solidFill>
                <a:latin typeface="Segoe UI"/>
              </a:rPr>
              <a:t>Hỏi ngoài giờ</a:t>
            </a:r>
          </a:p>
        </p:txBody>
      </p:sp>
      <p:sp>
        <p:nvSpPr>
          <p:cNvPr id="13" name="TextBox 12"/>
          <p:cNvSpPr txBox="1"/>
          <p:nvPr/>
        </p:nvSpPr>
        <p:spPr>
          <a:xfrm>
            <a:off x="4416552" y="1700784"/>
            <a:ext cx="3154680" cy="566928"/>
          </a:xfrm>
          <a:prstGeom prst="rect">
            <a:avLst/>
          </a:prstGeom>
          <a:noFill/>
        </p:spPr>
        <p:txBody>
          <a:bodyPr wrap="square" lIns="36576" tIns="18288" rIns="36576" bIns="18288" anchor="t">
            <a:spAutoFit/>
          </a:bodyPr>
          <a:lstStyle/>
          <a:p>
            <a:pPr algn="l">
              <a:lnSpc>
                <a:spcPct val="100000"/>
              </a:lnSpc>
              <a:spcAft>
                <a:spcPts val="0"/>
              </a:spcAft>
            </a:pPr>
            <a:r>
              <a:rPr sz="900" b="0" i="0">
                <a:solidFill>
                  <a:srgbClr val="64748B"/>
                </a:solidFill>
                <a:latin typeface="Segoe UI"/>
              </a:rPr>
              <a:t>Shop offline là khách không có ai tư vấn;</a:t>
            </a:r>
          </a:p>
          <a:p>
            <a:pPr algn="l">
              <a:lnSpc>
                <a:spcPct val="100000"/>
              </a:lnSpc>
              <a:spcAft>
                <a:spcPts val="0"/>
              </a:spcAft>
            </a:pPr>
            <a:r>
              <a:rPr sz="900" b="0" i="0">
                <a:solidFill>
                  <a:srgbClr val="64748B"/>
                </a:solidFill>
                <a:latin typeface="Segoe UI"/>
              </a:rPr>
              <a:t>đơn PENDING dễ bị bỏ quên.</a:t>
            </a:r>
          </a:p>
        </p:txBody>
      </p:sp>
      <p:sp>
        <p:nvSpPr>
          <p:cNvPr id="14" name="Rounded Rectangle 13"/>
          <p:cNvSpPr/>
          <p:nvPr/>
        </p:nvSpPr>
        <p:spPr>
          <a:xfrm>
            <a:off x="7909560" y="1325880"/>
            <a:ext cx="3429000" cy="105156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7909560" y="1325880"/>
            <a:ext cx="64008" cy="1051560"/>
          </a:xfrm>
          <a:prstGeom prst="rect">
            <a:avLst/>
          </a:prstGeom>
          <a:solidFill>
            <a:srgbClr val="BE1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74152" y="1408176"/>
            <a:ext cx="3154680" cy="256032"/>
          </a:xfrm>
          <a:prstGeom prst="rect">
            <a:avLst/>
          </a:prstGeom>
          <a:noFill/>
        </p:spPr>
        <p:txBody>
          <a:bodyPr wrap="square" lIns="36576" tIns="18288" rIns="36576" bIns="18288" anchor="t">
            <a:spAutoFit/>
          </a:bodyPr>
          <a:lstStyle/>
          <a:p>
            <a:pPr algn="l">
              <a:lnSpc>
                <a:spcPct val="100000"/>
              </a:lnSpc>
              <a:spcAft>
                <a:spcPts val="0"/>
              </a:spcAft>
            </a:pPr>
            <a:r>
              <a:rPr sz="1250" b="1" i="0">
                <a:solidFill>
                  <a:srgbClr val="0F172A"/>
                </a:solidFill>
                <a:latin typeface="Segoe UI"/>
              </a:rPr>
              <a:t>Trả lời sai dữ liệu</a:t>
            </a:r>
          </a:p>
        </p:txBody>
      </p:sp>
      <p:sp>
        <p:nvSpPr>
          <p:cNvPr id="17" name="TextBox 16"/>
          <p:cNvSpPr txBox="1"/>
          <p:nvPr/>
        </p:nvSpPr>
        <p:spPr>
          <a:xfrm>
            <a:off x="8074152" y="1700784"/>
            <a:ext cx="3154680" cy="566928"/>
          </a:xfrm>
          <a:prstGeom prst="rect">
            <a:avLst/>
          </a:prstGeom>
          <a:noFill/>
        </p:spPr>
        <p:txBody>
          <a:bodyPr wrap="square" lIns="36576" tIns="18288" rIns="36576" bIns="18288" anchor="t">
            <a:spAutoFit/>
          </a:bodyPr>
          <a:lstStyle/>
          <a:p>
            <a:pPr algn="l">
              <a:lnSpc>
                <a:spcPct val="100000"/>
              </a:lnSpc>
              <a:spcAft>
                <a:spcPts val="0"/>
              </a:spcAft>
            </a:pPr>
            <a:r>
              <a:rPr sz="900" b="0" i="0">
                <a:solidFill>
                  <a:srgbClr val="64748B"/>
                </a:solidFill>
                <a:latin typeface="Segoe UI"/>
              </a:rPr>
              <a:t>Giá, kho, chính sách thay đổi liên tục;</a:t>
            </a:r>
          </a:p>
          <a:p>
            <a:pPr algn="l">
              <a:lnSpc>
                <a:spcPct val="100000"/>
              </a:lnSpc>
              <a:spcAft>
                <a:spcPts val="0"/>
              </a:spcAft>
            </a:pPr>
            <a:r>
              <a:rPr sz="900" b="0" i="0">
                <a:solidFill>
                  <a:srgbClr val="64748B"/>
                </a:solidFill>
                <a:latin typeface="Segoe UI"/>
              </a:rPr>
              <a:t>AI dễ bịa nếu không có nguồn.</a:t>
            </a:r>
          </a:p>
        </p:txBody>
      </p:sp>
      <p:cxnSp>
        <p:nvCxnSpPr>
          <p:cNvPr id="18" name="Connector 17"/>
          <p:cNvCxnSpPr/>
          <p:nvPr/>
        </p:nvCxnSpPr>
        <p:spPr>
          <a:xfrm>
            <a:off x="2286000" y="2450592"/>
            <a:ext cx="0" cy="219456"/>
          </a:xfrm>
          <a:prstGeom prst="line">
            <a:avLst/>
          </a:prstGeom>
          <a:ln w="1905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943600" y="2450592"/>
            <a:ext cx="0" cy="219456"/>
          </a:xfrm>
          <a:prstGeom prst="line">
            <a:avLst/>
          </a:prstGeom>
          <a:ln w="1905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601200" y="2450592"/>
            <a:ext cx="0" cy="219456"/>
          </a:xfrm>
          <a:prstGeom prst="line">
            <a:avLst/>
          </a:prstGeom>
          <a:ln w="1905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94360" y="2761488"/>
            <a:ext cx="5440680" cy="1874519"/>
          </a:xfrm>
          <a:prstGeom prst="roundRect">
            <a:avLst>
              <a:gd name="adj" fmla="val 12000"/>
            </a:avLst>
          </a:prstGeom>
          <a:solidFill>
            <a:srgbClr val="E6FFFA"/>
          </a:solidFill>
          <a:ln w="1778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804672" y="2926080"/>
            <a:ext cx="1143000" cy="256032"/>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04672" y="2926080"/>
            <a:ext cx="1143000" cy="256032"/>
          </a:xfrm>
          <a:prstGeom prst="rect">
            <a:avLst/>
          </a:prstGeom>
          <a:noFill/>
        </p:spPr>
        <p:txBody>
          <a:bodyPr wrap="square" lIns="36576" tIns="18288" rIns="36576" bIns="18288" anchor="ctr">
            <a:spAutoFit/>
          </a:bodyPr>
          <a:lstStyle/>
          <a:p>
            <a:pPr algn="ctr">
              <a:lnSpc>
                <a:spcPct val="100000"/>
              </a:lnSpc>
              <a:spcAft>
                <a:spcPts val="0"/>
              </a:spcAft>
            </a:pPr>
            <a:r>
              <a:rPr sz="800" b="1" i="0">
                <a:solidFill>
                  <a:srgbClr val="FFFFFF"/>
                </a:solidFill>
                <a:latin typeface="Segoe UI"/>
              </a:rPr>
              <a:t>CỐT LÕI 1</a:t>
            </a:r>
          </a:p>
        </p:txBody>
      </p:sp>
      <p:sp>
        <p:nvSpPr>
          <p:cNvPr id="24" name="TextBox 23"/>
          <p:cNvSpPr txBox="1"/>
          <p:nvPr/>
        </p:nvSpPr>
        <p:spPr>
          <a:xfrm>
            <a:off x="804672" y="3246120"/>
            <a:ext cx="4892040" cy="365760"/>
          </a:xfrm>
          <a:prstGeom prst="rect">
            <a:avLst/>
          </a:prstGeom>
          <a:noFill/>
        </p:spPr>
        <p:txBody>
          <a:bodyPr wrap="square" lIns="36576" tIns="18288" rIns="36576" bIns="18288" anchor="t">
            <a:spAutoFit/>
          </a:bodyPr>
          <a:lstStyle/>
          <a:p>
            <a:pPr algn="l">
              <a:lnSpc>
                <a:spcPct val="100000"/>
              </a:lnSpc>
              <a:spcAft>
                <a:spcPts val="0"/>
              </a:spcAft>
            </a:pPr>
            <a:r>
              <a:rPr sz="2200" b="1" i="0">
                <a:solidFill>
                  <a:srgbClr val="0F766E"/>
                </a:solidFill>
                <a:latin typeface="Segoe UI"/>
              </a:rPr>
              <a:t>Aho-Corasick</a:t>
            </a:r>
          </a:p>
        </p:txBody>
      </p:sp>
      <p:sp>
        <p:nvSpPr>
          <p:cNvPr id="25" name="TextBox 24"/>
          <p:cNvSpPr txBox="1"/>
          <p:nvPr/>
        </p:nvSpPr>
        <p:spPr>
          <a:xfrm>
            <a:off x="804672" y="3675887"/>
            <a:ext cx="4983480" cy="658368"/>
          </a:xfrm>
          <a:prstGeom prst="rect">
            <a:avLst/>
          </a:prstGeom>
          <a:noFill/>
        </p:spPr>
        <p:txBody>
          <a:bodyPr wrap="square" lIns="36576" tIns="18288" rIns="36576" bIns="18288" anchor="t">
            <a:spAutoFit/>
          </a:bodyPr>
          <a:lstStyle/>
          <a:p>
            <a:pPr algn="l">
              <a:lnSpc>
                <a:spcPct val="112000"/>
              </a:lnSpc>
              <a:spcAft>
                <a:spcPts val="0"/>
              </a:spcAft>
            </a:pPr>
            <a:r>
              <a:rPr sz="1050" b="0" i="0">
                <a:solidFill>
                  <a:srgbClr val="1E293B"/>
                </a:solidFill>
                <a:latin typeface="Segoe UI"/>
              </a:rPr>
              <a:t>Bắt mọi SKU trong MỘT lượt quét; chốt đơn + trừ kho nguyên tử;</a:t>
            </a:r>
          </a:p>
          <a:p>
            <a:pPr algn="l">
              <a:lnSpc>
                <a:spcPct val="112000"/>
              </a:lnSpc>
              <a:spcAft>
                <a:spcPts val="0"/>
              </a:spcAft>
            </a:pPr>
            <a:r>
              <a:rPr sz="1050" b="0" i="0">
                <a:solidFill>
                  <a:srgbClr val="1E293B"/>
                </a:solidFill>
                <a:latin typeface="Segoe UI"/>
              </a:rPr>
              <a:t>highlight đúng vị trí; đo thời gian thật bằng performance.now().</a:t>
            </a:r>
          </a:p>
        </p:txBody>
      </p:sp>
      <p:sp>
        <p:nvSpPr>
          <p:cNvPr id="26" name="TextBox 25"/>
          <p:cNvSpPr txBox="1"/>
          <p:nvPr/>
        </p:nvSpPr>
        <p:spPr>
          <a:xfrm>
            <a:off x="804672" y="4325112"/>
            <a:ext cx="4983480" cy="219456"/>
          </a:xfrm>
          <a:prstGeom prst="rect">
            <a:avLst/>
          </a:prstGeom>
          <a:noFill/>
        </p:spPr>
        <p:txBody>
          <a:bodyPr wrap="square" lIns="36576" tIns="18288" rIns="36576" bIns="18288" anchor="t">
            <a:spAutoFit/>
          </a:bodyPr>
          <a:lstStyle/>
          <a:p>
            <a:pPr algn="l">
              <a:lnSpc>
                <a:spcPct val="100000"/>
              </a:lnSpc>
              <a:spcAft>
                <a:spcPts val="0"/>
              </a:spcAft>
            </a:pPr>
            <a:r>
              <a:rPr sz="819" b="1" i="0">
                <a:solidFill>
                  <a:srgbClr val="0F766E"/>
                </a:solidFill>
                <a:latin typeface="Segoe UI"/>
              </a:rPr>
              <a:t>trie · fail link · word boundary · atomic transaction</a:t>
            </a:r>
          </a:p>
        </p:txBody>
      </p:sp>
      <p:sp>
        <p:nvSpPr>
          <p:cNvPr id="27" name="Rounded Rectangle 26"/>
          <p:cNvSpPr/>
          <p:nvPr/>
        </p:nvSpPr>
        <p:spPr>
          <a:xfrm>
            <a:off x="6153912" y="2761488"/>
            <a:ext cx="5440680" cy="1874519"/>
          </a:xfrm>
          <a:prstGeom prst="roundRect">
            <a:avLst>
              <a:gd name="adj" fmla="val 12000"/>
            </a:avLst>
          </a:prstGeom>
          <a:solidFill>
            <a:srgbClr val="EFF6FF"/>
          </a:solidFill>
          <a:ln w="1778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6364224" y="2926080"/>
            <a:ext cx="1143000" cy="256032"/>
          </a:xfrm>
          <a:prstGeom prst="roundRect">
            <a:avLst>
              <a:gd name="adj" fmla="val 50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364224" y="2926080"/>
            <a:ext cx="1143000" cy="256032"/>
          </a:xfrm>
          <a:prstGeom prst="rect">
            <a:avLst/>
          </a:prstGeom>
          <a:noFill/>
        </p:spPr>
        <p:txBody>
          <a:bodyPr wrap="square" lIns="36576" tIns="18288" rIns="36576" bIns="18288" anchor="ctr">
            <a:spAutoFit/>
          </a:bodyPr>
          <a:lstStyle/>
          <a:p>
            <a:pPr algn="ctr">
              <a:lnSpc>
                <a:spcPct val="100000"/>
              </a:lnSpc>
              <a:spcAft>
                <a:spcPts val="0"/>
              </a:spcAft>
            </a:pPr>
            <a:r>
              <a:rPr sz="800" b="1" i="0">
                <a:solidFill>
                  <a:srgbClr val="FFFFFF"/>
                </a:solidFill>
                <a:latin typeface="Segoe UI"/>
              </a:rPr>
              <a:t>CỐT LÕI 2</a:t>
            </a:r>
          </a:p>
        </p:txBody>
      </p:sp>
      <p:sp>
        <p:nvSpPr>
          <p:cNvPr id="30" name="TextBox 29"/>
          <p:cNvSpPr txBox="1"/>
          <p:nvPr/>
        </p:nvSpPr>
        <p:spPr>
          <a:xfrm>
            <a:off x="6364224" y="3246120"/>
            <a:ext cx="4892040" cy="365760"/>
          </a:xfrm>
          <a:prstGeom prst="rect">
            <a:avLst/>
          </a:prstGeom>
          <a:noFill/>
        </p:spPr>
        <p:txBody>
          <a:bodyPr wrap="square" lIns="36576" tIns="18288" rIns="36576" bIns="18288" anchor="t">
            <a:spAutoFit/>
          </a:bodyPr>
          <a:lstStyle/>
          <a:p>
            <a:pPr algn="l">
              <a:lnSpc>
                <a:spcPct val="100000"/>
              </a:lnSpc>
              <a:spcAft>
                <a:spcPts val="0"/>
              </a:spcAft>
            </a:pPr>
            <a:r>
              <a:rPr sz="2200" b="1" i="0">
                <a:solidFill>
                  <a:srgbClr val="1D4ED8"/>
                </a:solidFill>
                <a:latin typeface="Segoe UI"/>
              </a:rPr>
              <a:t>RAG</a:t>
            </a:r>
          </a:p>
        </p:txBody>
      </p:sp>
      <p:sp>
        <p:nvSpPr>
          <p:cNvPr id="31" name="TextBox 30"/>
          <p:cNvSpPr txBox="1"/>
          <p:nvPr/>
        </p:nvSpPr>
        <p:spPr>
          <a:xfrm>
            <a:off x="6364224" y="3675887"/>
            <a:ext cx="4983480" cy="658368"/>
          </a:xfrm>
          <a:prstGeom prst="rect">
            <a:avLst/>
          </a:prstGeom>
          <a:noFill/>
        </p:spPr>
        <p:txBody>
          <a:bodyPr wrap="square" lIns="36576" tIns="18288" rIns="36576" bIns="18288" anchor="t">
            <a:spAutoFit/>
          </a:bodyPr>
          <a:lstStyle/>
          <a:p>
            <a:pPr algn="l">
              <a:lnSpc>
                <a:spcPct val="112000"/>
              </a:lnSpc>
              <a:spcAft>
                <a:spcPts val="0"/>
              </a:spcAft>
            </a:pPr>
            <a:r>
              <a:rPr sz="1050" b="0" i="0">
                <a:solidFill>
                  <a:srgbClr val="1E293B"/>
                </a:solidFill>
                <a:latin typeface="Segoe UI"/>
              </a:rPr>
              <a:t>Index KB + sản phẩm theo từng shop; embedding 100% local; top-5</a:t>
            </a:r>
          </a:p>
          <a:p>
            <a:pPr algn="l">
              <a:lnSpc>
                <a:spcPct val="112000"/>
              </a:lnSpc>
              <a:spcAft>
                <a:spcPts val="0"/>
              </a:spcAft>
            </a:pPr>
            <a:r>
              <a:rPr sz="1050" b="0" i="0">
                <a:solidFill>
                  <a:srgbClr val="1E293B"/>
                </a:solidFill>
                <a:latin typeface="Segoe UI"/>
              </a:rPr>
              <a:t>+ giá/kho đọc tươi từ DB; Groq trả lời; trace minh bạch từng câu.</a:t>
            </a:r>
          </a:p>
        </p:txBody>
      </p:sp>
      <p:sp>
        <p:nvSpPr>
          <p:cNvPr id="32" name="TextBox 31"/>
          <p:cNvSpPr txBox="1"/>
          <p:nvPr/>
        </p:nvSpPr>
        <p:spPr>
          <a:xfrm>
            <a:off x="6364224" y="4325112"/>
            <a:ext cx="4983480" cy="219456"/>
          </a:xfrm>
          <a:prstGeom prst="rect">
            <a:avLst/>
          </a:prstGeom>
          <a:noFill/>
        </p:spPr>
        <p:txBody>
          <a:bodyPr wrap="square" lIns="36576" tIns="18288" rIns="36576" bIns="18288" anchor="t">
            <a:spAutoFit/>
          </a:bodyPr>
          <a:lstStyle/>
          <a:p>
            <a:pPr algn="l">
              <a:lnSpc>
                <a:spcPct val="100000"/>
              </a:lnSpc>
              <a:spcAft>
                <a:spcPts val="0"/>
              </a:spcAft>
            </a:pPr>
            <a:r>
              <a:rPr sz="819" b="1" i="0">
                <a:solidFill>
                  <a:srgbClr val="1D4ED8"/>
                </a:solidFill>
                <a:latin typeface="Segoe UI"/>
              </a:rPr>
              <a:t>e5-small local · cosine top-5 · context DB tươi · fallback FULL_KB</a:t>
            </a:r>
          </a:p>
        </p:txBody>
      </p:sp>
      <p:sp>
        <p:nvSpPr>
          <p:cNvPr id="33" name="Rounded Rectangle 32"/>
          <p:cNvSpPr/>
          <p:nvPr/>
        </p:nvSpPr>
        <p:spPr>
          <a:xfrm>
            <a:off x="594360" y="4892040"/>
            <a:ext cx="3429000" cy="86868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58952" y="4974336"/>
            <a:ext cx="256032" cy="256032"/>
          </a:xfrm>
          <a:prstGeom prst="rect">
            <a:avLst/>
          </a:prstGeom>
          <a:noFill/>
        </p:spPr>
        <p:txBody>
          <a:bodyPr wrap="square" lIns="36576" tIns="18288" rIns="36576" bIns="18288" anchor="t">
            <a:spAutoFit/>
          </a:bodyPr>
          <a:lstStyle/>
          <a:p>
            <a:pPr algn="l">
              <a:lnSpc>
                <a:spcPct val="100000"/>
              </a:lnSpc>
              <a:spcAft>
                <a:spcPts val="0"/>
              </a:spcAft>
            </a:pPr>
            <a:r>
              <a:rPr sz="1400" b="1" i="0">
                <a:solidFill>
                  <a:srgbClr val="15803D"/>
                </a:solidFill>
                <a:latin typeface="Segoe UI"/>
              </a:rPr>
              <a:t>✓</a:t>
            </a:r>
          </a:p>
        </p:txBody>
      </p:sp>
      <p:sp>
        <p:nvSpPr>
          <p:cNvPr id="35" name="TextBox 34"/>
          <p:cNvSpPr txBox="1"/>
          <p:nvPr/>
        </p:nvSpPr>
        <p:spPr>
          <a:xfrm>
            <a:off x="1033271" y="4974336"/>
            <a:ext cx="2834640" cy="237744"/>
          </a:xfrm>
          <a:prstGeom prst="rect">
            <a:avLst/>
          </a:prstGeom>
          <a:noFill/>
        </p:spPr>
        <p:txBody>
          <a:bodyPr wrap="square" lIns="36576" tIns="18288" rIns="36576" bIns="18288" anchor="t">
            <a:spAutoFit/>
          </a:bodyPr>
          <a:lstStyle/>
          <a:p>
            <a:pPr algn="l">
              <a:lnSpc>
                <a:spcPct val="100000"/>
              </a:lnSpc>
              <a:spcAft>
                <a:spcPts val="0"/>
              </a:spcAft>
            </a:pPr>
            <a:r>
              <a:rPr sz="1050" b="1" i="0">
                <a:solidFill>
                  <a:srgbClr val="0F172A"/>
                </a:solidFill>
                <a:latin typeface="Segoe UI"/>
              </a:rPr>
              <a:t>Không bỏ sót đơn</a:t>
            </a:r>
          </a:p>
        </p:txBody>
      </p:sp>
      <p:sp>
        <p:nvSpPr>
          <p:cNvPr id="36" name="TextBox 35"/>
          <p:cNvSpPr txBox="1"/>
          <p:nvPr/>
        </p:nvSpPr>
        <p:spPr>
          <a:xfrm>
            <a:off x="1033271" y="5239512"/>
            <a:ext cx="2834640" cy="219456"/>
          </a:xfrm>
          <a:prstGeom prst="rect">
            <a:avLst/>
          </a:prstGeom>
          <a:noFill/>
        </p:spPr>
        <p:txBody>
          <a:bodyPr wrap="square" lIns="36576" tIns="18288" rIns="36576" bIns="18288" anchor="t">
            <a:spAutoFit/>
          </a:bodyPr>
          <a:lstStyle/>
          <a:p>
            <a:pPr algn="l">
              <a:lnSpc>
                <a:spcPct val="100000"/>
              </a:lnSpc>
              <a:spcAft>
                <a:spcPts val="0"/>
              </a:spcAft>
            </a:pPr>
            <a:r>
              <a:rPr sz="850" b="0" i="0">
                <a:solidFill>
                  <a:srgbClr val="64748B"/>
                </a:solidFill>
                <a:latin typeface="Segoe UI"/>
              </a:rPr>
              <a:t>comment nào có mã là có phản hồi</a:t>
            </a:r>
          </a:p>
        </p:txBody>
      </p:sp>
      <p:sp>
        <p:nvSpPr>
          <p:cNvPr id="37" name="Rounded Rectangle 36"/>
          <p:cNvSpPr/>
          <p:nvPr/>
        </p:nvSpPr>
        <p:spPr>
          <a:xfrm>
            <a:off x="4251960" y="4892040"/>
            <a:ext cx="3429000" cy="86868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16552" y="4974336"/>
            <a:ext cx="256032" cy="256032"/>
          </a:xfrm>
          <a:prstGeom prst="rect">
            <a:avLst/>
          </a:prstGeom>
          <a:noFill/>
        </p:spPr>
        <p:txBody>
          <a:bodyPr wrap="square" lIns="36576" tIns="18288" rIns="36576" bIns="18288" anchor="t">
            <a:spAutoFit/>
          </a:bodyPr>
          <a:lstStyle/>
          <a:p>
            <a:pPr algn="l">
              <a:lnSpc>
                <a:spcPct val="100000"/>
              </a:lnSpc>
              <a:spcAft>
                <a:spcPts val="0"/>
              </a:spcAft>
            </a:pPr>
            <a:r>
              <a:rPr sz="1400" b="1" i="0">
                <a:solidFill>
                  <a:srgbClr val="15803D"/>
                </a:solidFill>
                <a:latin typeface="Segoe UI"/>
              </a:rPr>
              <a:t>✓</a:t>
            </a:r>
          </a:p>
        </p:txBody>
      </p:sp>
      <p:sp>
        <p:nvSpPr>
          <p:cNvPr id="39" name="TextBox 38"/>
          <p:cNvSpPr txBox="1"/>
          <p:nvPr/>
        </p:nvSpPr>
        <p:spPr>
          <a:xfrm>
            <a:off x="4690872" y="4974336"/>
            <a:ext cx="2834640" cy="237744"/>
          </a:xfrm>
          <a:prstGeom prst="rect">
            <a:avLst/>
          </a:prstGeom>
          <a:noFill/>
        </p:spPr>
        <p:txBody>
          <a:bodyPr wrap="square" lIns="36576" tIns="18288" rIns="36576" bIns="18288" anchor="t">
            <a:spAutoFit/>
          </a:bodyPr>
          <a:lstStyle/>
          <a:p>
            <a:pPr algn="l">
              <a:lnSpc>
                <a:spcPct val="100000"/>
              </a:lnSpc>
              <a:spcAft>
                <a:spcPts val="0"/>
              </a:spcAft>
            </a:pPr>
            <a:r>
              <a:rPr sz="1050" b="1" i="0">
                <a:solidFill>
                  <a:srgbClr val="0F172A"/>
                </a:solidFill>
                <a:latin typeface="Segoe UI"/>
              </a:rPr>
              <a:t>AI 24/7 đúng shop</a:t>
            </a:r>
          </a:p>
        </p:txBody>
      </p:sp>
      <p:sp>
        <p:nvSpPr>
          <p:cNvPr id="40" name="TextBox 39"/>
          <p:cNvSpPr txBox="1"/>
          <p:nvPr/>
        </p:nvSpPr>
        <p:spPr>
          <a:xfrm>
            <a:off x="4690872" y="5239512"/>
            <a:ext cx="2834640" cy="219456"/>
          </a:xfrm>
          <a:prstGeom prst="rect">
            <a:avLst/>
          </a:prstGeom>
          <a:noFill/>
        </p:spPr>
        <p:txBody>
          <a:bodyPr wrap="square" lIns="36576" tIns="18288" rIns="36576" bIns="18288" anchor="t">
            <a:spAutoFit/>
          </a:bodyPr>
          <a:lstStyle/>
          <a:p>
            <a:pPr algn="l">
              <a:lnSpc>
                <a:spcPct val="100000"/>
              </a:lnSpc>
              <a:spcAft>
                <a:spcPts val="0"/>
              </a:spcAft>
            </a:pPr>
            <a:r>
              <a:rPr sz="850" b="0" i="0">
                <a:solidFill>
                  <a:srgbClr val="64748B"/>
                </a:solidFill>
                <a:latin typeface="Segoe UI"/>
              </a:rPr>
              <a:t>kể cả khi shop offline</a:t>
            </a:r>
          </a:p>
        </p:txBody>
      </p:sp>
      <p:sp>
        <p:nvSpPr>
          <p:cNvPr id="41" name="Rounded Rectangle 40"/>
          <p:cNvSpPr/>
          <p:nvPr/>
        </p:nvSpPr>
        <p:spPr>
          <a:xfrm>
            <a:off x="7909560" y="4892040"/>
            <a:ext cx="3429000" cy="86868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074152" y="4974336"/>
            <a:ext cx="256032" cy="256032"/>
          </a:xfrm>
          <a:prstGeom prst="rect">
            <a:avLst/>
          </a:prstGeom>
          <a:noFill/>
        </p:spPr>
        <p:txBody>
          <a:bodyPr wrap="square" lIns="36576" tIns="18288" rIns="36576" bIns="18288" anchor="t">
            <a:spAutoFit/>
          </a:bodyPr>
          <a:lstStyle/>
          <a:p>
            <a:pPr algn="l">
              <a:lnSpc>
                <a:spcPct val="100000"/>
              </a:lnSpc>
              <a:spcAft>
                <a:spcPts val="0"/>
              </a:spcAft>
            </a:pPr>
            <a:r>
              <a:rPr sz="1400" b="1" i="0">
                <a:solidFill>
                  <a:srgbClr val="15803D"/>
                </a:solidFill>
                <a:latin typeface="Segoe UI"/>
              </a:rPr>
              <a:t>✓</a:t>
            </a:r>
          </a:p>
        </p:txBody>
      </p:sp>
      <p:sp>
        <p:nvSpPr>
          <p:cNvPr id="43" name="TextBox 42"/>
          <p:cNvSpPr txBox="1"/>
          <p:nvPr/>
        </p:nvSpPr>
        <p:spPr>
          <a:xfrm>
            <a:off x="8348472" y="4974336"/>
            <a:ext cx="2834640" cy="237744"/>
          </a:xfrm>
          <a:prstGeom prst="rect">
            <a:avLst/>
          </a:prstGeom>
          <a:noFill/>
        </p:spPr>
        <p:txBody>
          <a:bodyPr wrap="square" lIns="36576" tIns="18288" rIns="36576" bIns="18288" anchor="t">
            <a:spAutoFit/>
          </a:bodyPr>
          <a:lstStyle/>
          <a:p>
            <a:pPr algn="l">
              <a:lnSpc>
                <a:spcPct val="100000"/>
              </a:lnSpc>
              <a:spcAft>
                <a:spcPts val="0"/>
              </a:spcAft>
            </a:pPr>
            <a:r>
              <a:rPr sz="1050" b="1" i="0">
                <a:solidFill>
                  <a:srgbClr val="0F172A"/>
                </a:solidFill>
                <a:latin typeface="Segoe UI"/>
              </a:rPr>
              <a:t>Kho không bao giờ âm</a:t>
            </a:r>
          </a:p>
        </p:txBody>
      </p:sp>
      <p:sp>
        <p:nvSpPr>
          <p:cNvPr id="44" name="TextBox 43"/>
          <p:cNvSpPr txBox="1"/>
          <p:nvPr/>
        </p:nvSpPr>
        <p:spPr>
          <a:xfrm>
            <a:off x="8348472" y="5239512"/>
            <a:ext cx="2834640" cy="219456"/>
          </a:xfrm>
          <a:prstGeom prst="rect">
            <a:avLst/>
          </a:prstGeom>
          <a:noFill/>
        </p:spPr>
        <p:txBody>
          <a:bodyPr wrap="square" lIns="36576" tIns="18288" rIns="36576" bIns="18288" anchor="t">
            <a:spAutoFit/>
          </a:bodyPr>
          <a:lstStyle/>
          <a:p>
            <a:pPr algn="l">
              <a:lnSpc>
                <a:spcPct val="100000"/>
              </a:lnSpc>
              <a:spcAft>
                <a:spcPts val="0"/>
              </a:spcAft>
            </a:pPr>
            <a:r>
              <a:rPr sz="850" b="0" i="0">
                <a:solidFill>
                  <a:srgbClr val="64748B"/>
                </a:solidFill>
                <a:latin typeface="Segoe UI"/>
              </a:rPr>
              <a:t>hai khách tranh 1 món → 1 đơn</a:t>
            </a:r>
          </a:p>
        </p:txBody>
      </p:sp>
      <p:cxnSp>
        <p:nvCxnSpPr>
          <p:cNvPr id="45" name="Connector 44"/>
          <p:cNvCxnSpPr/>
          <p:nvPr/>
        </p:nvCxnSpPr>
        <p:spPr>
          <a:xfrm>
            <a:off x="594360" y="6492240"/>
            <a:ext cx="1100023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94360" y="6537960"/>
            <a:ext cx="7315200" cy="201168"/>
          </a:xfrm>
          <a:prstGeom prst="rect">
            <a:avLst/>
          </a:prstGeom>
          <a:noFill/>
        </p:spPr>
        <p:txBody>
          <a:bodyPr wrap="square" lIns="36576" tIns="18288" rIns="36576" bIns="18288" anchor="t">
            <a:spAutoFit/>
          </a:bodyPr>
          <a:lstStyle/>
          <a:p>
            <a:pPr algn="l">
              <a:lnSpc>
                <a:spcPct val="100000"/>
              </a:lnSpc>
              <a:spcAft>
                <a:spcPts val="0"/>
              </a:spcAft>
            </a:pPr>
            <a:r>
              <a:rPr sz="800" b="0" i="0">
                <a:solidFill>
                  <a:srgbClr val="94A3B8"/>
                </a:solidFill>
                <a:latin typeface="Segoe UI"/>
              </a:rPr>
              <a:t>LiveOrder · Pipeline toàn dự án · 2026</a:t>
            </a:r>
          </a:p>
        </p:txBody>
      </p:sp>
      <p:sp>
        <p:nvSpPr>
          <p:cNvPr id="47" name="TextBox 46"/>
          <p:cNvSpPr txBox="1"/>
          <p:nvPr/>
        </p:nvSpPr>
        <p:spPr>
          <a:xfrm>
            <a:off x="8229600" y="6537960"/>
            <a:ext cx="3364992" cy="201168"/>
          </a:xfrm>
          <a:prstGeom prst="rect">
            <a:avLst/>
          </a:prstGeom>
          <a:noFill/>
        </p:spPr>
        <p:txBody>
          <a:bodyPr wrap="square" lIns="36576" tIns="18288" rIns="36576" bIns="18288" anchor="t">
            <a:spAutoFit/>
          </a:bodyPr>
          <a:lstStyle/>
          <a:p>
            <a:pPr algn="r">
              <a:lnSpc>
                <a:spcPct val="100000"/>
              </a:lnSpc>
              <a:spcAft>
                <a:spcPts val="0"/>
              </a:spcAft>
            </a:pPr>
            <a:r>
              <a:rPr sz="800" b="0" i="0">
                <a:solidFill>
                  <a:srgbClr val="94A3B8"/>
                </a:solidFill>
                <a:latin typeface="Segoe UI"/>
              </a:rPr>
              <a:t>Aho-Corasick  ·  RAG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94360" y="274320"/>
            <a:ext cx="6400800" cy="228600"/>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0F766E"/>
                </a:solidFill>
                <a:latin typeface="Segoe UI"/>
              </a:rPr>
              <a:t>02 · KIẾN TRÚC</a:t>
            </a:r>
          </a:p>
        </p:txBody>
      </p:sp>
      <p:sp>
        <p:nvSpPr>
          <p:cNvPr id="4" name="TextBox 3"/>
          <p:cNvSpPr txBox="1"/>
          <p:nvPr/>
        </p:nvSpPr>
        <p:spPr>
          <a:xfrm>
            <a:off x="576072" y="493776"/>
            <a:ext cx="10424160" cy="502920"/>
          </a:xfrm>
          <a:prstGeom prst="rect">
            <a:avLst/>
          </a:prstGeom>
          <a:noFill/>
        </p:spPr>
        <p:txBody>
          <a:bodyPr wrap="square" lIns="36576" tIns="18288" rIns="36576" bIns="18288" anchor="t">
            <a:spAutoFit/>
          </a:bodyPr>
          <a:lstStyle/>
          <a:p>
            <a:pPr algn="l">
              <a:lnSpc>
                <a:spcPct val="100000"/>
              </a:lnSpc>
              <a:spcAft>
                <a:spcPts val="0"/>
              </a:spcAft>
            </a:pPr>
            <a:r>
              <a:rPr sz="2300" b="1" i="0">
                <a:solidFill>
                  <a:srgbClr val="0F172A"/>
                </a:solidFill>
                <a:latin typeface="Segoe UI"/>
              </a:rPr>
              <a:t>Một process, hai không gian realtime, một nguồn sự thật</a:t>
            </a:r>
          </a:p>
        </p:txBody>
      </p:sp>
      <p:sp>
        <p:nvSpPr>
          <p:cNvPr id="5" name="TextBox 4"/>
          <p:cNvSpPr txBox="1"/>
          <p:nvPr/>
        </p:nvSpPr>
        <p:spPr>
          <a:xfrm>
            <a:off x="10698480" y="283464"/>
            <a:ext cx="960120" cy="228600"/>
          </a:xfrm>
          <a:prstGeom prst="rect">
            <a:avLst/>
          </a:prstGeom>
          <a:noFill/>
        </p:spPr>
        <p:txBody>
          <a:bodyPr wrap="square" lIns="36576" tIns="18288" rIns="36576" bIns="18288" anchor="t">
            <a:spAutoFit/>
          </a:bodyPr>
          <a:lstStyle/>
          <a:p>
            <a:pPr algn="r">
              <a:lnSpc>
                <a:spcPct val="100000"/>
              </a:lnSpc>
              <a:spcAft>
                <a:spcPts val="0"/>
              </a:spcAft>
            </a:pPr>
            <a:r>
              <a:rPr sz="900" b="1" i="0">
                <a:solidFill>
                  <a:srgbClr val="94A3B8"/>
                </a:solidFill>
                <a:latin typeface="Segoe UI"/>
              </a:rPr>
              <a:t>03 / 13</a:t>
            </a:r>
          </a:p>
        </p:txBody>
      </p:sp>
      <p:sp>
        <p:nvSpPr>
          <p:cNvPr id="6" name="Rounded Rectangle 5"/>
          <p:cNvSpPr/>
          <p:nvPr/>
        </p:nvSpPr>
        <p:spPr>
          <a:xfrm>
            <a:off x="594360" y="1188720"/>
            <a:ext cx="3383280" cy="749808"/>
          </a:xfrm>
          <a:prstGeom prst="roundRect">
            <a:avLst>
              <a:gd name="adj" fmla="val 12000"/>
            </a:avLst>
          </a:prstGeom>
          <a:solidFill>
            <a:srgbClr val="FFFFFF"/>
          </a:solidFill>
          <a:ln w="1524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31520" y="1252728"/>
            <a:ext cx="1554480" cy="219456"/>
          </a:xfrm>
          <a:prstGeom prst="rect">
            <a:avLst/>
          </a:prstGeom>
          <a:noFill/>
        </p:spPr>
        <p:txBody>
          <a:bodyPr wrap="square" lIns="36576" tIns="18288" rIns="36576" bIns="18288" anchor="t">
            <a:spAutoFit/>
          </a:bodyPr>
          <a:lstStyle/>
          <a:p>
            <a:pPr algn="l">
              <a:lnSpc>
                <a:spcPct val="100000"/>
              </a:lnSpc>
              <a:spcAft>
                <a:spcPts val="0"/>
              </a:spcAft>
            </a:pPr>
            <a:r>
              <a:rPr sz="850" b="1" i="0">
                <a:solidFill>
                  <a:srgbClr val="1D4ED8"/>
                </a:solidFill>
                <a:latin typeface="Segoe UI"/>
              </a:rPr>
              <a:t>BUYER</a:t>
            </a:r>
          </a:p>
        </p:txBody>
      </p:sp>
      <p:sp>
        <p:nvSpPr>
          <p:cNvPr id="8" name="TextBox 7"/>
          <p:cNvSpPr txBox="1"/>
          <p:nvPr/>
        </p:nvSpPr>
        <p:spPr>
          <a:xfrm>
            <a:off x="731520" y="1463040"/>
            <a:ext cx="3108960" cy="438912"/>
          </a:xfrm>
          <a:prstGeom prst="rect">
            <a:avLst/>
          </a:prstGeom>
          <a:noFill/>
        </p:spPr>
        <p:txBody>
          <a:bodyPr wrap="square" lIns="36576" tIns="18288" rIns="36576" bIns="18288" anchor="t">
            <a:spAutoFit/>
          </a:bodyPr>
          <a:lstStyle/>
          <a:p>
            <a:pPr algn="l">
              <a:lnSpc>
                <a:spcPct val="100000"/>
              </a:lnSpc>
              <a:spcAft>
                <a:spcPts val="0"/>
              </a:spcAft>
            </a:pPr>
            <a:r>
              <a:rPr sz="950" b="0" i="0">
                <a:solidFill>
                  <a:srgbClr val="1E293B"/>
                </a:solidFill>
                <a:latin typeface="Segoe UI"/>
              </a:rPr>
              <a:t>Trình duyệt · / · /live/[id] · /inbox · /orders</a:t>
            </a:r>
          </a:p>
        </p:txBody>
      </p:sp>
      <p:sp>
        <p:nvSpPr>
          <p:cNvPr id="9" name="Rounded Rectangle 8"/>
          <p:cNvSpPr/>
          <p:nvPr/>
        </p:nvSpPr>
        <p:spPr>
          <a:xfrm>
            <a:off x="8211312" y="1188720"/>
            <a:ext cx="3383280" cy="749808"/>
          </a:xfrm>
          <a:prstGeom prst="roundRect">
            <a:avLst>
              <a:gd name="adj" fmla="val 12000"/>
            </a:avLst>
          </a:prstGeom>
          <a:solidFill>
            <a:srgbClr val="FFFFFF"/>
          </a:solidFill>
          <a:ln w="1524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348472" y="1252728"/>
            <a:ext cx="1554480" cy="219456"/>
          </a:xfrm>
          <a:prstGeom prst="rect">
            <a:avLst/>
          </a:prstGeom>
          <a:noFill/>
        </p:spPr>
        <p:txBody>
          <a:bodyPr wrap="square" lIns="36576" tIns="18288" rIns="36576" bIns="18288" anchor="t">
            <a:spAutoFit/>
          </a:bodyPr>
          <a:lstStyle/>
          <a:p>
            <a:pPr algn="l">
              <a:lnSpc>
                <a:spcPct val="100000"/>
              </a:lnSpc>
              <a:spcAft>
                <a:spcPts val="0"/>
              </a:spcAft>
            </a:pPr>
            <a:r>
              <a:rPr sz="850" b="1" i="0">
                <a:solidFill>
                  <a:srgbClr val="B45309"/>
                </a:solidFill>
                <a:latin typeface="Segoe UI"/>
              </a:rPr>
              <a:t>SELLER</a:t>
            </a:r>
          </a:p>
        </p:txBody>
      </p:sp>
      <p:sp>
        <p:nvSpPr>
          <p:cNvPr id="11" name="TextBox 10"/>
          <p:cNvSpPr txBox="1"/>
          <p:nvPr/>
        </p:nvSpPr>
        <p:spPr>
          <a:xfrm>
            <a:off x="8348472" y="1463040"/>
            <a:ext cx="3108960" cy="438912"/>
          </a:xfrm>
          <a:prstGeom prst="rect">
            <a:avLst/>
          </a:prstGeom>
          <a:noFill/>
        </p:spPr>
        <p:txBody>
          <a:bodyPr wrap="square" lIns="36576" tIns="18288" rIns="36576" bIns="18288" anchor="t">
            <a:spAutoFit/>
          </a:bodyPr>
          <a:lstStyle/>
          <a:p>
            <a:pPr algn="l">
              <a:lnSpc>
                <a:spcPct val="100000"/>
              </a:lnSpc>
              <a:spcAft>
                <a:spcPts val="0"/>
              </a:spcAft>
            </a:pPr>
            <a:r>
              <a:rPr sz="950" b="0" i="0">
                <a:solidFill>
                  <a:srgbClr val="1E293B"/>
                </a:solidFill>
                <a:latin typeface="Segoe UI"/>
              </a:rPr>
              <a:t>Studio · webcam preview · /seller/*</a:t>
            </a:r>
          </a:p>
        </p:txBody>
      </p:sp>
      <p:sp>
        <p:nvSpPr>
          <p:cNvPr id="12" name="Rounded Rectangle 11"/>
          <p:cNvSpPr/>
          <p:nvPr/>
        </p:nvSpPr>
        <p:spPr>
          <a:xfrm>
            <a:off x="4224528" y="1188720"/>
            <a:ext cx="3749039" cy="749808"/>
          </a:xfrm>
          <a:prstGeom prst="roundRect">
            <a:avLst>
              <a:gd name="adj" fmla="val 12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361688" y="1252728"/>
            <a:ext cx="3474720" cy="219456"/>
          </a:xfrm>
          <a:prstGeom prst="rect">
            <a:avLst/>
          </a:prstGeom>
          <a:noFill/>
        </p:spPr>
        <p:txBody>
          <a:bodyPr wrap="square" lIns="36576" tIns="18288" rIns="36576" bIns="18288" anchor="t">
            <a:spAutoFit/>
          </a:bodyPr>
          <a:lstStyle/>
          <a:p>
            <a:pPr algn="l">
              <a:lnSpc>
                <a:spcPct val="100000"/>
              </a:lnSpc>
              <a:spcAft>
                <a:spcPts val="0"/>
              </a:spcAft>
            </a:pPr>
            <a:r>
              <a:rPr sz="850" b="1" i="0">
                <a:solidFill>
                  <a:srgbClr val="64748B"/>
                </a:solidFill>
                <a:latin typeface="Segoe UI"/>
              </a:rPr>
              <a:t>JWT httpOnly · proxy.ts</a:t>
            </a:r>
          </a:p>
        </p:txBody>
      </p:sp>
      <p:sp>
        <p:nvSpPr>
          <p:cNvPr id="14" name="TextBox 13"/>
          <p:cNvSpPr txBox="1"/>
          <p:nvPr/>
        </p:nvSpPr>
        <p:spPr>
          <a:xfrm>
            <a:off x="4361688" y="1463040"/>
            <a:ext cx="3474720" cy="411480"/>
          </a:xfrm>
          <a:prstGeom prst="rect">
            <a:avLst/>
          </a:prstGeom>
          <a:noFill/>
        </p:spPr>
        <p:txBody>
          <a:bodyPr wrap="square" lIns="36576" tIns="18288" rIns="36576" bIns="18288" anchor="t">
            <a:spAutoFit/>
          </a:bodyPr>
          <a:lstStyle/>
          <a:p>
            <a:pPr algn="l">
              <a:lnSpc>
                <a:spcPct val="100000"/>
              </a:lnSpc>
              <a:spcAft>
                <a:spcPts val="0"/>
              </a:spcAft>
            </a:pPr>
            <a:r>
              <a:rPr sz="900" b="0" i="0">
                <a:solidFill>
                  <a:srgbClr val="1E293B"/>
                </a:solidFill>
                <a:latin typeface="Segoe UI"/>
              </a:rPr>
              <a:t>Danh tính lấy từ token — không tin payload client</a:t>
            </a:r>
          </a:p>
        </p:txBody>
      </p:sp>
      <p:cxnSp>
        <p:nvCxnSpPr>
          <p:cNvPr id="15" name="Connector 14"/>
          <p:cNvCxnSpPr/>
          <p:nvPr/>
        </p:nvCxnSpPr>
        <p:spPr>
          <a:xfrm>
            <a:off x="2286000" y="1956816"/>
            <a:ext cx="0" cy="256032"/>
          </a:xfrm>
          <a:prstGeom prst="line">
            <a:avLst/>
          </a:prstGeom>
          <a:ln w="17780">
            <a:solidFill>
              <a:srgbClr val="1D4E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875520" y="1956816"/>
            <a:ext cx="0" cy="256032"/>
          </a:xfrm>
          <a:prstGeom prst="line">
            <a:avLst/>
          </a:prstGeom>
          <a:ln w="1778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94360" y="2231136"/>
            <a:ext cx="11000232" cy="2359152"/>
          </a:xfrm>
          <a:prstGeom prst="roundRect">
            <a:avLst>
              <a:gd name="adj" fmla="val 12000"/>
            </a:avLst>
          </a:prstGeom>
          <a:solidFill>
            <a:srgbClr val="FFFFFF"/>
          </a:solidFill>
          <a:ln w="17780">
            <a:solidFill>
              <a:srgbClr val="0F17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4572000" y="2084831"/>
            <a:ext cx="3063240" cy="274320"/>
          </a:xfrm>
          <a:prstGeom prst="roundRect">
            <a:avLst>
              <a:gd name="adj" fmla="val 5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572000" y="2084831"/>
            <a:ext cx="3063240" cy="274320"/>
          </a:xfrm>
          <a:prstGeom prst="rect">
            <a:avLst/>
          </a:prstGeom>
          <a:noFill/>
        </p:spPr>
        <p:txBody>
          <a:bodyPr wrap="square" lIns="36576" tIns="18288" rIns="36576" bIns="18288" anchor="ctr">
            <a:spAutoFit/>
          </a:bodyPr>
          <a:lstStyle/>
          <a:p>
            <a:pPr algn="ctr">
              <a:lnSpc>
                <a:spcPct val="100000"/>
              </a:lnSpc>
              <a:spcAft>
                <a:spcPts val="0"/>
              </a:spcAft>
            </a:pPr>
            <a:r>
              <a:rPr sz="800" b="1" i="0">
                <a:solidFill>
                  <a:srgbClr val="FFFFFF"/>
                </a:solidFill>
                <a:latin typeface="Segoe UI"/>
              </a:rPr>
              <a:t>MỘT PROCESS · tsx server.ts</a:t>
            </a:r>
          </a:p>
        </p:txBody>
      </p:sp>
      <p:sp>
        <p:nvSpPr>
          <p:cNvPr id="20" name="Rounded Rectangle 19"/>
          <p:cNvSpPr/>
          <p:nvPr/>
        </p:nvSpPr>
        <p:spPr>
          <a:xfrm>
            <a:off x="822960" y="2468880"/>
            <a:ext cx="2926080" cy="1874519"/>
          </a:xfrm>
          <a:prstGeom prst="roundRect">
            <a:avLst>
              <a:gd name="adj" fmla="val 12000"/>
            </a:avLst>
          </a:prstGeom>
          <a:solidFill>
            <a:srgbClr val="EFF6FF"/>
          </a:solidFill>
          <a:ln w="12700">
            <a:solidFill>
              <a:srgbClr val="DBEAF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41832" y="2542032"/>
            <a:ext cx="2697480" cy="237744"/>
          </a:xfrm>
          <a:prstGeom prst="rect">
            <a:avLst/>
          </a:prstGeom>
          <a:noFill/>
        </p:spPr>
        <p:txBody>
          <a:bodyPr wrap="square" lIns="36576" tIns="18288" rIns="36576" bIns="18288" anchor="t">
            <a:spAutoFit/>
          </a:bodyPr>
          <a:lstStyle/>
          <a:p>
            <a:pPr algn="l">
              <a:lnSpc>
                <a:spcPct val="100000"/>
              </a:lnSpc>
              <a:spcAft>
                <a:spcPts val="0"/>
              </a:spcAft>
            </a:pPr>
            <a:r>
              <a:rPr sz="1000" b="1" i="0">
                <a:solidFill>
                  <a:srgbClr val="1D4ED8"/>
                </a:solidFill>
                <a:latin typeface="Segoe UI"/>
              </a:rPr>
              <a:t>Next.js 16 · App Router</a:t>
            </a:r>
          </a:p>
        </p:txBody>
      </p:sp>
      <p:sp>
        <p:nvSpPr>
          <p:cNvPr id="22" name="TextBox 21"/>
          <p:cNvSpPr txBox="1"/>
          <p:nvPr/>
        </p:nvSpPr>
        <p:spPr>
          <a:xfrm>
            <a:off x="941832" y="2816352"/>
            <a:ext cx="2697480" cy="1417320"/>
          </a:xfrm>
          <a:prstGeom prst="rect">
            <a:avLst/>
          </a:prstGeom>
          <a:noFill/>
        </p:spPr>
        <p:txBody>
          <a:bodyPr wrap="square" lIns="36576" tIns="18288" rIns="36576" bIns="18288" anchor="t">
            <a:spAutoFit/>
          </a:bodyPr>
          <a:lstStyle/>
          <a:p>
            <a:pPr algn="l">
              <a:lnSpc>
                <a:spcPct val="100000"/>
              </a:lnSpc>
              <a:spcAft>
                <a:spcPts val="0"/>
              </a:spcAft>
            </a:pPr>
            <a:r>
              <a:rPr sz="830" b="0" i="0">
                <a:solidFill>
                  <a:srgbClr val="1E293B"/>
                </a:solidFill>
                <a:latin typeface="Segoe UI"/>
              </a:rPr>
              <a:t>Buyer pages</a:t>
            </a:r>
          </a:p>
          <a:p>
            <a:pPr algn="l">
              <a:lnSpc>
                <a:spcPct val="100000"/>
              </a:lnSpc>
              <a:spcAft>
                <a:spcPts val="0"/>
              </a:spcAft>
            </a:pPr>
            <a:r>
              <a:rPr sz="830" b="0" i="0">
                <a:solidFill>
                  <a:srgbClr val="1E293B"/>
                </a:solidFill>
                <a:latin typeface="Segoe UI"/>
              </a:rPr>
              <a:t>Seller pages</a:t>
            </a:r>
          </a:p>
          <a:p>
            <a:pPr algn="l">
              <a:lnSpc>
                <a:spcPct val="100000"/>
              </a:lnSpc>
              <a:spcAft>
                <a:spcPts val="0"/>
              </a:spcAft>
            </a:pPr>
            <a:r>
              <a:rPr sz="830" b="0" i="0">
                <a:solidFill>
                  <a:srgbClr val="1E293B"/>
                </a:solidFill>
                <a:latin typeface="Segoe UI"/>
              </a:rPr>
              <a:t>REST API</a:t>
            </a:r>
          </a:p>
          <a:p>
            <a:pPr algn="l">
              <a:lnSpc>
                <a:spcPct val="100000"/>
              </a:lnSpc>
              <a:spcAft>
                <a:spcPts val="0"/>
              </a:spcAft>
            </a:pPr>
            <a:r>
              <a:rPr sz="830" b="0" i="0">
                <a:solidFill>
                  <a:srgbClr val="1E293B"/>
                </a:solidFill>
                <a:latin typeface="Segoe UI"/>
              </a:rPr>
              <a:t>auth · products · kb</a:t>
            </a:r>
          </a:p>
          <a:p>
            <a:pPr algn="l">
              <a:lnSpc>
                <a:spcPct val="100000"/>
              </a:lnSpc>
              <a:spcAft>
                <a:spcPts val="0"/>
              </a:spcAft>
            </a:pPr>
            <a:r>
              <a:rPr sz="830" b="0" i="0">
                <a:solidFill>
                  <a:srgbClr val="1E293B"/>
                </a:solidFill>
                <a:latin typeface="Segoe UI"/>
              </a:rPr>
              <a:t>live · orders</a:t>
            </a:r>
          </a:p>
          <a:p>
            <a:pPr algn="l">
              <a:lnSpc>
                <a:spcPct val="100000"/>
              </a:lnSpc>
              <a:spcAft>
                <a:spcPts val="0"/>
              </a:spcAft>
            </a:pPr>
            <a:r>
              <a:rPr sz="830" b="0" i="0">
                <a:solidFill>
                  <a:srgbClr val="1E293B"/>
                </a:solidFill>
                <a:latin typeface="Segoe UI"/>
              </a:rPr>
              <a:t>proxy.ts guard</a:t>
            </a:r>
          </a:p>
        </p:txBody>
      </p:sp>
      <p:sp>
        <p:nvSpPr>
          <p:cNvPr id="23" name="Rounded Rectangle 22"/>
          <p:cNvSpPr/>
          <p:nvPr/>
        </p:nvSpPr>
        <p:spPr>
          <a:xfrm>
            <a:off x="3977639" y="2468880"/>
            <a:ext cx="3108960" cy="1874519"/>
          </a:xfrm>
          <a:prstGeom prst="roundRect">
            <a:avLst>
              <a:gd name="adj" fmla="val 12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096512" y="2542032"/>
            <a:ext cx="2834640" cy="237744"/>
          </a:xfrm>
          <a:prstGeom prst="rect">
            <a:avLst/>
          </a:prstGeom>
          <a:noFill/>
        </p:spPr>
        <p:txBody>
          <a:bodyPr wrap="square" lIns="36576" tIns="18288" rIns="36576" bIns="18288" anchor="t">
            <a:spAutoFit/>
          </a:bodyPr>
          <a:lstStyle/>
          <a:p>
            <a:pPr algn="l">
              <a:lnSpc>
                <a:spcPct val="100000"/>
              </a:lnSpc>
              <a:spcAft>
                <a:spcPts val="0"/>
              </a:spcAft>
            </a:pPr>
            <a:r>
              <a:rPr sz="1000" b="1" i="0">
                <a:solidFill>
                  <a:srgbClr val="0F172A"/>
                </a:solidFill>
                <a:latin typeface="Segoe UI"/>
              </a:rPr>
              <a:t>Socket.IO · custom server</a:t>
            </a:r>
          </a:p>
        </p:txBody>
      </p:sp>
      <p:sp>
        <p:nvSpPr>
          <p:cNvPr id="25" name="TextBox 24"/>
          <p:cNvSpPr txBox="1"/>
          <p:nvPr/>
        </p:nvSpPr>
        <p:spPr>
          <a:xfrm>
            <a:off x="4096512" y="2816352"/>
            <a:ext cx="2834640" cy="1417320"/>
          </a:xfrm>
          <a:prstGeom prst="rect">
            <a:avLst/>
          </a:prstGeom>
          <a:noFill/>
        </p:spPr>
        <p:txBody>
          <a:bodyPr wrap="square" lIns="36576" tIns="18288" rIns="36576" bIns="18288" anchor="t">
            <a:spAutoFit/>
          </a:bodyPr>
          <a:lstStyle/>
          <a:p>
            <a:pPr algn="l">
              <a:lnSpc>
                <a:spcPct val="102000"/>
              </a:lnSpc>
              <a:spcAft>
                <a:spcPts val="0"/>
              </a:spcAft>
            </a:pPr>
            <a:r>
              <a:rPr sz="800" b="0" i="0">
                <a:solidFill>
                  <a:srgbClr val="1E293B"/>
                </a:solidFill>
                <a:latin typeface="Segoe UI"/>
              </a:rPr>
              <a:t>/live  join_live · send_comment</a:t>
            </a:r>
          </a:p>
          <a:p>
            <a:pPr algn="l">
              <a:lnSpc>
                <a:spcPct val="102000"/>
              </a:lnSpc>
              <a:spcAft>
                <a:spcPts val="0"/>
              </a:spcAft>
            </a:pPr>
            <a:r>
              <a:rPr sz="800" b="0" i="0">
                <a:solidFill>
                  <a:srgbClr val="1E293B"/>
                </a:solidFill>
                <a:latin typeface="Segoe UI"/>
              </a:rPr>
              <a:t>       new_order · viewers</a:t>
            </a:r>
          </a:p>
          <a:p>
            <a:pPr algn="l">
              <a:lnSpc>
                <a:spcPct val="102000"/>
              </a:lnSpc>
              <a:spcAft>
                <a:spcPts val="0"/>
              </a:spcAft>
            </a:pPr>
            <a:r>
              <a:rPr sz="800" b="0" i="0">
                <a:solidFill>
                  <a:srgbClr val="1E293B"/>
                </a:solidFill>
                <a:latin typeface="Segoe UI"/>
              </a:rPr>
              <a:t>/inbox  send_message</a:t>
            </a:r>
          </a:p>
          <a:p>
            <a:pPr algn="l">
              <a:lnSpc>
                <a:spcPct val="102000"/>
              </a:lnSpc>
              <a:spcAft>
                <a:spcPts val="0"/>
              </a:spcAft>
            </a:pPr>
            <a:r>
              <a:rPr sz="800" b="0" i="0">
                <a:solidFill>
                  <a:srgbClr val="1E293B"/>
                </a:solidFill>
                <a:latin typeface="Segoe UI"/>
              </a:rPr>
              <a:t>       conversation_updated</a:t>
            </a:r>
          </a:p>
          <a:p>
            <a:pPr algn="l">
              <a:lnSpc>
                <a:spcPct val="102000"/>
              </a:lnSpc>
              <a:spcAft>
                <a:spcPts val="0"/>
              </a:spcAft>
            </a:pPr>
            <a:r>
              <a:rPr sz="800" b="0" i="0">
                <a:solidFill>
                  <a:srgbClr val="1E293B"/>
                </a:solidFill>
                <a:latin typeface="Segoe UI"/>
              </a:rPr>
              <a:t>       ai_thinking</a:t>
            </a:r>
          </a:p>
          <a:p>
            <a:pPr algn="l">
              <a:lnSpc>
                <a:spcPct val="102000"/>
              </a:lnSpc>
              <a:spcAft>
                <a:spcPts val="0"/>
              </a:spcAft>
            </a:pPr>
            <a:r>
              <a:rPr sz="800" b="0" i="0">
                <a:solidFill>
                  <a:srgbClr val="1E293B"/>
                </a:solidFill>
                <a:latin typeface="Segoe UI"/>
              </a:rPr>
              <a:t>JWT handshake → socket.data.user</a:t>
            </a:r>
          </a:p>
        </p:txBody>
      </p:sp>
      <p:sp>
        <p:nvSpPr>
          <p:cNvPr id="26" name="Rounded Rectangle 25"/>
          <p:cNvSpPr/>
          <p:nvPr/>
        </p:nvSpPr>
        <p:spPr>
          <a:xfrm>
            <a:off x="7360920" y="2468880"/>
            <a:ext cx="4023360" cy="1874519"/>
          </a:xfrm>
          <a:prstGeom prst="roundRect">
            <a:avLst>
              <a:gd name="adj" fmla="val 12000"/>
            </a:avLst>
          </a:prstGeom>
          <a:solidFill>
            <a:srgbClr val="E6FFFA"/>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79792" y="2542032"/>
            <a:ext cx="3749039" cy="237744"/>
          </a:xfrm>
          <a:prstGeom prst="rect">
            <a:avLst/>
          </a:prstGeom>
          <a:noFill/>
        </p:spPr>
        <p:txBody>
          <a:bodyPr wrap="square" lIns="36576" tIns="18288" rIns="36576" bIns="18288" anchor="t">
            <a:spAutoFit/>
          </a:bodyPr>
          <a:lstStyle/>
          <a:p>
            <a:pPr algn="l">
              <a:lnSpc>
                <a:spcPct val="100000"/>
              </a:lnSpc>
              <a:spcAft>
                <a:spcPts val="0"/>
              </a:spcAft>
            </a:pPr>
            <a:r>
              <a:rPr sz="1000" b="1" i="0">
                <a:solidFill>
                  <a:srgbClr val="0F766E"/>
                </a:solidFill>
                <a:latin typeface="Segoe UI"/>
              </a:rPr>
              <a:t>Hai engine lõi</a:t>
            </a:r>
          </a:p>
        </p:txBody>
      </p:sp>
      <p:sp>
        <p:nvSpPr>
          <p:cNvPr id="28" name="Rounded Rectangle 27"/>
          <p:cNvSpPr/>
          <p:nvPr/>
        </p:nvSpPr>
        <p:spPr>
          <a:xfrm>
            <a:off x="7479792" y="2816352"/>
            <a:ext cx="3749039" cy="676656"/>
          </a:xfrm>
          <a:prstGeom prst="roundRect">
            <a:avLst>
              <a:gd name="adj" fmla="val 12000"/>
            </a:avLst>
          </a:prstGeom>
          <a:solidFill>
            <a:srgbClr val="FFFFFF"/>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589520" y="2862072"/>
            <a:ext cx="3566160" cy="219456"/>
          </a:xfrm>
          <a:prstGeom prst="rect">
            <a:avLst/>
          </a:prstGeom>
          <a:noFill/>
        </p:spPr>
        <p:txBody>
          <a:bodyPr wrap="square" lIns="36576" tIns="18288" rIns="36576" bIns="18288" anchor="t">
            <a:spAutoFit/>
          </a:bodyPr>
          <a:lstStyle/>
          <a:p>
            <a:pPr algn="l">
              <a:lnSpc>
                <a:spcPct val="100000"/>
              </a:lnSpc>
              <a:spcAft>
                <a:spcPts val="0"/>
              </a:spcAft>
            </a:pPr>
            <a:r>
              <a:rPr sz="900" b="1" i="0">
                <a:solidFill>
                  <a:srgbClr val="0F766E"/>
                </a:solidFill>
                <a:latin typeface="Segoe UI"/>
              </a:rPr>
              <a:t>① Aho-Corasick</a:t>
            </a:r>
          </a:p>
        </p:txBody>
      </p:sp>
      <p:sp>
        <p:nvSpPr>
          <p:cNvPr id="30" name="TextBox 29"/>
          <p:cNvSpPr txBox="1"/>
          <p:nvPr/>
        </p:nvSpPr>
        <p:spPr>
          <a:xfrm>
            <a:off x="7589520" y="3081528"/>
            <a:ext cx="3566160" cy="365760"/>
          </a:xfrm>
          <a:prstGeom prst="rect">
            <a:avLst/>
          </a:prstGeom>
          <a:noFill/>
        </p:spPr>
        <p:txBody>
          <a:bodyPr wrap="square" lIns="36576" tIns="18288" rIns="36576" bIns="18288" anchor="t">
            <a:spAutoFit/>
          </a:bodyPr>
          <a:lstStyle/>
          <a:p>
            <a:pPr algn="l">
              <a:lnSpc>
                <a:spcPct val="100000"/>
              </a:lnSpc>
              <a:spcAft>
                <a:spcPts val="0"/>
              </a:spcAft>
            </a:pPr>
            <a:r>
              <a:rPr sz="780" b="0" i="0">
                <a:solidFill>
                  <a:srgbClr val="64748B"/>
                </a:solidFill>
                <a:latin typeface="Segoe UI"/>
              </a:rPr>
              <a:t>automaton / phiên · 1 lượt quét · match + vị trí + ms</a:t>
            </a:r>
          </a:p>
        </p:txBody>
      </p:sp>
      <p:sp>
        <p:nvSpPr>
          <p:cNvPr id="31" name="Rounded Rectangle 30"/>
          <p:cNvSpPr/>
          <p:nvPr/>
        </p:nvSpPr>
        <p:spPr>
          <a:xfrm>
            <a:off x="7479792" y="3566160"/>
            <a:ext cx="3749039" cy="658368"/>
          </a:xfrm>
          <a:prstGeom prst="roundRect">
            <a:avLst>
              <a:gd name="adj" fmla="val 12000"/>
            </a:avLst>
          </a:prstGeom>
          <a:solidFill>
            <a:srgbClr val="FFFFFF"/>
          </a:solidFill>
          <a:ln w="127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589520" y="3611880"/>
            <a:ext cx="3566160" cy="219456"/>
          </a:xfrm>
          <a:prstGeom prst="rect">
            <a:avLst/>
          </a:prstGeom>
          <a:noFill/>
        </p:spPr>
        <p:txBody>
          <a:bodyPr wrap="square" lIns="36576" tIns="18288" rIns="36576" bIns="18288" anchor="t">
            <a:spAutoFit/>
          </a:bodyPr>
          <a:lstStyle/>
          <a:p>
            <a:pPr algn="l">
              <a:lnSpc>
                <a:spcPct val="100000"/>
              </a:lnSpc>
              <a:spcAft>
                <a:spcPts val="0"/>
              </a:spcAft>
            </a:pPr>
            <a:r>
              <a:rPr sz="900" b="1" i="0">
                <a:solidFill>
                  <a:srgbClr val="1D4ED8"/>
                </a:solidFill>
                <a:latin typeface="Segoe UI"/>
              </a:rPr>
              <a:t>② RAG + chat flow</a:t>
            </a:r>
          </a:p>
        </p:txBody>
      </p:sp>
      <p:sp>
        <p:nvSpPr>
          <p:cNvPr id="33" name="TextBox 32"/>
          <p:cNvSpPr txBox="1"/>
          <p:nvPr/>
        </p:nvSpPr>
        <p:spPr>
          <a:xfrm>
            <a:off x="7589520" y="3831336"/>
            <a:ext cx="3566160" cy="365760"/>
          </a:xfrm>
          <a:prstGeom prst="rect">
            <a:avLst/>
          </a:prstGeom>
          <a:noFill/>
        </p:spPr>
        <p:txBody>
          <a:bodyPr wrap="square" lIns="36576" tIns="18288" rIns="36576" bIns="18288" anchor="t">
            <a:spAutoFit/>
          </a:bodyPr>
          <a:lstStyle/>
          <a:p>
            <a:pPr algn="l">
              <a:lnSpc>
                <a:spcPct val="100000"/>
              </a:lnSpc>
              <a:spcAft>
                <a:spcPts val="0"/>
              </a:spcAft>
            </a:pPr>
            <a:r>
              <a:rPr sz="780" b="0" i="0">
                <a:solidFill>
                  <a:srgbClr val="64748B"/>
                </a:solidFill>
                <a:latin typeface="Segoe UI"/>
              </a:rPr>
              <a:t>index RAM / shop · router 3 nhánh · Groq · trace</a:t>
            </a:r>
          </a:p>
        </p:txBody>
      </p:sp>
      <p:sp>
        <p:nvSpPr>
          <p:cNvPr id="34" name="Rounded Rectangle 33"/>
          <p:cNvSpPr/>
          <p:nvPr/>
        </p:nvSpPr>
        <p:spPr>
          <a:xfrm>
            <a:off x="594360" y="4864608"/>
            <a:ext cx="4754880" cy="109728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49808" y="4928616"/>
            <a:ext cx="4480560" cy="237744"/>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0F172A"/>
                </a:solidFill>
                <a:latin typeface="Segoe UI"/>
              </a:rPr>
              <a:t>PostgreSQL 16 · Docker :5433 · Prisma 7</a:t>
            </a:r>
          </a:p>
        </p:txBody>
      </p:sp>
      <p:sp>
        <p:nvSpPr>
          <p:cNvPr id="36" name="TextBox 35"/>
          <p:cNvSpPr txBox="1"/>
          <p:nvPr/>
        </p:nvSpPr>
        <p:spPr>
          <a:xfrm>
            <a:off x="749808" y="5193792"/>
            <a:ext cx="4480560" cy="685800"/>
          </a:xfrm>
          <a:prstGeom prst="rect">
            <a:avLst/>
          </a:prstGeom>
          <a:noFill/>
        </p:spPr>
        <p:txBody>
          <a:bodyPr wrap="square" lIns="36576" tIns="18288" rIns="36576" bIns="18288" anchor="t">
            <a:spAutoFit/>
          </a:bodyPr>
          <a:lstStyle/>
          <a:p>
            <a:pPr algn="l">
              <a:lnSpc>
                <a:spcPct val="100000"/>
              </a:lnSpc>
              <a:spcAft>
                <a:spcPts val="0"/>
              </a:spcAft>
            </a:pPr>
            <a:r>
              <a:rPr sz="780" b="0" i="0">
                <a:solidFill>
                  <a:srgbClr val="64748B"/>
                </a:solidFill>
                <a:latin typeface="Segoe UI"/>
              </a:rPr>
              <a:t>User · Shop · Product · KbEntry · LiveSession</a:t>
            </a:r>
          </a:p>
          <a:p>
            <a:pPr algn="l">
              <a:lnSpc>
                <a:spcPct val="100000"/>
              </a:lnSpc>
              <a:spcAft>
                <a:spcPts val="0"/>
              </a:spcAft>
            </a:pPr>
            <a:r>
              <a:rPr sz="780" b="0" i="0">
                <a:solidFill>
                  <a:srgbClr val="64748B"/>
                </a:solidFill>
                <a:latin typeface="Segoe UI"/>
              </a:rPr>
              <a:t>Conversation · DirectMessage · Order</a:t>
            </a:r>
          </a:p>
          <a:p>
            <a:pPr algn="l">
              <a:lnSpc>
                <a:spcPct val="100000"/>
              </a:lnSpc>
              <a:spcAft>
                <a:spcPts val="0"/>
              </a:spcAft>
            </a:pPr>
            <a:r>
              <a:rPr sz="780" b="0" i="0">
                <a:solidFill>
                  <a:srgbClr val="64748B"/>
                </a:solidFill>
                <a:latin typeface="Segoe UI"/>
              </a:rPr>
              <a:t>unique [shopId, sku] · eventId · dedupKey · paymentCode</a:t>
            </a:r>
          </a:p>
        </p:txBody>
      </p:sp>
      <p:sp>
        <p:nvSpPr>
          <p:cNvPr id="37" name="Rounded Rectangle 36"/>
          <p:cNvSpPr/>
          <p:nvPr/>
        </p:nvSpPr>
        <p:spPr>
          <a:xfrm>
            <a:off x="5532120" y="4864608"/>
            <a:ext cx="2697480" cy="1097280"/>
          </a:xfrm>
          <a:prstGeom prst="roundRect">
            <a:avLst>
              <a:gd name="adj" fmla="val 12000"/>
            </a:avLst>
          </a:prstGeom>
          <a:solidFill>
            <a:srgbClr val="FFFFFF"/>
          </a:solidFill>
          <a:ln w="1270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5669280" y="4928616"/>
            <a:ext cx="2423160" cy="237744"/>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15803D"/>
                </a:solidFill>
                <a:latin typeface="Segoe UI"/>
              </a:rPr>
              <a:t>e5-small · local</a:t>
            </a:r>
          </a:p>
        </p:txBody>
      </p:sp>
      <p:sp>
        <p:nvSpPr>
          <p:cNvPr id="39" name="TextBox 38"/>
          <p:cNvSpPr txBox="1"/>
          <p:nvPr/>
        </p:nvSpPr>
        <p:spPr>
          <a:xfrm>
            <a:off x="5669280" y="5193792"/>
            <a:ext cx="2423160" cy="685800"/>
          </a:xfrm>
          <a:prstGeom prst="rect">
            <a:avLst/>
          </a:prstGeom>
          <a:noFill/>
        </p:spPr>
        <p:txBody>
          <a:bodyPr wrap="square" lIns="36576" tIns="18288" rIns="36576" bIns="18288" anchor="t">
            <a:spAutoFit/>
          </a:bodyPr>
          <a:lstStyle/>
          <a:p>
            <a:pPr algn="l">
              <a:lnSpc>
                <a:spcPct val="100000"/>
              </a:lnSpc>
              <a:spcAft>
                <a:spcPts val="0"/>
              </a:spcAft>
            </a:pPr>
            <a:r>
              <a:rPr sz="780" b="0" i="0">
                <a:solidFill>
                  <a:srgbClr val="64748B"/>
                </a:solidFill>
                <a:latin typeface="Segoe UI"/>
              </a:rPr>
              <a:t>multilingual · q8 · 384d</a:t>
            </a:r>
          </a:p>
          <a:p>
            <a:pPr algn="l">
              <a:lnSpc>
                <a:spcPct val="100000"/>
              </a:lnSpc>
              <a:spcAft>
                <a:spcPts val="0"/>
              </a:spcAft>
            </a:pPr>
            <a:r>
              <a:rPr sz="780" b="0" i="0">
                <a:solidFill>
                  <a:srgbClr val="64748B"/>
                </a:solidFill>
                <a:latin typeface="Segoe UI"/>
              </a:rPr>
              <a:t>passage: / query:</a:t>
            </a:r>
          </a:p>
          <a:p>
            <a:pPr algn="l">
              <a:lnSpc>
                <a:spcPct val="100000"/>
              </a:lnSpc>
              <a:spcAft>
                <a:spcPts val="0"/>
              </a:spcAft>
            </a:pPr>
            <a:r>
              <a:rPr sz="780" b="0" i="0">
                <a:solidFill>
                  <a:srgbClr val="64748B"/>
                </a:solidFill>
                <a:latin typeface="Segoe UI"/>
              </a:rPr>
              <a:t>cache 113 MB</a:t>
            </a:r>
          </a:p>
        </p:txBody>
      </p:sp>
      <p:sp>
        <p:nvSpPr>
          <p:cNvPr id="40" name="Rounded Rectangle 39"/>
          <p:cNvSpPr/>
          <p:nvPr/>
        </p:nvSpPr>
        <p:spPr>
          <a:xfrm>
            <a:off x="8412480" y="4864608"/>
            <a:ext cx="3182112" cy="1097280"/>
          </a:xfrm>
          <a:prstGeom prst="roundRect">
            <a:avLst>
              <a:gd name="adj" fmla="val 12000"/>
            </a:avLst>
          </a:prstGeom>
          <a:solidFill>
            <a:srgbClr val="FFFFFF"/>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8549640" y="4928616"/>
            <a:ext cx="2926080" cy="237744"/>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6D28D9"/>
                </a:solidFill>
                <a:latin typeface="Segoe UI"/>
              </a:rPr>
              <a:t>Groq Chat Completions</a:t>
            </a:r>
          </a:p>
        </p:txBody>
      </p:sp>
      <p:sp>
        <p:nvSpPr>
          <p:cNvPr id="42" name="TextBox 41"/>
          <p:cNvSpPr txBox="1"/>
          <p:nvPr/>
        </p:nvSpPr>
        <p:spPr>
          <a:xfrm>
            <a:off x="8549640" y="5193792"/>
            <a:ext cx="2926080" cy="685800"/>
          </a:xfrm>
          <a:prstGeom prst="rect">
            <a:avLst/>
          </a:prstGeom>
          <a:noFill/>
        </p:spPr>
        <p:txBody>
          <a:bodyPr wrap="square" lIns="36576" tIns="18288" rIns="36576" bIns="18288" anchor="t">
            <a:spAutoFit/>
          </a:bodyPr>
          <a:lstStyle/>
          <a:p>
            <a:pPr algn="l">
              <a:lnSpc>
                <a:spcPct val="100000"/>
              </a:lnSpc>
              <a:spcAft>
                <a:spcPts val="0"/>
              </a:spcAft>
            </a:pPr>
            <a:r>
              <a:rPr sz="780" b="0" i="0">
                <a:solidFill>
                  <a:srgbClr val="64748B"/>
                </a:solidFill>
                <a:latin typeface="Segoe UI"/>
              </a:rPr>
              <a:t>qwen/qwen3.8-27b</a:t>
            </a:r>
          </a:p>
          <a:p>
            <a:pPr algn="l">
              <a:lnSpc>
                <a:spcPct val="100000"/>
              </a:lnSpc>
              <a:spcAft>
                <a:spcPts val="0"/>
              </a:spcAft>
            </a:pPr>
            <a:r>
              <a:rPr sz="780" b="0" i="0">
                <a:solidFill>
                  <a:srgbClr val="64748B"/>
                </a:solidFill>
                <a:latin typeface="Segoe UI"/>
              </a:rPr>
              <a:t>GROQ_MODEL override</a:t>
            </a:r>
          </a:p>
          <a:p>
            <a:pPr algn="l">
              <a:lnSpc>
                <a:spcPct val="100000"/>
              </a:lnSpc>
              <a:spcAft>
                <a:spcPts val="0"/>
              </a:spcAft>
            </a:pPr>
            <a:r>
              <a:rPr sz="780" b="0" i="0">
                <a:solidFill>
                  <a:srgbClr val="64748B"/>
                </a:solidFill>
                <a:latin typeface="Segoe UI"/>
              </a:rPr>
              <a:t>timeout 20s</a:t>
            </a:r>
          </a:p>
        </p:txBody>
      </p:sp>
      <p:cxnSp>
        <p:nvCxnSpPr>
          <p:cNvPr id="43" name="Connector 42"/>
          <p:cNvCxnSpPr/>
          <p:nvPr/>
        </p:nvCxnSpPr>
        <p:spPr>
          <a:xfrm>
            <a:off x="2926080" y="4590288"/>
            <a:ext cx="0" cy="256032"/>
          </a:xfrm>
          <a:prstGeom prst="line">
            <a:avLst/>
          </a:prstGeom>
          <a:ln w="15240">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858000" y="4590288"/>
            <a:ext cx="0" cy="256032"/>
          </a:xfrm>
          <a:prstGeom prst="line">
            <a:avLst/>
          </a:prstGeom>
          <a:ln w="15240">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9966960" y="4590288"/>
            <a:ext cx="0" cy="256032"/>
          </a:xfrm>
          <a:prstGeom prst="line">
            <a:avLst/>
          </a:prstGeom>
          <a:ln w="15240">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94360" y="6080760"/>
            <a:ext cx="11000232" cy="274320"/>
          </a:xfrm>
          <a:prstGeom prst="rect">
            <a:avLst/>
          </a:prstGeom>
          <a:noFill/>
        </p:spPr>
        <p:txBody>
          <a:bodyPr wrap="square" lIns="36576" tIns="18288" rIns="36576" bIns="18288" anchor="t">
            <a:spAutoFit/>
          </a:bodyPr>
          <a:lstStyle/>
          <a:p>
            <a:pPr algn="l">
              <a:lnSpc>
                <a:spcPct val="100000"/>
              </a:lnSpc>
              <a:spcAft>
                <a:spcPts val="0"/>
              </a:spcAft>
            </a:pPr>
            <a:r>
              <a:rPr sz="850" b="0" i="1">
                <a:solidFill>
                  <a:srgbClr val="64748B"/>
                </a:solidFill>
                <a:latin typeface="Segoe UI"/>
              </a:rPr>
              <a:t>globalThis giữ đúng một embedder + một index cho cả process, dù Next biên dịch code thành nhiều bundle.</a:t>
            </a:r>
          </a:p>
        </p:txBody>
      </p:sp>
      <p:cxnSp>
        <p:nvCxnSpPr>
          <p:cNvPr id="47" name="Connector 46"/>
          <p:cNvCxnSpPr/>
          <p:nvPr/>
        </p:nvCxnSpPr>
        <p:spPr>
          <a:xfrm>
            <a:off x="594360" y="6492240"/>
            <a:ext cx="1100023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594360" y="6537960"/>
            <a:ext cx="7315200" cy="201168"/>
          </a:xfrm>
          <a:prstGeom prst="rect">
            <a:avLst/>
          </a:prstGeom>
          <a:noFill/>
        </p:spPr>
        <p:txBody>
          <a:bodyPr wrap="square" lIns="36576" tIns="18288" rIns="36576" bIns="18288" anchor="t">
            <a:spAutoFit/>
          </a:bodyPr>
          <a:lstStyle/>
          <a:p>
            <a:pPr algn="l">
              <a:lnSpc>
                <a:spcPct val="100000"/>
              </a:lnSpc>
              <a:spcAft>
                <a:spcPts val="0"/>
              </a:spcAft>
            </a:pPr>
            <a:r>
              <a:rPr sz="800" b="0" i="0">
                <a:solidFill>
                  <a:srgbClr val="94A3B8"/>
                </a:solidFill>
                <a:latin typeface="Segoe UI"/>
              </a:rPr>
              <a:t>LiveOrder · Pipeline toàn dự án · 2026</a:t>
            </a:r>
          </a:p>
        </p:txBody>
      </p:sp>
      <p:sp>
        <p:nvSpPr>
          <p:cNvPr id="49" name="TextBox 48"/>
          <p:cNvSpPr txBox="1"/>
          <p:nvPr/>
        </p:nvSpPr>
        <p:spPr>
          <a:xfrm>
            <a:off x="8229600" y="6537960"/>
            <a:ext cx="3364992" cy="201168"/>
          </a:xfrm>
          <a:prstGeom prst="rect">
            <a:avLst/>
          </a:prstGeom>
          <a:noFill/>
        </p:spPr>
        <p:txBody>
          <a:bodyPr wrap="square" lIns="36576" tIns="18288" rIns="36576" bIns="18288" anchor="t">
            <a:spAutoFit/>
          </a:bodyPr>
          <a:lstStyle/>
          <a:p>
            <a:pPr algn="r">
              <a:lnSpc>
                <a:spcPct val="100000"/>
              </a:lnSpc>
              <a:spcAft>
                <a:spcPts val="0"/>
              </a:spcAft>
            </a:pPr>
            <a:r>
              <a:rPr sz="800" b="0" i="0">
                <a:solidFill>
                  <a:srgbClr val="94A3B8"/>
                </a:solidFill>
                <a:latin typeface="Segoe UI"/>
              </a:rPr>
              <a:t>Aho-Corasick  ·  RAG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94360" y="274320"/>
            <a:ext cx="6400800" cy="228600"/>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0F766E"/>
                </a:solidFill>
                <a:latin typeface="Segoe UI"/>
              </a:rPr>
              <a:t>03 · PIPELINE TỔNG</a:t>
            </a:r>
          </a:p>
        </p:txBody>
      </p:sp>
      <p:sp>
        <p:nvSpPr>
          <p:cNvPr id="4" name="TextBox 3"/>
          <p:cNvSpPr txBox="1"/>
          <p:nvPr/>
        </p:nvSpPr>
        <p:spPr>
          <a:xfrm>
            <a:off x="576072" y="493776"/>
            <a:ext cx="10424160" cy="502920"/>
          </a:xfrm>
          <a:prstGeom prst="rect">
            <a:avLst/>
          </a:prstGeom>
          <a:noFill/>
        </p:spPr>
        <p:txBody>
          <a:bodyPr wrap="square" lIns="36576" tIns="18288" rIns="36576" bIns="18288" anchor="t">
            <a:spAutoFit/>
          </a:bodyPr>
          <a:lstStyle/>
          <a:p>
            <a:pPr algn="l">
              <a:lnSpc>
                <a:spcPct val="100000"/>
              </a:lnSpc>
              <a:spcAft>
                <a:spcPts val="0"/>
              </a:spcAft>
            </a:pPr>
            <a:r>
              <a:rPr sz="2300" b="1" i="0">
                <a:solidFill>
                  <a:srgbClr val="0F172A"/>
                </a:solidFill>
                <a:latin typeface="Segoe UI"/>
              </a:rPr>
              <a:t>Toàn cảnh: live commerce + AI 24/7 chạy song song</a:t>
            </a:r>
          </a:p>
        </p:txBody>
      </p:sp>
      <p:sp>
        <p:nvSpPr>
          <p:cNvPr id="5" name="TextBox 4"/>
          <p:cNvSpPr txBox="1"/>
          <p:nvPr/>
        </p:nvSpPr>
        <p:spPr>
          <a:xfrm>
            <a:off x="10698480" y="283464"/>
            <a:ext cx="960120" cy="228600"/>
          </a:xfrm>
          <a:prstGeom prst="rect">
            <a:avLst/>
          </a:prstGeom>
          <a:noFill/>
        </p:spPr>
        <p:txBody>
          <a:bodyPr wrap="square" lIns="36576" tIns="18288" rIns="36576" bIns="18288" anchor="t">
            <a:spAutoFit/>
          </a:bodyPr>
          <a:lstStyle/>
          <a:p>
            <a:pPr algn="r">
              <a:lnSpc>
                <a:spcPct val="100000"/>
              </a:lnSpc>
              <a:spcAft>
                <a:spcPts val="0"/>
              </a:spcAft>
            </a:pPr>
            <a:r>
              <a:rPr sz="900" b="1" i="0">
                <a:solidFill>
                  <a:srgbClr val="94A3B8"/>
                </a:solidFill>
                <a:latin typeface="Segoe UI"/>
              </a:rPr>
              <a:t>04 / 13</a:t>
            </a:r>
          </a:p>
        </p:txBody>
      </p:sp>
      <p:sp>
        <p:nvSpPr>
          <p:cNvPr id="6" name="Rounded Rectangle 5"/>
          <p:cNvSpPr/>
          <p:nvPr/>
        </p:nvSpPr>
        <p:spPr>
          <a:xfrm>
            <a:off x="594360" y="1133856"/>
            <a:ext cx="1691640" cy="256032"/>
          </a:xfrm>
          <a:prstGeom prst="roundRect">
            <a:avLst>
              <a:gd name="adj" fmla="val 5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94360" y="1133856"/>
            <a:ext cx="1691640" cy="256032"/>
          </a:xfrm>
          <a:prstGeom prst="rect">
            <a:avLst/>
          </a:prstGeom>
          <a:noFill/>
        </p:spPr>
        <p:txBody>
          <a:bodyPr wrap="square" lIns="36576" tIns="18288" rIns="36576" bIns="18288" anchor="ctr">
            <a:spAutoFit/>
          </a:bodyPr>
          <a:lstStyle/>
          <a:p>
            <a:pPr algn="ctr">
              <a:lnSpc>
                <a:spcPct val="100000"/>
              </a:lnSpc>
              <a:spcAft>
                <a:spcPts val="0"/>
              </a:spcAft>
            </a:pPr>
            <a:r>
              <a:rPr sz="800" b="1" i="0">
                <a:solidFill>
                  <a:srgbClr val="FFFFFF"/>
                </a:solidFill>
                <a:latin typeface="Segoe UI"/>
              </a:rPr>
              <a:t>LIVE COMMERCE</a:t>
            </a:r>
          </a:p>
        </p:txBody>
      </p:sp>
      <p:sp>
        <p:nvSpPr>
          <p:cNvPr id="8" name="TextBox 7"/>
          <p:cNvSpPr txBox="1"/>
          <p:nvPr/>
        </p:nvSpPr>
        <p:spPr>
          <a:xfrm>
            <a:off x="2423160" y="1152144"/>
            <a:ext cx="9052560" cy="228600"/>
          </a:xfrm>
          <a:prstGeom prst="rect">
            <a:avLst/>
          </a:prstGeom>
          <a:noFill/>
        </p:spPr>
        <p:txBody>
          <a:bodyPr wrap="square" lIns="36576" tIns="18288" rIns="36576" bIns="18288" anchor="t">
            <a:spAutoFit/>
          </a:bodyPr>
          <a:lstStyle/>
          <a:p>
            <a:pPr algn="l">
              <a:lnSpc>
                <a:spcPct val="100000"/>
              </a:lnSpc>
              <a:spcAft>
                <a:spcPts val="0"/>
              </a:spcAft>
            </a:pPr>
            <a:r>
              <a:rPr sz="850" b="0" i="1">
                <a:solidFill>
                  <a:srgbClr val="64748B"/>
                </a:solidFill>
                <a:latin typeface="Segoe UI"/>
              </a:rPr>
              <a:t>một vòng khép kín: mở live → chốt đơn → thanh toán → giao hàng → tổng kết</a:t>
            </a:r>
          </a:p>
        </p:txBody>
      </p:sp>
      <p:sp>
        <p:nvSpPr>
          <p:cNvPr id="9" name="Rounded Rectangle 8"/>
          <p:cNvSpPr/>
          <p:nvPr/>
        </p:nvSpPr>
        <p:spPr>
          <a:xfrm>
            <a:off x="594360" y="1481328"/>
            <a:ext cx="1691640" cy="1828800"/>
          </a:xfrm>
          <a:prstGeom prst="roundRect">
            <a:avLst>
              <a:gd name="adj" fmla="val 12000"/>
            </a:avLst>
          </a:prstGeom>
          <a:solidFill>
            <a:srgbClr val="FFFFFF"/>
          </a:solidFill>
          <a:ln w="1397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713232" y="1600200"/>
            <a:ext cx="274320" cy="27432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Segoe UI"/>
              </a:rPr>
              <a:t>1</a:t>
            </a:r>
          </a:p>
        </p:txBody>
      </p:sp>
      <p:sp>
        <p:nvSpPr>
          <p:cNvPr id="11" name="TextBox 10"/>
          <p:cNvSpPr txBox="1"/>
          <p:nvPr/>
        </p:nvSpPr>
        <p:spPr>
          <a:xfrm>
            <a:off x="1051560" y="1572768"/>
            <a:ext cx="1161288" cy="347472"/>
          </a:xfrm>
          <a:prstGeom prst="rect">
            <a:avLst/>
          </a:prstGeom>
          <a:noFill/>
        </p:spPr>
        <p:txBody>
          <a:bodyPr wrap="square" lIns="36576" tIns="18288" rIns="36576" bIns="18288" anchor="t">
            <a:spAutoFit/>
          </a:bodyPr>
          <a:lstStyle/>
          <a:p>
            <a:pPr algn="l">
              <a:lnSpc>
                <a:spcPct val="92000"/>
              </a:lnSpc>
              <a:spcAft>
                <a:spcPts val="0"/>
              </a:spcAft>
            </a:pPr>
            <a:r>
              <a:rPr sz="1050" b="1" i="0">
                <a:solidFill>
                  <a:srgbClr val="0F172A"/>
                </a:solidFill>
                <a:latin typeface="Segoe UI"/>
              </a:rPr>
              <a:t>Seller mở live</a:t>
            </a:r>
          </a:p>
        </p:txBody>
      </p:sp>
      <p:sp>
        <p:nvSpPr>
          <p:cNvPr id="12" name="TextBox 11"/>
          <p:cNvSpPr txBox="1"/>
          <p:nvPr/>
        </p:nvSpPr>
        <p:spPr>
          <a:xfrm>
            <a:off x="713232" y="1984248"/>
            <a:ext cx="1453896" cy="1280160"/>
          </a:xfrm>
          <a:prstGeom prst="rect">
            <a:avLst/>
          </a:prstGeom>
          <a:noFill/>
        </p:spPr>
        <p:txBody>
          <a:bodyPr wrap="square" lIns="36576" tIns="18288" rIns="36576" bIns="18288" anchor="t">
            <a:spAutoFit/>
          </a:bodyPr>
          <a:lstStyle/>
          <a:p>
            <a:pPr algn="l">
              <a:lnSpc>
                <a:spcPct val="102000"/>
              </a:lnSpc>
              <a:spcAft>
                <a:spcPts val="0"/>
              </a:spcAft>
            </a:pPr>
            <a:r>
              <a:rPr sz="800" b="0" i="0">
                <a:solidFill>
                  <a:srgbClr val="64748B"/>
                </a:solidFill>
                <a:latin typeface="Segoe UI"/>
              </a:rPr>
              <a:t>Studio webcam</a:t>
            </a:r>
          </a:p>
          <a:p>
            <a:pPr algn="l">
              <a:lnSpc>
                <a:spcPct val="102000"/>
              </a:lnSpc>
              <a:spcAft>
                <a:spcPts val="0"/>
              </a:spcAft>
            </a:pPr>
            <a:r>
              <a:rPr sz="800" b="0" i="0">
                <a:solidFill>
                  <a:srgbClr val="64748B"/>
                </a:solidFill>
                <a:latin typeface="Segoe UI"/>
              </a:rPr>
              <a:t>LiveSession = LIVE</a:t>
            </a:r>
          </a:p>
          <a:p>
            <a:pPr algn="l">
              <a:lnSpc>
                <a:spcPct val="102000"/>
              </a:lnSpc>
              <a:spcAft>
                <a:spcPts val="0"/>
              </a:spcAft>
            </a:pPr>
            <a:r>
              <a:rPr sz="800" b="0" i="0">
                <a:solidFill>
                  <a:srgbClr val="64748B"/>
                </a:solidFill>
                <a:latin typeface="Segoe UI"/>
              </a:rPr>
              <a:t>socket live_started</a:t>
            </a:r>
          </a:p>
        </p:txBody>
      </p:sp>
      <p:cxnSp>
        <p:nvCxnSpPr>
          <p:cNvPr id="13" name="Connector 12"/>
          <p:cNvCxnSpPr/>
          <p:nvPr/>
        </p:nvCxnSpPr>
        <p:spPr>
          <a:xfrm>
            <a:off x="722376" y="2880360"/>
            <a:ext cx="1435608" cy="0"/>
          </a:xfrm>
          <a:prstGeom prst="line">
            <a:avLst/>
          </a:prstGeom>
          <a:ln w="9525">
            <a:solidFill>
              <a:srgbClr val="0F766E"/>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13232" y="2944368"/>
            <a:ext cx="1453896" cy="256032"/>
          </a:xfrm>
          <a:prstGeom prst="rect">
            <a:avLst/>
          </a:prstGeom>
          <a:noFill/>
        </p:spPr>
        <p:txBody>
          <a:bodyPr wrap="square" lIns="36576" tIns="18288" rIns="36576" bIns="18288" anchor="t">
            <a:spAutoFit/>
          </a:bodyPr>
          <a:lstStyle/>
          <a:p>
            <a:pPr algn="l">
              <a:lnSpc>
                <a:spcPct val="100000"/>
              </a:lnSpc>
              <a:spcAft>
                <a:spcPts val="0"/>
              </a:spcAft>
            </a:pPr>
            <a:r>
              <a:rPr sz="740" b="1" i="0">
                <a:solidFill>
                  <a:srgbClr val="0F766E"/>
                </a:solidFill>
                <a:latin typeface="Segoe UI"/>
              </a:rPr>
              <a:t>→ phiên LIVE</a:t>
            </a:r>
          </a:p>
        </p:txBody>
      </p:sp>
      <p:sp>
        <p:nvSpPr>
          <p:cNvPr id="15" name="Right Arrow 14"/>
          <p:cNvSpPr/>
          <p:nvPr/>
        </p:nvSpPr>
        <p:spPr>
          <a:xfrm>
            <a:off x="2295144" y="2276856"/>
            <a:ext cx="137160" cy="219456"/>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450591" y="1481328"/>
            <a:ext cx="1691640" cy="1828800"/>
          </a:xfrm>
          <a:prstGeom prst="roundRect">
            <a:avLst>
              <a:gd name="adj" fmla="val 12000"/>
            </a:avLst>
          </a:prstGeom>
          <a:solidFill>
            <a:srgbClr val="FFFFFF"/>
          </a:solidFill>
          <a:ln w="1397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2569463" y="1600200"/>
            <a:ext cx="274320" cy="27432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Segoe UI"/>
              </a:rPr>
              <a:t>2</a:t>
            </a:r>
          </a:p>
        </p:txBody>
      </p:sp>
      <p:sp>
        <p:nvSpPr>
          <p:cNvPr id="18" name="TextBox 17"/>
          <p:cNvSpPr txBox="1"/>
          <p:nvPr/>
        </p:nvSpPr>
        <p:spPr>
          <a:xfrm>
            <a:off x="2907791" y="1572768"/>
            <a:ext cx="1161288" cy="347472"/>
          </a:xfrm>
          <a:prstGeom prst="rect">
            <a:avLst/>
          </a:prstGeom>
          <a:noFill/>
        </p:spPr>
        <p:txBody>
          <a:bodyPr wrap="square" lIns="36576" tIns="18288" rIns="36576" bIns="18288" anchor="t">
            <a:spAutoFit/>
          </a:bodyPr>
          <a:lstStyle/>
          <a:p>
            <a:pPr algn="l">
              <a:lnSpc>
                <a:spcPct val="92000"/>
              </a:lnSpc>
              <a:spcAft>
                <a:spcPts val="0"/>
              </a:spcAft>
            </a:pPr>
            <a:r>
              <a:rPr sz="1050" b="1" i="0">
                <a:solidFill>
                  <a:srgbClr val="0F172A"/>
                </a:solidFill>
                <a:latin typeface="Segoe UI"/>
              </a:rPr>
              <a:t>Buyer comment</a:t>
            </a:r>
          </a:p>
        </p:txBody>
      </p:sp>
      <p:sp>
        <p:nvSpPr>
          <p:cNvPr id="19" name="TextBox 18"/>
          <p:cNvSpPr txBox="1"/>
          <p:nvPr/>
        </p:nvSpPr>
        <p:spPr>
          <a:xfrm>
            <a:off x="2569463" y="1984248"/>
            <a:ext cx="1453896" cy="1280160"/>
          </a:xfrm>
          <a:prstGeom prst="rect">
            <a:avLst/>
          </a:prstGeom>
          <a:noFill/>
        </p:spPr>
        <p:txBody>
          <a:bodyPr wrap="square" lIns="36576" tIns="18288" rIns="36576" bIns="18288" anchor="t">
            <a:spAutoFit/>
          </a:bodyPr>
          <a:lstStyle/>
          <a:p>
            <a:pPr algn="l">
              <a:lnSpc>
                <a:spcPct val="102000"/>
              </a:lnSpc>
              <a:spcAft>
                <a:spcPts val="0"/>
              </a:spcAft>
            </a:pPr>
            <a:r>
              <a:rPr sz="800" b="0" i="0">
                <a:solidFill>
                  <a:srgbClr val="64748B"/>
                </a:solidFill>
                <a:latin typeface="Segoe UI"/>
              </a:rPr>
              <a:t>socket /live · JWT</a:t>
            </a:r>
          </a:p>
          <a:p>
            <a:pPr algn="l">
              <a:lnSpc>
                <a:spcPct val="102000"/>
              </a:lnSpc>
              <a:spcAft>
                <a:spcPts val="0"/>
              </a:spcAft>
            </a:pPr>
            <a:r>
              <a:rPr sz="800" b="0" i="0">
                <a:solidFill>
                  <a:srgbClr val="64748B"/>
                </a:solidFill>
                <a:latin typeface="Segoe UI"/>
              </a:rPr>
              <a:t>≤200 ký tự</a:t>
            </a:r>
          </a:p>
          <a:p>
            <a:pPr algn="l">
              <a:lnSpc>
                <a:spcPct val="102000"/>
              </a:lnSpc>
              <a:spcAft>
                <a:spcPts val="0"/>
              </a:spcAft>
            </a:pPr>
            <a:r>
              <a:rPr sz="800" b="0" i="0">
                <a:solidFill>
                  <a:srgbClr val="64748B"/>
                </a:solidFill>
                <a:latin typeface="Segoe UI"/>
              </a:rPr>
              <a:t>che SĐT trước khi quét</a:t>
            </a:r>
          </a:p>
        </p:txBody>
      </p:sp>
      <p:cxnSp>
        <p:nvCxnSpPr>
          <p:cNvPr id="20" name="Connector 19"/>
          <p:cNvCxnSpPr/>
          <p:nvPr/>
        </p:nvCxnSpPr>
        <p:spPr>
          <a:xfrm>
            <a:off x="2578608" y="2880360"/>
            <a:ext cx="1435607" cy="0"/>
          </a:xfrm>
          <a:prstGeom prst="line">
            <a:avLst/>
          </a:prstGeom>
          <a:ln w="9525">
            <a:solidFill>
              <a:srgbClr val="0F766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569463" y="2944368"/>
            <a:ext cx="1453896" cy="256032"/>
          </a:xfrm>
          <a:prstGeom prst="rect">
            <a:avLst/>
          </a:prstGeom>
          <a:noFill/>
        </p:spPr>
        <p:txBody>
          <a:bodyPr wrap="square" lIns="36576" tIns="18288" rIns="36576" bIns="18288" anchor="t">
            <a:spAutoFit/>
          </a:bodyPr>
          <a:lstStyle/>
          <a:p>
            <a:pPr algn="l">
              <a:lnSpc>
                <a:spcPct val="100000"/>
              </a:lnSpc>
              <a:spcAft>
                <a:spcPts val="0"/>
              </a:spcAft>
            </a:pPr>
            <a:r>
              <a:rPr sz="740" b="1" i="0">
                <a:solidFill>
                  <a:srgbClr val="0F766E"/>
                </a:solidFill>
                <a:latin typeface="Segoe UI"/>
              </a:rPr>
              <a:t>→ text đã che SĐT</a:t>
            </a:r>
          </a:p>
        </p:txBody>
      </p:sp>
      <p:sp>
        <p:nvSpPr>
          <p:cNvPr id="22" name="Right Arrow 21"/>
          <p:cNvSpPr/>
          <p:nvPr/>
        </p:nvSpPr>
        <p:spPr>
          <a:xfrm>
            <a:off x="4151376" y="2276856"/>
            <a:ext cx="137160" cy="219456"/>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306824" y="1481328"/>
            <a:ext cx="1691640" cy="1828800"/>
          </a:xfrm>
          <a:prstGeom prst="roundRect">
            <a:avLst>
              <a:gd name="adj" fmla="val 12000"/>
            </a:avLst>
          </a:prstGeom>
          <a:solidFill>
            <a:srgbClr val="FFFFFF"/>
          </a:solidFill>
          <a:ln w="1397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4425696" y="1600200"/>
            <a:ext cx="274320" cy="27432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Segoe UI"/>
              </a:rPr>
              <a:t>3</a:t>
            </a:r>
          </a:p>
        </p:txBody>
      </p:sp>
      <p:sp>
        <p:nvSpPr>
          <p:cNvPr id="25" name="TextBox 24"/>
          <p:cNvSpPr txBox="1"/>
          <p:nvPr/>
        </p:nvSpPr>
        <p:spPr>
          <a:xfrm>
            <a:off x="4764024" y="1572768"/>
            <a:ext cx="1161288" cy="347472"/>
          </a:xfrm>
          <a:prstGeom prst="rect">
            <a:avLst/>
          </a:prstGeom>
          <a:noFill/>
        </p:spPr>
        <p:txBody>
          <a:bodyPr wrap="square" lIns="36576" tIns="18288" rIns="36576" bIns="18288" anchor="t">
            <a:spAutoFit/>
          </a:bodyPr>
          <a:lstStyle/>
          <a:p>
            <a:pPr algn="l">
              <a:lnSpc>
                <a:spcPct val="92000"/>
              </a:lnSpc>
              <a:spcAft>
                <a:spcPts val="0"/>
              </a:spcAft>
            </a:pPr>
            <a:r>
              <a:rPr sz="1050" b="1" i="0">
                <a:solidFill>
                  <a:srgbClr val="0F172A"/>
                </a:solidFill>
                <a:latin typeface="Segoe UI"/>
              </a:rPr>
              <a:t>Aho-Corasick</a:t>
            </a:r>
          </a:p>
        </p:txBody>
      </p:sp>
      <p:sp>
        <p:nvSpPr>
          <p:cNvPr id="26" name="TextBox 25"/>
          <p:cNvSpPr txBox="1"/>
          <p:nvPr/>
        </p:nvSpPr>
        <p:spPr>
          <a:xfrm>
            <a:off x="4425696" y="1984248"/>
            <a:ext cx="1453896" cy="1280160"/>
          </a:xfrm>
          <a:prstGeom prst="rect">
            <a:avLst/>
          </a:prstGeom>
          <a:noFill/>
        </p:spPr>
        <p:txBody>
          <a:bodyPr wrap="square" lIns="36576" tIns="18288" rIns="36576" bIns="18288" anchor="t">
            <a:spAutoFit/>
          </a:bodyPr>
          <a:lstStyle/>
          <a:p>
            <a:pPr algn="l">
              <a:lnSpc>
                <a:spcPct val="102000"/>
              </a:lnSpc>
              <a:spcAft>
                <a:spcPts val="0"/>
              </a:spcAft>
            </a:pPr>
            <a:r>
              <a:rPr sz="800" b="0" i="0">
                <a:solidFill>
                  <a:srgbClr val="64748B"/>
                </a:solidFill>
                <a:latin typeface="Segoe UI"/>
              </a:rPr>
              <a:t>automaton theo phiên</a:t>
            </a:r>
          </a:p>
          <a:p>
            <a:pPr algn="l">
              <a:lnSpc>
                <a:spcPct val="102000"/>
              </a:lnSpc>
              <a:spcAft>
                <a:spcPts val="0"/>
              </a:spcAft>
            </a:pPr>
            <a:r>
              <a:rPr sz="800" b="0" i="0">
                <a:solidFill>
                  <a:srgbClr val="64748B"/>
                </a:solidFill>
                <a:latin typeface="Segoe UI"/>
              </a:rPr>
              <a:t>1 lượt quét</a:t>
            </a:r>
          </a:p>
          <a:p>
            <a:pPr algn="l">
              <a:lnSpc>
                <a:spcPct val="102000"/>
              </a:lnSpc>
              <a:spcAft>
                <a:spcPts val="0"/>
              </a:spcAft>
            </a:pPr>
            <a:r>
              <a:rPr sz="800" b="0" i="0">
                <a:solidFill>
                  <a:srgbClr val="64748B"/>
                </a:solidFill>
                <a:latin typeface="Segoe UI"/>
              </a:rPr>
              <a:t>match + vị trí + ms</a:t>
            </a:r>
          </a:p>
        </p:txBody>
      </p:sp>
      <p:cxnSp>
        <p:nvCxnSpPr>
          <p:cNvPr id="27" name="Connector 26"/>
          <p:cNvCxnSpPr/>
          <p:nvPr/>
        </p:nvCxnSpPr>
        <p:spPr>
          <a:xfrm>
            <a:off x="4434840" y="2880360"/>
            <a:ext cx="1435608" cy="0"/>
          </a:xfrm>
          <a:prstGeom prst="line">
            <a:avLst/>
          </a:prstGeom>
          <a:ln w="9525">
            <a:solidFill>
              <a:srgbClr val="0F766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425696" y="2944368"/>
            <a:ext cx="1453896" cy="256032"/>
          </a:xfrm>
          <a:prstGeom prst="rect">
            <a:avLst/>
          </a:prstGeom>
          <a:noFill/>
        </p:spPr>
        <p:txBody>
          <a:bodyPr wrap="square" lIns="36576" tIns="18288" rIns="36576" bIns="18288" anchor="t">
            <a:spAutoFit/>
          </a:bodyPr>
          <a:lstStyle/>
          <a:p>
            <a:pPr algn="l">
              <a:lnSpc>
                <a:spcPct val="100000"/>
              </a:lnSpc>
              <a:spcAft>
                <a:spcPts val="0"/>
              </a:spcAft>
            </a:pPr>
            <a:r>
              <a:rPr sz="740" b="1" i="0">
                <a:solidFill>
                  <a:srgbClr val="0F766E"/>
                </a:solidFill>
                <a:latin typeface="Segoe UI"/>
              </a:rPr>
              <a:t>→ match + 0,x ms</a:t>
            </a:r>
          </a:p>
        </p:txBody>
      </p:sp>
      <p:sp>
        <p:nvSpPr>
          <p:cNvPr id="29" name="Right Arrow 28"/>
          <p:cNvSpPr/>
          <p:nvPr/>
        </p:nvSpPr>
        <p:spPr>
          <a:xfrm>
            <a:off x="6007608" y="2276856"/>
            <a:ext cx="137160" cy="219456"/>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163056" y="1481328"/>
            <a:ext cx="1691640" cy="1828800"/>
          </a:xfrm>
          <a:prstGeom prst="roundRect">
            <a:avLst>
              <a:gd name="adj" fmla="val 12000"/>
            </a:avLst>
          </a:prstGeom>
          <a:solidFill>
            <a:srgbClr val="FFFFFF"/>
          </a:solidFill>
          <a:ln w="1397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281928" y="1600200"/>
            <a:ext cx="274320" cy="27432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Segoe UI"/>
              </a:rPr>
              <a:t>4</a:t>
            </a:r>
          </a:p>
        </p:txBody>
      </p:sp>
      <p:sp>
        <p:nvSpPr>
          <p:cNvPr id="32" name="TextBox 31"/>
          <p:cNvSpPr txBox="1"/>
          <p:nvPr/>
        </p:nvSpPr>
        <p:spPr>
          <a:xfrm>
            <a:off x="6620256" y="1572768"/>
            <a:ext cx="1161288" cy="347472"/>
          </a:xfrm>
          <a:prstGeom prst="rect">
            <a:avLst/>
          </a:prstGeom>
          <a:noFill/>
        </p:spPr>
        <p:txBody>
          <a:bodyPr wrap="square" lIns="36576" tIns="18288" rIns="36576" bIns="18288" anchor="t">
            <a:spAutoFit/>
          </a:bodyPr>
          <a:lstStyle/>
          <a:p>
            <a:pPr algn="l">
              <a:lnSpc>
                <a:spcPct val="92000"/>
              </a:lnSpc>
              <a:spcAft>
                <a:spcPts val="0"/>
              </a:spcAft>
            </a:pPr>
            <a:r>
              <a:rPr sz="1050" b="1" i="0">
                <a:solidFill>
                  <a:srgbClr val="0F172A"/>
                </a:solidFill>
                <a:latin typeface="Segoe UI"/>
              </a:rPr>
              <a:t>Order PENDING</a:t>
            </a:r>
          </a:p>
        </p:txBody>
      </p:sp>
      <p:sp>
        <p:nvSpPr>
          <p:cNvPr id="33" name="TextBox 32"/>
          <p:cNvSpPr txBox="1"/>
          <p:nvPr/>
        </p:nvSpPr>
        <p:spPr>
          <a:xfrm>
            <a:off x="6281928" y="1984248"/>
            <a:ext cx="1453896" cy="1280160"/>
          </a:xfrm>
          <a:prstGeom prst="rect">
            <a:avLst/>
          </a:prstGeom>
          <a:noFill/>
        </p:spPr>
        <p:txBody>
          <a:bodyPr wrap="square" lIns="36576" tIns="18288" rIns="36576" bIns="18288" anchor="t">
            <a:spAutoFit/>
          </a:bodyPr>
          <a:lstStyle/>
          <a:p>
            <a:pPr algn="l">
              <a:lnSpc>
                <a:spcPct val="102000"/>
              </a:lnSpc>
              <a:spcAft>
                <a:spcPts val="0"/>
              </a:spcAft>
            </a:pPr>
            <a:r>
              <a:rPr sz="800" b="0" i="0">
                <a:solidFill>
                  <a:srgbClr val="64748B"/>
                </a:solidFill>
                <a:latin typeface="Segoe UI"/>
              </a:rPr>
              <a:t>eventId chống trùng</a:t>
            </a:r>
          </a:p>
          <a:p>
            <a:pPr algn="l">
              <a:lnSpc>
                <a:spcPct val="102000"/>
              </a:lnSpc>
              <a:spcAft>
                <a:spcPts val="0"/>
              </a:spcAft>
            </a:pPr>
            <a:r>
              <a:rPr sz="800" b="0" i="0">
                <a:solidFill>
                  <a:srgbClr val="64748B"/>
                </a:solidFill>
                <a:latin typeface="Segoe UI"/>
              </a:rPr>
              <a:t>UPDATE stock ≥ qty</a:t>
            </a:r>
          </a:p>
          <a:p>
            <a:pPr algn="l">
              <a:lnSpc>
                <a:spcPct val="102000"/>
              </a:lnSpc>
              <a:spcAft>
                <a:spcPts val="0"/>
              </a:spcAft>
            </a:pPr>
            <a:r>
              <a:rPr sz="800" b="0" i="0">
                <a:solidFill>
                  <a:srgbClr val="64748B"/>
                </a:solidFill>
                <a:latin typeface="Segoe UI"/>
              </a:rPr>
              <a:t>+ CREATE Order</a:t>
            </a:r>
          </a:p>
        </p:txBody>
      </p:sp>
      <p:cxnSp>
        <p:nvCxnSpPr>
          <p:cNvPr id="34" name="Connector 33"/>
          <p:cNvCxnSpPr/>
          <p:nvPr/>
        </p:nvCxnSpPr>
        <p:spPr>
          <a:xfrm>
            <a:off x="6291072" y="2880360"/>
            <a:ext cx="1435607" cy="0"/>
          </a:xfrm>
          <a:prstGeom prst="line">
            <a:avLst/>
          </a:prstGeom>
          <a:ln w="9525">
            <a:solidFill>
              <a:srgbClr val="B45309"/>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281928" y="2944368"/>
            <a:ext cx="1453896" cy="256032"/>
          </a:xfrm>
          <a:prstGeom prst="rect">
            <a:avLst/>
          </a:prstGeom>
          <a:noFill/>
        </p:spPr>
        <p:txBody>
          <a:bodyPr wrap="square" lIns="36576" tIns="18288" rIns="36576" bIns="18288" anchor="t">
            <a:spAutoFit/>
          </a:bodyPr>
          <a:lstStyle/>
          <a:p>
            <a:pPr algn="l">
              <a:lnSpc>
                <a:spcPct val="100000"/>
              </a:lnSpc>
              <a:spcAft>
                <a:spcPts val="0"/>
              </a:spcAft>
            </a:pPr>
            <a:r>
              <a:rPr sz="740" b="1" i="0">
                <a:solidFill>
                  <a:srgbClr val="B45309"/>
                </a:solidFill>
                <a:latin typeface="Segoe UI"/>
              </a:rPr>
              <a:t>→ Order PENDING</a:t>
            </a:r>
          </a:p>
        </p:txBody>
      </p:sp>
      <p:sp>
        <p:nvSpPr>
          <p:cNvPr id="36" name="Right Arrow 35"/>
          <p:cNvSpPr/>
          <p:nvPr/>
        </p:nvSpPr>
        <p:spPr>
          <a:xfrm>
            <a:off x="7863840" y="2276856"/>
            <a:ext cx="137160" cy="219456"/>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019288" y="1481328"/>
            <a:ext cx="1691640" cy="1828800"/>
          </a:xfrm>
          <a:prstGeom prst="roundRect">
            <a:avLst>
              <a:gd name="adj" fmla="val 12000"/>
            </a:avLst>
          </a:prstGeom>
          <a:solidFill>
            <a:srgbClr val="FFFFFF"/>
          </a:solidFill>
          <a:ln w="1397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8138160" y="1600200"/>
            <a:ext cx="274320" cy="27432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Segoe UI"/>
              </a:rPr>
              <a:t>5</a:t>
            </a:r>
          </a:p>
        </p:txBody>
      </p:sp>
      <p:sp>
        <p:nvSpPr>
          <p:cNvPr id="39" name="TextBox 38"/>
          <p:cNvSpPr txBox="1"/>
          <p:nvPr/>
        </p:nvSpPr>
        <p:spPr>
          <a:xfrm>
            <a:off x="8476488" y="1572768"/>
            <a:ext cx="1161288" cy="347472"/>
          </a:xfrm>
          <a:prstGeom prst="rect">
            <a:avLst/>
          </a:prstGeom>
          <a:noFill/>
        </p:spPr>
        <p:txBody>
          <a:bodyPr wrap="square" lIns="36576" tIns="18288" rIns="36576" bIns="18288" anchor="t">
            <a:spAutoFit/>
          </a:bodyPr>
          <a:lstStyle/>
          <a:p>
            <a:pPr algn="l">
              <a:lnSpc>
                <a:spcPct val="92000"/>
              </a:lnSpc>
              <a:spcAft>
                <a:spcPts val="0"/>
              </a:spcAft>
            </a:pPr>
            <a:r>
              <a:rPr sz="1050" b="1" i="0">
                <a:solidFill>
                  <a:srgbClr val="0F172A"/>
                </a:solidFill>
                <a:latin typeface="Segoe UI"/>
              </a:rPr>
              <a:t>QR → PAID</a:t>
            </a:r>
          </a:p>
        </p:txBody>
      </p:sp>
      <p:sp>
        <p:nvSpPr>
          <p:cNvPr id="40" name="TextBox 39"/>
          <p:cNvSpPr txBox="1"/>
          <p:nvPr/>
        </p:nvSpPr>
        <p:spPr>
          <a:xfrm>
            <a:off x="8138160" y="1984248"/>
            <a:ext cx="1453896" cy="1280160"/>
          </a:xfrm>
          <a:prstGeom prst="rect">
            <a:avLst/>
          </a:prstGeom>
          <a:noFill/>
        </p:spPr>
        <p:txBody>
          <a:bodyPr wrap="square" lIns="36576" tIns="18288" rIns="36576" bIns="18288" anchor="t">
            <a:spAutoFit/>
          </a:bodyPr>
          <a:lstStyle/>
          <a:p>
            <a:pPr algn="l">
              <a:lnSpc>
                <a:spcPct val="102000"/>
              </a:lnSpc>
              <a:spcAft>
                <a:spcPts val="0"/>
              </a:spcAft>
            </a:pPr>
            <a:r>
              <a:rPr sz="800" b="0" i="0">
                <a:solidFill>
                  <a:srgbClr val="64748B"/>
                </a:solidFill>
                <a:latin typeface="Segoe UI"/>
              </a:rPr>
              <a:t>QR local + paymentCode</a:t>
            </a:r>
          </a:p>
          <a:p>
            <a:pPr algn="l">
              <a:lnSpc>
                <a:spcPct val="102000"/>
              </a:lnSpc>
              <a:spcAft>
                <a:spcPts val="0"/>
              </a:spcAft>
            </a:pPr>
            <a:r>
              <a:rPr sz="800" b="0" i="0">
                <a:solidFill>
                  <a:srgbClr val="64748B"/>
                </a:solidFill>
                <a:latin typeface="Segoe UI"/>
              </a:rPr>
              <a:t>demo pay → PAID</a:t>
            </a:r>
          </a:p>
          <a:p>
            <a:pPr algn="l">
              <a:lnSpc>
                <a:spcPct val="102000"/>
              </a:lnSpc>
              <a:spcAft>
                <a:spcPts val="0"/>
              </a:spcAft>
            </a:pPr>
            <a:r>
              <a:rPr sz="800" b="0" i="0">
                <a:solidFill>
                  <a:srgbClr val="64748B"/>
                </a:solidFill>
                <a:latin typeface="Segoe UI"/>
              </a:rPr>
              <a:t>SYSTEM message</a:t>
            </a:r>
          </a:p>
        </p:txBody>
      </p:sp>
      <p:cxnSp>
        <p:nvCxnSpPr>
          <p:cNvPr id="41" name="Connector 40"/>
          <p:cNvCxnSpPr/>
          <p:nvPr/>
        </p:nvCxnSpPr>
        <p:spPr>
          <a:xfrm>
            <a:off x="8147304" y="2880360"/>
            <a:ext cx="1435607" cy="0"/>
          </a:xfrm>
          <a:prstGeom prst="line">
            <a:avLst/>
          </a:prstGeom>
          <a:ln w="9525">
            <a:solidFill>
              <a:srgbClr val="1D4ED8"/>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8138160" y="2944368"/>
            <a:ext cx="1453896" cy="256032"/>
          </a:xfrm>
          <a:prstGeom prst="rect">
            <a:avLst/>
          </a:prstGeom>
          <a:noFill/>
        </p:spPr>
        <p:txBody>
          <a:bodyPr wrap="square" lIns="36576" tIns="18288" rIns="36576" bIns="18288" anchor="t">
            <a:spAutoFit/>
          </a:bodyPr>
          <a:lstStyle/>
          <a:p>
            <a:pPr algn="l">
              <a:lnSpc>
                <a:spcPct val="100000"/>
              </a:lnSpc>
              <a:spcAft>
                <a:spcPts val="0"/>
              </a:spcAft>
            </a:pPr>
            <a:r>
              <a:rPr sz="740" b="1" i="0">
                <a:solidFill>
                  <a:srgbClr val="1D4ED8"/>
                </a:solidFill>
                <a:latin typeface="Segoe UI"/>
              </a:rPr>
              <a:t>→ PAID + SYSTEM</a:t>
            </a:r>
          </a:p>
        </p:txBody>
      </p:sp>
      <p:sp>
        <p:nvSpPr>
          <p:cNvPr id="43" name="Right Arrow 42"/>
          <p:cNvSpPr/>
          <p:nvPr/>
        </p:nvSpPr>
        <p:spPr>
          <a:xfrm>
            <a:off x="9720072" y="2276856"/>
            <a:ext cx="137160" cy="219456"/>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9875519" y="1481328"/>
            <a:ext cx="1691640" cy="1828800"/>
          </a:xfrm>
          <a:prstGeom prst="roundRect">
            <a:avLst>
              <a:gd name="adj" fmla="val 12000"/>
            </a:avLst>
          </a:prstGeom>
          <a:solidFill>
            <a:srgbClr val="FFFFFF"/>
          </a:solidFill>
          <a:ln w="1397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Oval 44"/>
          <p:cNvSpPr/>
          <p:nvPr/>
        </p:nvSpPr>
        <p:spPr>
          <a:xfrm>
            <a:off x="9994392" y="1600200"/>
            <a:ext cx="274320" cy="274320"/>
          </a:xfrm>
          <a:prstGeom prst="ellipse">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Segoe UI"/>
              </a:rPr>
              <a:t>6</a:t>
            </a:r>
          </a:p>
        </p:txBody>
      </p:sp>
      <p:sp>
        <p:nvSpPr>
          <p:cNvPr id="46" name="TextBox 45"/>
          <p:cNvSpPr txBox="1"/>
          <p:nvPr/>
        </p:nvSpPr>
        <p:spPr>
          <a:xfrm>
            <a:off x="10332719" y="1572768"/>
            <a:ext cx="1161288" cy="347472"/>
          </a:xfrm>
          <a:prstGeom prst="rect">
            <a:avLst/>
          </a:prstGeom>
          <a:noFill/>
        </p:spPr>
        <p:txBody>
          <a:bodyPr wrap="square" lIns="36576" tIns="18288" rIns="36576" bIns="18288" anchor="t">
            <a:spAutoFit/>
          </a:bodyPr>
          <a:lstStyle/>
          <a:p>
            <a:pPr algn="l">
              <a:lnSpc>
                <a:spcPct val="92000"/>
              </a:lnSpc>
              <a:spcAft>
                <a:spcPts val="0"/>
              </a:spcAft>
            </a:pPr>
            <a:r>
              <a:rPr sz="1050" b="1" i="0">
                <a:solidFill>
                  <a:srgbClr val="0F172A"/>
                </a:solidFill>
                <a:latin typeface="Segoe UI"/>
              </a:rPr>
              <a:t>Giao hàng</a:t>
            </a:r>
          </a:p>
        </p:txBody>
      </p:sp>
      <p:sp>
        <p:nvSpPr>
          <p:cNvPr id="47" name="TextBox 46"/>
          <p:cNvSpPr txBox="1"/>
          <p:nvPr/>
        </p:nvSpPr>
        <p:spPr>
          <a:xfrm>
            <a:off x="9994392" y="1984248"/>
            <a:ext cx="1453896" cy="1280160"/>
          </a:xfrm>
          <a:prstGeom prst="rect">
            <a:avLst/>
          </a:prstGeom>
          <a:noFill/>
        </p:spPr>
        <p:txBody>
          <a:bodyPr wrap="square" lIns="36576" tIns="18288" rIns="36576" bIns="18288" anchor="t">
            <a:spAutoFit/>
          </a:bodyPr>
          <a:lstStyle/>
          <a:p>
            <a:pPr algn="l">
              <a:lnSpc>
                <a:spcPct val="102000"/>
              </a:lnSpc>
              <a:spcAft>
                <a:spcPts val="0"/>
              </a:spcAft>
            </a:pPr>
            <a:r>
              <a:rPr sz="800" b="0" i="0">
                <a:solidFill>
                  <a:srgbClr val="64748B"/>
                </a:solidFill>
                <a:latin typeface="Segoe UI"/>
              </a:rPr>
              <a:t>PAID → SHIPPED</a:t>
            </a:r>
          </a:p>
          <a:p>
            <a:pPr algn="l">
              <a:lnSpc>
                <a:spcPct val="102000"/>
              </a:lnSpc>
              <a:spcAft>
                <a:spcPts val="0"/>
              </a:spcAft>
            </a:pPr>
            <a:r>
              <a:rPr sz="800" b="0" i="0">
                <a:solidFill>
                  <a:srgbClr val="64748B"/>
                </a:solidFill>
                <a:latin typeface="Segoe UI"/>
              </a:rPr>
              <a:t>Dashboard đọc DB</a:t>
            </a:r>
          </a:p>
          <a:p>
            <a:pPr algn="l">
              <a:lnSpc>
                <a:spcPct val="102000"/>
              </a:lnSpc>
              <a:spcAft>
                <a:spcPts val="0"/>
              </a:spcAft>
            </a:pPr>
            <a:r>
              <a:rPr sz="800" b="0" i="0">
                <a:solidFill>
                  <a:srgbClr val="64748B"/>
                </a:solidFill>
                <a:latin typeface="Segoe UI"/>
              </a:rPr>
              <a:t>popup tổng kết live</a:t>
            </a:r>
          </a:p>
        </p:txBody>
      </p:sp>
      <p:cxnSp>
        <p:nvCxnSpPr>
          <p:cNvPr id="48" name="Connector 47"/>
          <p:cNvCxnSpPr/>
          <p:nvPr/>
        </p:nvCxnSpPr>
        <p:spPr>
          <a:xfrm>
            <a:off x="10003536" y="2880360"/>
            <a:ext cx="1435607" cy="0"/>
          </a:xfrm>
          <a:prstGeom prst="line">
            <a:avLst/>
          </a:prstGeom>
          <a:ln w="9525">
            <a:solidFill>
              <a:srgbClr val="15803D"/>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9994392" y="2944368"/>
            <a:ext cx="1453896" cy="256032"/>
          </a:xfrm>
          <a:prstGeom prst="rect">
            <a:avLst/>
          </a:prstGeom>
          <a:noFill/>
        </p:spPr>
        <p:txBody>
          <a:bodyPr wrap="square" lIns="36576" tIns="18288" rIns="36576" bIns="18288" anchor="t">
            <a:spAutoFit/>
          </a:bodyPr>
          <a:lstStyle/>
          <a:p>
            <a:pPr algn="l">
              <a:lnSpc>
                <a:spcPct val="100000"/>
              </a:lnSpc>
              <a:spcAft>
                <a:spcPts val="0"/>
              </a:spcAft>
            </a:pPr>
            <a:r>
              <a:rPr sz="740" b="1" i="0">
                <a:solidFill>
                  <a:srgbClr val="15803D"/>
                </a:solidFill>
                <a:latin typeface="Segoe UI"/>
              </a:rPr>
              <a:t>→ Dashboard</a:t>
            </a:r>
          </a:p>
        </p:txBody>
      </p:sp>
      <p:sp>
        <p:nvSpPr>
          <p:cNvPr id="50" name="Rounded Rectangle 49"/>
          <p:cNvSpPr/>
          <p:nvPr/>
        </p:nvSpPr>
        <p:spPr>
          <a:xfrm>
            <a:off x="594360" y="3493008"/>
            <a:ext cx="11000232" cy="512064"/>
          </a:xfrm>
          <a:prstGeom prst="roundRect">
            <a:avLst>
              <a:gd name="adj" fmla="val 18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777240" y="3538728"/>
            <a:ext cx="10607040" cy="201168"/>
          </a:xfrm>
          <a:prstGeom prst="rect">
            <a:avLst/>
          </a:prstGeom>
          <a:noFill/>
        </p:spPr>
        <p:txBody>
          <a:bodyPr wrap="square" lIns="36576" tIns="18288" rIns="36576" bIns="18288" anchor="t">
            <a:spAutoFit/>
          </a:bodyPr>
          <a:lstStyle/>
          <a:p>
            <a:pPr algn="l">
              <a:lnSpc>
                <a:spcPct val="100000"/>
              </a:lnSpc>
              <a:spcAft>
                <a:spcPts val="0"/>
              </a:spcAft>
            </a:pPr>
            <a:r>
              <a:rPr sz="800" b="1" i="0">
                <a:solidFill>
                  <a:srgbClr val="5EEAD4"/>
                </a:solidFill>
                <a:latin typeface="Segoe UI"/>
              </a:rPr>
              <a:t>POSTGRESQL — NGUỒN SỰ THẬT DUY NHẤT</a:t>
            </a:r>
          </a:p>
        </p:txBody>
      </p:sp>
      <p:sp>
        <p:nvSpPr>
          <p:cNvPr id="52" name="TextBox 51"/>
          <p:cNvSpPr txBox="1"/>
          <p:nvPr/>
        </p:nvSpPr>
        <p:spPr>
          <a:xfrm>
            <a:off x="777240" y="3730752"/>
            <a:ext cx="10652760" cy="201168"/>
          </a:xfrm>
          <a:prstGeom prst="rect">
            <a:avLst/>
          </a:prstGeom>
          <a:noFill/>
        </p:spPr>
        <p:txBody>
          <a:bodyPr wrap="square" lIns="36576" tIns="18288" rIns="36576" bIns="18288" anchor="t">
            <a:spAutoFit/>
          </a:bodyPr>
          <a:lstStyle/>
          <a:p>
            <a:pPr algn="l">
              <a:lnSpc>
                <a:spcPct val="100000"/>
              </a:lnSpc>
              <a:spcAft>
                <a:spcPts val="0"/>
              </a:spcAft>
            </a:pPr>
            <a:r>
              <a:rPr sz="819" b="0" i="0">
                <a:solidFill>
                  <a:srgbClr val="CBD5E1"/>
                </a:solidFill>
                <a:latin typeface="Segoe UI"/>
              </a:rPr>
              <a:t>Product(giá/kho) · Order(trạng thái) · Conversation(mode/version) · DirectMessage(trace) · LiveSession · KbEntry</a:t>
            </a:r>
          </a:p>
        </p:txBody>
      </p:sp>
      <p:sp>
        <p:nvSpPr>
          <p:cNvPr id="53" name="Rounded Rectangle 52"/>
          <p:cNvSpPr/>
          <p:nvPr/>
        </p:nvSpPr>
        <p:spPr>
          <a:xfrm>
            <a:off x="594360" y="4142232"/>
            <a:ext cx="1691640" cy="256032"/>
          </a:xfrm>
          <a:prstGeom prst="roundRect">
            <a:avLst>
              <a:gd name="adj" fmla="val 50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594360" y="4142232"/>
            <a:ext cx="1691640" cy="256032"/>
          </a:xfrm>
          <a:prstGeom prst="rect">
            <a:avLst/>
          </a:prstGeom>
          <a:noFill/>
        </p:spPr>
        <p:txBody>
          <a:bodyPr wrap="square" lIns="36576" tIns="18288" rIns="36576" bIns="18288" anchor="ctr">
            <a:spAutoFit/>
          </a:bodyPr>
          <a:lstStyle/>
          <a:p>
            <a:pPr algn="ctr">
              <a:lnSpc>
                <a:spcPct val="100000"/>
              </a:lnSpc>
              <a:spcAft>
                <a:spcPts val="0"/>
              </a:spcAft>
            </a:pPr>
            <a:r>
              <a:rPr sz="800" b="1" i="0">
                <a:solidFill>
                  <a:srgbClr val="FFFFFF"/>
                </a:solidFill>
                <a:latin typeface="Segoe UI"/>
              </a:rPr>
              <a:t>AI 24/7</a:t>
            </a:r>
          </a:p>
        </p:txBody>
      </p:sp>
      <p:sp>
        <p:nvSpPr>
          <p:cNvPr id="55" name="TextBox 54"/>
          <p:cNvSpPr txBox="1"/>
          <p:nvPr/>
        </p:nvSpPr>
        <p:spPr>
          <a:xfrm>
            <a:off x="2423160" y="4160520"/>
            <a:ext cx="9052560" cy="228600"/>
          </a:xfrm>
          <a:prstGeom prst="rect">
            <a:avLst/>
          </a:prstGeom>
          <a:noFill/>
        </p:spPr>
        <p:txBody>
          <a:bodyPr wrap="square" lIns="36576" tIns="18288" rIns="36576" bIns="18288" anchor="t">
            <a:spAutoFit/>
          </a:bodyPr>
          <a:lstStyle/>
          <a:p>
            <a:pPr algn="l">
              <a:lnSpc>
                <a:spcPct val="100000"/>
              </a:lnSpc>
              <a:spcAft>
                <a:spcPts val="0"/>
              </a:spcAft>
            </a:pPr>
            <a:r>
              <a:rPr sz="850" b="0" i="1">
                <a:solidFill>
                  <a:srgbClr val="64748B"/>
                </a:solidFill>
                <a:latin typeface="Segoe UI"/>
              </a:rPr>
              <a:t>song song, không phụ thuộc shop online — nhưng vẫn đúng shop và đúng dữ liệu</a:t>
            </a:r>
          </a:p>
        </p:txBody>
      </p:sp>
      <p:sp>
        <p:nvSpPr>
          <p:cNvPr id="56" name="Rounded Rectangle 55"/>
          <p:cNvSpPr/>
          <p:nvPr/>
        </p:nvSpPr>
        <p:spPr>
          <a:xfrm>
            <a:off x="594360" y="4480560"/>
            <a:ext cx="1691640" cy="1481328"/>
          </a:xfrm>
          <a:prstGeom prst="roundRect">
            <a:avLst>
              <a:gd name="adj" fmla="val 12000"/>
            </a:avLst>
          </a:prstGeom>
          <a:solidFill>
            <a:srgbClr val="FFFFFF"/>
          </a:solidFill>
          <a:ln w="1397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Oval 56"/>
          <p:cNvSpPr/>
          <p:nvPr/>
        </p:nvSpPr>
        <p:spPr>
          <a:xfrm>
            <a:off x="713232" y="4599432"/>
            <a:ext cx="274320" cy="27432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Segoe UI"/>
              </a:rPr>
              <a:t>1</a:t>
            </a:r>
          </a:p>
        </p:txBody>
      </p:sp>
      <p:sp>
        <p:nvSpPr>
          <p:cNvPr id="58" name="TextBox 57"/>
          <p:cNvSpPr txBox="1"/>
          <p:nvPr/>
        </p:nvSpPr>
        <p:spPr>
          <a:xfrm>
            <a:off x="1051560" y="4572000"/>
            <a:ext cx="1161288" cy="347472"/>
          </a:xfrm>
          <a:prstGeom prst="rect">
            <a:avLst/>
          </a:prstGeom>
          <a:noFill/>
        </p:spPr>
        <p:txBody>
          <a:bodyPr wrap="square" lIns="36576" tIns="18288" rIns="36576" bIns="18288" anchor="t">
            <a:spAutoFit/>
          </a:bodyPr>
          <a:lstStyle/>
          <a:p>
            <a:pPr algn="l">
              <a:lnSpc>
                <a:spcPct val="92000"/>
              </a:lnSpc>
              <a:spcAft>
                <a:spcPts val="0"/>
              </a:spcAft>
            </a:pPr>
            <a:r>
              <a:rPr sz="1050" b="1" i="0">
                <a:solidFill>
                  <a:srgbClr val="0F172A"/>
                </a:solidFill>
                <a:latin typeface="Segoe UI"/>
              </a:rPr>
              <a:t>Buyer nhắn Inbox</a:t>
            </a:r>
          </a:p>
        </p:txBody>
      </p:sp>
      <p:sp>
        <p:nvSpPr>
          <p:cNvPr id="59" name="TextBox 58"/>
          <p:cNvSpPr txBox="1"/>
          <p:nvPr/>
        </p:nvSpPr>
        <p:spPr>
          <a:xfrm>
            <a:off x="713232" y="4983480"/>
            <a:ext cx="1453896" cy="932688"/>
          </a:xfrm>
          <a:prstGeom prst="rect">
            <a:avLst/>
          </a:prstGeom>
          <a:noFill/>
        </p:spPr>
        <p:txBody>
          <a:bodyPr wrap="square" lIns="36576" tIns="18288" rIns="36576" bIns="18288" anchor="t">
            <a:spAutoFit/>
          </a:bodyPr>
          <a:lstStyle/>
          <a:p>
            <a:pPr algn="l">
              <a:lnSpc>
                <a:spcPct val="102000"/>
              </a:lnSpc>
              <a:spcAft>
                <a:spcPts val="0"/>
              </a:spcAft>
            </a:pPr>
            <a:r>
              <a:rPr sz="800" b="0" i="0">
                <a:solidFill>
                  <a:srgbClr val="64748B"/>
                </a:solidFill>
                <a:latin typeface="Segoe UI"/>
              </a:rPr>
              <a:t>socket /inbox · JWT</a:t>
            </a:r>
          </a:p>
          <a:p>
            <a:pPr algn="l">
              <a:lnSpc>
                <a:spcPct val="102000"/>
              </a:lnSpc>
              <a:spcAft>
                <a:spcPts val="0"/>
              </a:spcAft>
            </a:pPr>
            <a:r>
              <a:rPr sz="800" b="0" i="0">
                <a:solidFill>
                  <a:srgbClr val="64748B"/>
                </a:solidFill>
                <a:latin typeface="Segoe UI"/>
              </a:rPr>
              <a:t>lưu BUYER + dedup</a:t>
            </a:r>
          </a:p>
          <a:p>
            <a:pPr algn="l">
              <a:lnSpc>
                <a:spcPct val="102000"/>
              </a:lnSpc>
              <a:spcAft>
                <a:spcPts val="0"/>
              </a:spcAft>
            </a:pPr>
            <a:r>
              <a:rPr sz="800" b="0" i="0">
                <a:solidFill>
                  <a:srgbClr val="64748B"/>
                </a:solidFill>
                <a:latin typeface="Segoe UI"/>
              </a:rPr>
              <a:t>phát realtime</a:t>
            </a:r>
          </a:p>
        </p:txBody>
      </p:sp>
      <p:cxnSp>
        <p:nvCxnSpPr>
          <p:cNvPr id="60" name="Connector 59"/>
          <p:cNvCxnSpPr/>
          <p:nvPr/>
        </p:nvCxnSpPr>
        <p:spPr>
          <a:xfrm>
            <a:off x="722376" y="5532120"/>
            <a:ext cx="1435608" cy="0"/>
          </a:xfrm>
          <a:prstGeom prst="line">
            <a:avLst/>
          </a:prstGeom>
          <a:ln w="9525">
            <a:solidFill>
              <a:srgbClr val="1D4ED8"/>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713232" y="5596128"/>
            <a:ext cx="1453896" cy="256032"/>
          </a:xfrm>
          <a:prstGeom prst="rect">
            <a:avLst/>
          </a:prstGeom>
          <a:noFill/>
        </p:spPr>
        <p:txBody>
          <a:bodyPr wrap="square" lIns="36576" tIns="18288" rIns="36576" bIns="18288" anchor="t">
            <a:spAutoFit/>
          </a:bodyPr>
          <a:lstStyle/>
          <a:p>
            <a:pPr algn="l">
              <a:lnSpc>
                <a:spcPct val="100000"/>
              </a:lnSpc>
              <a:spcAft>
                <a:spcPts val="0"/>
              </a:spcAft>
            </a:pPr>
            <a:r>
              <a:rPr sz="740" b="1" i="0">
                <a:solidFill>
                  <a:srgbClr val="1D4ED8"/>
                </a:solidFill>
                <a:latin typeface="Segoe UI"/>
              </a:rPr>
              <a:t>→ tin BUYER realtime</a:t>
            </a:r>
          </a:p>
        </p:txBody>
      </p:sp>
      <p:sp>
        <p:nvSpPr>
          <p:cNvPr id="62" name="Right Arrow 61"/>
          <p:cNvSpPr/>
          <p:nvPr/>
        </p:nvSpPr>
        <p:spPr>
          <a:xfrm>
            <a:off x="2295144" y="5111496"/>
            <a:ext cx="137160" cy="219456"/>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2450591" y="4480560"/>
            <a:ext cx="1691640" cy="1481328"/>
          </a:xfrm>
          <a:prstGeom prst="roundRect">
            <a:avLst>
              <a:gd name="adj" fmla="val 12000"/>
            </a:avLst>
          </a:prstGeom>
          <a:solidFill>
            <a:srgbClr val="FFFFFF"/>
          </a:solidFill>
          <a:ln w="1397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Oval 63"/>
          <p:cNvSpPr/>
          <p:nvPr/>
        </p:nvSpPr>
        <p:spPr>
          <a:xfrm>
            <a:off x="2569463" y="4599432"/>
            <a:ext cx="274320" cy="27432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Segoe UI"/>
              </a:rPr>
              <a:t>2</a:t>
            </a:r>
          </a:p>
        </p:txBody>
      </p:sp>
      <p:sp>
        <p:nvSpPr>
          <p:cNvPr id="65" name="TextBox 64"/>
          <p:cNvSpPr txBox="1"/>
          <p:nvPr/>
        </p:nvSpPr>
        <p:spPr>
          <a:xfrm>
            <a:off x="2907791" y="4572000"/>
            <a:ext cx="1161288" cy="347472"/>
          </a:xfrm>
          <a:prstGeom prst="rect">
            <a:avLst/>
          </a:prstGeom>
          <a:noFill/>
        </p:spPr>
        <p:txBody>
          <a:bodyPr wrap="square" lIns="36576" tIns="18288" rIns="36576" bIns="18288" anchor="t">
            <a:spAutoFit/>
          </a:bodyPr>
          <a:lstStyle/>
          <a:p>
            <a:pPr algn="l">
              <a:lnSpc>
                <a:spcPct val="92000"/>
              </a:lnSpc>
              <a:spcAft>
                <a:spcPts val="0"/>
              </a:spcAft>
            </a:pPr>
            <a:r>
              <a:rPr sz="1050" b="1" i="0">
                <a:solidFill>
                  <a:srgbClr val="0F172A"/>
                </a:solidFill>
                <a:latin typeface="Segoe UI"/>
              </a:rPr>
              <a:t>Router</a:t>
            </a:r>
          </a:p>
        </p:txBody>
      </p:sp>
      <p:sp>
        <p:nvSpPr>
          <p:cNvPr id="66" name="TextBox 65"/>
          <p:cNvSpPr txBox="1"/>
          <p:nvPr/>
        </p:nvSpPr>
        <p:spPr>
          <a:xfrm>
            <a:off x="2569463" y="4983480"/>
            <a:ext cx="1453896" cy="932688"/>
          </a:xfrm>
          <a:prstGeom prst="rect">
            <a:avLst/>
          </a:prstGeom>
          <a:noFill/>
        </p:spPr>
        <p:txBody>
          <a:bodyPr wrap="square" lIns="36576" tIns="18288" rIns="36576" bIns="18288" anchor="t">
            <a:spAutoFit/>
          </a:bodyPr>
          <a:lstStyle/>
          <a:p>
            <a:pPr algn="l">
              <a:lnSpc>
                <a:spcPct val="102000"/>
              </a:lnSpc>
              <a:spcAft>
                <a:spcPts val="0"/>
              </a:spcAft>
            </a:pPr>
            <a:r>
              <a:rPr sz="800" b="0" i="0">
                <a:solidFill>
                  <a:srgbClr val="64748B"/>
                </a:solidFill>
                <a:latin typeface="Segoe UI"/>
              </a:rPr>
              <a:t>mode = AI?</a:t>
            </a:r>
          </a:p>
          <a:p>
            <a:pPr algn="l">
              <a:lnSpc>
                <a:spcPct val="102000"/>
              </a:lnSpc>
              <a:spcAft>
                <a:spcPts val="0"/>
              </a:spcAft>
            </a:pPr>
            <a:r>
              <a:rPr sz="800" b="0" i="0">
                <a:solidFill>
                  <a:srgbClr val="64748B"/>
                </a:solidFill>
                <a:latin typeface="Segoe UI"/>
              </a:rPr>
              <a:t>câu hỏi về đơn?</a:t>
            </a:r>
          </a:p>
          <a:p>
            <a:pPr algn="l">
              <a:lnSpc>
                <a:spcPct val="102000"/>
              </a:lnSpc>
              <a:spcAft>
                <a:spcPts val="0"/>
              </a:spcAft>
            </a:pPr>
            <a:r>
              <a:rPr sz="800" b="0" i="0">
                <a:solidFill>
                  <a:srgbClr val="64748B"/>
                </a:solidFill>
                <a:latin typeface="Segoe UI"/>
              </a:rPr>
              <a:t>3 nhánh rõ ràng</a:t>
            </a:r>
          </a:p>
        </p:txBody>
      </p:sp>
      <p:cxnSp>
        <p:nvCxnSpPr>
          <p:cNvPr id="67" name="Connector 66"/>
          <p:cNvCxnSpPr/>
          <p:nvPr/>
        </p:nvCxnSpPr>
        <p:spPr>
          <a:xfrm>
            <a:off x="2578608" y="5532120"/>
            <a:ext cx="1435607" cy="0"/>
          </a:xfrm>
          <a:prstGeom prst="line">
            <a:avLst/>
          </a:prstGeom>
          <a:ln w="9525">
            <a:solidFill>
              <a:srgbClr val="B45309"/>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2569463" y="5596128"/>
            <a:ext cx="1453896" cy="256032"/>
          </a:xfrm>
          <a:prstGeom prst="rect">
            <a:avLst/>
          </a:prstGeom>
          <a:noFill/>
        </p:spPr>
        <p:txBody>
          <a:bodyPr wrap="square" lIns="36576" tIns="18288" rIns="36576" bIns="18288" anchor="t">
            <a:spAutoFit/>
          </a:bodyPr>
          <a:lstStyle/>
          <a:p>
            <a:pPr algn="l">
              <a:lnSpc>
                <a:spcPct val="100000"/>
              </a:lnSpc>
              <a:spcAft>
                <a:spcPts val="0"/>
              </a:spcAft>
            </a:pPr>
            <a:r>
              <a:rPr sz="740" b="1" i="0">
                <a:solidFill>
                  <a:srgbClr val="B45309"/>
                </a:solidFill>
                <a:latin typeface="Segoe UI"/>
              </a:rPr>
              <a:t>→ 3 nhánh</a:t>
            </a:r>
          </a:p>
        </p:txBody>
      </p:sp>
      <p:sp>
        <p:nvSpPr>
          <p:cNvPr id="69" name="Right Arrow 68"/>
          <p:cNvSpPr/>
          <p:nvPr/>
        </p:nvSpPr>
        <p:spPr>
          <a:xfrm>
            <a:off x="4151376" y="5111496"/>
            <a:ext cx="137160" cy="219456"/>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4306824" y="4480560"/>
            <a:ext cx="1691640" cy="1481328"/>
          </a:xfrm>
          <a:prstGeom prst="roundRect">
            <a:avLst>
              <a:gd name="adj" fmla="val 12000"/>
            </a:avLst>
          </a:prstGeom>
          <a:solidFill>
            <a:srgbClr val="FFFFFF"/>
          </a:solidFill>
          <a:ln w="1397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Oval 70"/>
          <p:cNvSpPr/>
          <p:nvPr/>
        </p:nvSpPr>
        <p:spPr>
          <a:xfrm>
            <a:off x="4425696" y="4599432"/>
            <a:ext cx="274320" cy="27432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Segoe UI"/>
              </a:rPr>
              <a:t>3</a:t>
            </a:r>
          </a:p>
        </p:txBody>
      </p:sp>
      <p:sp>
        <p:nvSpPr>
          <p:cNvPr id="72" name="TextBox 71"/>
          <p:cNvSpPr txBox="1"/>
          <p:nvPr/>
        </p:nvSpPr>
        <p:spPr>
          <a:xfrm>
            <a:off x="4764024" y="4572000"/>
            <a:ext cx="1161288" cy="347472"/>
          </a:xfrm>
          <a:prstGeom prst="rect">
            <a:avLst/>
          </a:prstGeom>
          <a:noFill/>
        </p:spPr>
        <p:txBody>
          <a:bodyPr wrap="square" lIns="36576" tIns="18288" rIns="36576" bIns="18288" anchor="t">
            <a:spAutoFit/>
          </a:bodyPr>
          <a:lstStyle/>
          <a:p>
            <a:pPr algn="l">
              <a:lnSpc>
                <a:spcPct val="92000"/>
              </a:lnSpc>
              <a:spcAft>
                <a:spcPts val="0"/>
              </a:spcAft>
            </a:pPr>
            <a:r>
              <a:rPr sz="1050" b="1" i="0">
                <a:solidFill>
                  <a:srgbClr val="0F172A"/>
                </a:solidFill>
                <a:latin typeface="Segoe UI"/>
              </a:rPr>
              <a:t>RAG top-5</a:t>
            </a:r>
          </a:p>
        </p:txBody>
      </p:sp>
      <p:sp>
        <p:nvSpPr>
          <p:cNvPr id="73" name="TextBox 72"/>
          <p:cNvSpPr txBox="1"/>
          <p:nvPr/>
        </p:nvSpPr>
        <p:spPr>
          <a:xfrm>
            <a:off x="4425696" y="4983480"/>
            <a:ext cx="1453896" cy="932688"/>
          </a:xfrm>
          <a:prstGeom prst="rect">
            <a:avLst/>
          </a:prstGeom>
          <a:noFill/>
        </p:spPr>
        <p:txBody>
          <a:bodyPr wrap="square" lIns="36576" tIns="18288" rIns="36576" bIns="18288" anchor="t">
            <a:spAutoFit/>
          </a:bodyPr>
          <a:lstStyle/>
          <a:p>
            <a:pPr algn="l">
              <a:lnSpc>
                <a:spcPct val="102000"/>
              </a:lnSpc>
              <a:spcAft>
                <a:spcPts val="0"/>
              </a:spcAft>
            </a:pPr>
            <a:r>
              <a:rPr sz="800" b="0" i="0">
                <a:solidFill>
                  <a:srgbClr val="64748B"/>
                </a:solidFill>
                <a:latin typeface="Segoe UI"/>
              </a:rPr>
              <a:t>embed query local</a:t>
            </a:r>
          </a:p>
          <a:p>
            <a:pPr algn="l">
              <a:lnSpc>
                <a:spcPct val="102000"/>
              </a:lnSpc>
              <a:spcAft>
                <a:spcPts val="0"/>
              </a:spcAft>
            </a:pPr>
            <a:r>
              <a:rPr sz="800" b="0" i="0">
                <a:solidFill>
                  <a:srgbClr val="64748B"/>
                </a:solidFill>
                <a:latin typeface="Segoe UI"/>
              </a:rPr>
              <a:t>cosine đúng shop</a:t>
            </a:r>
          </a:p>
          <a:p>
            <a:pPr algn="l">
              <a:lnSpc>
                <a:spcPct val="102000"/>
              </a:lnSpc>
              <a:spcAft>
                <a:spcPts val="0"/>
              </a:spcAft>
            </a:pPr>
            <a:r>
              <a:rPr sz="800" b="0" i="0">
                <a:solidFill>
                  <a:srgbClr val="64748B"/>
                </a:solidFill>
                <a:latin typeface="Segoe UI"/>
              </a:rPr>
              <a:t>KB + sản phẩm</a:t>
            </a:r>
          </a:p>
        </p:txBody>
      </p:sp>
      <p:cxnSp>
        <p:nvCxnSpPr>
          <p:cNvPr id="74" name="Connector 73"/>
          <p:cNvCxnSpPr/>
          <p:nvPr/>
        </p:nvCxnSpPr>
        <p:spPr>
          <a:xfrm>
            <a:off x="4434840" y="5532120"/>
            <a:ext cx="1435608" cy="0"/>
          </a:xfrm>
          <a:prstGeom prst="line">
            <a:avLst/>
          </a:prstGeom>
          <a:ln w="9525">
            <a:solidFill>
              <a:srgbClr val="1D4ED8"/>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4425696" y="5596128"/>
            <a:ext cx="1453896" cy="256032"/>
          </a:xfrm>
          <a:prstGeom prst="rect">
            <a:avLst/>
          </a:prstGeom>
          <a:noFill/>
        </p:spPr>
        <p:txBody>
          <a:bodyPr wrap="square" lIns="36576" tIns="18288" rIns="36576" bIns="18288" anchor="t">
            <a:spAutoFit/>
          </a:bodyPr>
          <a:lstStyle/>
          <a:p>
            <a:pPr algn="l">
              <a:lnSpc>
                <a:spcPct val="100000"/>
              </a:lnSpc>
              <a:spcAft>
                <a:spcPts val="0"/>
              </a:spcAft>
            </a:pPr>
            <a:r>
              <a:rPr sz="740" b="1" i="0">
                <a:solidFill>
                  <a:srgbClr val="1D4ED8"/>
                </a:solidFill>
                <a:latin typeface="Segoe UI"/>
              </a:rPr>
              <a:t>→ top-5 + score</a:t>
            </a:r>
          </a:p>
        </p:txBody>
      </p:sp>
      <p:sp>
        <p:nvSpPr>
          <p:cNvPr id="76" name="Right Arrow 75"/>
          <p:cNvSpPr/>
          <p:nvPr/>
        </p:nvSpPr>
        <p:spPr>
          <a:xfrm>
            <a:off x="6007608" y="5111496"/>
            <a:ext cx="137160" cy="219456"/>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6163056" y="4480560"/>
            <a:ext cx="1691640" cy="1481328"/>
          </a:xfrm>
          <a:prstGeom prst="roundRect">
            <a:avLst>
              <a:gd name="adj" fmla="val 12000"/>
            </a:avLst>
          </a:prstGeom>
          <a:solidFill>
            <a:srgbClr val="FFFFFF"/>
          </a:solidFill>
          <a:ln w="1397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Oval 77"/>
          <p:cNvSpPr/>
          <p:nvPr/>
        </p:nvSpPr>
        <p:spPr>
          <a:xfrm>
            <a:off x="6281928" y="4599432"/>
            <a:ext cx="274320" cy="27432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Segoe UI"/>
              </a:rPr>
              <a:t>4</a:t>
            </a:r>
          </a:p>
        </p:txBody>
      </p:sp>
      <p:sp>
        <p:nvSpPr>
          <p:cNvPr id="79" name="TextBox 78"/>
          <p:cNvSpPr txBox="1"/>
          <p:nvPr/>
        </p:nvSpPr>
        <p:spPr>
          <a:xfrm>
            <a:off x="6620256" y="4572000"/>
            <a:ext cx="1161288" cy="347472"/>
          </a:xfrm>
          <a:prstGeom prst="rect">
            <a:avLst/>
          </a:prstGeom>
          <a:noFill/>
        </p:spPr>
        <p:txBody>
          <a:bodyPr wrap="square" lIns="36576" tIns="18288" rIns="36576" bIns="18288" anchor="t">
            <a:spAutoFit/>
          </a:bodyPr>
          <a:lstStyle/>
          <a:p>
            <a:pPr algn="l">
              <a:lnSpc>
                <a:spcPct val="92000"/>
              </a:lnSpc>
              <a:spcAft>
                <a:spcPts val="0"/>
              </a:spcAft>
            </a:pPr>
            <a:r>
              <a:rPr sz="1050" b="1" i="0">
                <a:solidFill>
                  <a:srgbClr val="0F172A"/>
                </a:solidFill>
                <a:latin typeface="Segoe UI"/>
              </a:rPr>
              <a:t>Context + Groq</a:t>
            </a:r>
          </a:p>
        </p:txBody>
      </p:sp>
      <p:sp>
        <p:nvSpPr>
          <p:cNvPr id="80" name="TextBox 79"/>
          <p:cNvSpPr txBox="1"/>
          <p:nvPr/>
        </p:nvSpPr>
        <p:spPr>
          <a:xfrm>
            <a:off x="6281928" y="4983480"/>
            <a:ext cx="1453896" cy="932688"/>
          </a:xfrm>
          <a:prstGeom prst="rect">
            <a:avLst/>
          </a:prstGeom>
          <a:noFill/>
        </p:spPr>
        <p:txBody>
          <a:bodyPr wrap="square" lIns="36576" tIns="18288" rIns="36576" bIns="18288" anchor="t">
            <a:spAutoFit/>
          </a:bodyPr>
          <a:lstStyle/>
          <a:p>
            <a:pPr algn="l">
              <a:lnSpc>
                <a:spcPct val="102000"/>
              </a:lnSpc>
              <a:spcAft>
                <a:spcPts val="0"/>
              </a:spcAft>
            </a:pPr>
            <a:r>
              <a:rPr sz="800" b="0" i="0">
                <a:solidFill>
                  <a:srgbClr val="64748B"/>
                </a:solidFill>
                <a:latin typeface="Segoe UI"/>
              </a:rPr>
              <a:t>KB top-5</a:t>
            </a:r>
          </a:p>
          <a:p>
            <a:pPr algn="l">
              <a:lnSpc>
                <a:spcPct val="102000"/>
              </a:lnSpc>
              <a:spcAft>
                <a:spcPts val="0"/>
              </a:spcAft>
            </a:pPr>
            <a:r>
              <a:rPr sz="800" b="0" i="0">
                <a:solidFill>
                  <a:srgbClr val="64748B"/>
                </a:solidFill>
                <a:latin typeface="Segoe UI"/>
              </a:rPr>
              <a:t>SP giá/kho tươi</a:t>
            </a:r>
          </a:p>
          <a:p>
            <a:pPr algn="l">
              <a:lnSpc>
                <a:spcPct val="102000"/>
              </a:lnSpc>
              <a:spcAft>
                <a:spcPts val="0"/>
              </a:spcAft>
            </a:pPr>
            <a:r>
              <a:rPr sz="800" b="0" i="0">
                <a:solidFill>
                  <a:srgbClr val="64748B"/>
                </a:solidFill>
                <a:latin typeface="Segoe UI"/>
              </a:rPr>
              <a:t>20 tin history</a:t>
            </a:r>
          </a:p>
        </p:txBody>
      </p:sp>
      <p:cxnSp>
        <p:nvCxnSpPr>
          <p:cNvPr id="81" name="Connector 80"/>
          <p:cNvCxnSpPr/>
          <p:nvPr/>
        </p:nvCxnSpPr>
        <p:spPr>
          <a:xfrm>
            <a:off x="6291072" y="5532120"/>
            <a:ext cx="1435607" cy="0"/>
          </a:xfrm>
          <a:prstGeom prst="line">
            <a:avLst/>
          </a:prstGeom>
          <a:ln w="9525">
            <a:solidFill>
              <a:srgbClr val="6D28D9"/>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6281928" y="5596128"/>
            <a:ext cx="1453896" cy="256032"/>
          </a:xfrm>
          <a:prstGeom prst="rect">
            <a:avLst/>
          </a:prstGeom>
          <a:noFill/>
        </p:spPr>
        <p:txBody>
          <a:bodyPr wrap="square" lIns="36576" tIns="18288" rIns="36576" bIns="18288" anchor="t">
            <a:spAutoFit/>
          </a:bodyPr>
          <a:lstStyle/>
          <a:p>
            <a:pPr algn="l">
              <a:lnSpc>
                <a:spcPct val="100000"/>
              </a:lnSpc>
              <a:spcAft>
                <a:spcPts val="0"/>
              </a:spcAft>
            </a:pPr>
            <a:r>
              <a:rPr sz="740" b="1" i="0">
                <a:solidFill>
                  <a:srgbClr val="6D28D9"/>
                </a:solidFill>
                <a:latin typeface="Segoe UI"/>
              </a:rPr>
              <a:t>→ prompt</a:t>
            </a:r>
          </a:p>
        </p:txBody>
      </p:sp>
      <p:sp>
        <p:nvSpPr>
          <p:cNvPr id="83" name="Right Arrow 82"/>
          <p:cNvSpPr/>
          <p:nvPr/>
        </p:nvSpPr>
        <p:spPr>
          <a:xfrm>
            <a:off x="7863840" y="5111496"/>
            <a:ext cx="137160" cy="219456"/>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ounded Rectangle 83"/>
          <p:cNvSpPr/>
          <p:nvPr/>
        </p:nvSpPr>
        <p:spPr>
          <a:xfrm>
            <a:off x="8019288" y="4480560"/>
            <a:ext cx="1691640" cy="1481328"/>
          </a:xfrm>
          <a:prstGeom prst="roundRect">
            <a:avLst>
              <a:gd name="adj" fmla="val 12000"/>
            </a:avLst>
          </a:prstGeom>
          <a:solidFill>
            <a:srgbClr val="FFFFFF"/>
          </a:solidFill>
          <a:ln w="1397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Oval 84"/>
          <p:cNvSpPr/>
          <p:nvPr/>
        </p:nvSpPr>
        <p:spPr>
          <a:xfrm>
            <a:off x="8138160" y="4599432"/>
            <a:ext cx="274320" cy="274320"/>
          </a:xfrm>
          <a:prstGeom prst="ellipse">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Segoe UI"/>
              </a:rPr>
              <a:t>5</a:t>
            </a:r>
          </a:p>
        </p:txBody>
      </p:sp>
      <p:sp>
        <p:nvSpPr>
          <p:cNvPr id="86" name="TextBox 85"/>
          <p:cNvSpPr txBox="1"/>
          <p:nvPr/>
        </p:nvSpPr>
        <p:spPr>
          <a:xfrm>
            <a:off x="8476488" y="4572000"/>
            <a:ext cx="1161288" cy="347472"/>
          </a:xfrm>
          <a:prstGeom prst="rect">
            <a:avLst/>
          </a:prstGeom>
          <a:noFill/>
        </p:spPr>
        <p:txBody>
          <a:bodyPr wrap="square" lIns="36576" tIns="18288" rIns="36576" bIns="18288" anchor="t">
            <a:spAutoFit/>
          </a:bodyPr>
          <a:lstStyle/>
          <a:p>
            <a:pPr algn="l">
              <a:lnSpc>
                <a:spcPct val="92000"/>
              </a:lnSpc>
              <a:spcAft>
                <a:spcPts val="0"/>
              </a:spcAft>
            </a:pPr>
            <a:r>
              <a:rPr sz="1050" b="1" i="0">
                <a:solidFill>
                  <a:srgbClr val="0F172A"/>
                </a:solidFill>
                <a:latin typeface="Segoe UI"/>
              </a:rPr>
              <a:t>Answer + trace</a:t>
            </a:r>
          </a:p>
        </p:txBody>
      </p:sp>
      <p:sp>
        <p:nvSpPr>
          <p:cNvPr id="87" name="TextBox 86"/>
          <p:cNvSpPr txBox="1"/>
          <p:nvPr/>
        </p:nvSpPr>
        <p:spPr>
          <a:xfrm>
            <a:off x="8138160" y="4983480"/>
            <a:ext cx="1453896" cy="932688"/>
          </a:xfrm>
          <a:prstGeom prst="rect">
            <a:avLst/>
          </a:prstGeom>
          <a:noFill/>
        </p:spPr>
        <p:txBody>
          <a:bodyPr wrap="square" lIns="36576" tIns="18288" rIns="36576" bIns="18288" anchor="t">
            <a:spAutoFit/>
          </a:bodyPr>
          <a:lstStyle/>
          <a:p>
            <a:pPr algn="l">
              <a:lnSpc>
                <a:spcPct val="102000"/>
              </a:lnSpc>
              <a:spcAft>
                <a:spcPts val="0"/>
              </a:spcAft>
            </a:pPr>
            <a:r>
              <a:rPr sz="800" b="0" i="0">
                <a:solidFill>
                  <a:srgbClr val="64748B"/>
                </a:solidFill>
                <a:latin typeface="Segoe UI"/>
              </a:rPr>
              <a:t>chip nguồn</a:t>
            </a:r>
          </a:p>
          <a:p>
            <a:pPr algn="l">
              <a:lnSpc>
                <a:spcPct val="102000"/>
              </a:lnSpc>
              <a:spcAft>
                <a:spcPts val="0"/>
              </a:spcAft>
            </a:pPr>
            <a:r>
              <a:rPr sz="800" b="0" i="0">
                <a:solidFill>
                  <a:srgbClr val="64748B"/>
                </a:solidFill>
                <a:latin typeface="Segoe UI"/>
              </a:rPr>
              <a:t>topK · token · ms</a:t>
            </a:r>
          </a:p>
          <a:p>
            <a:pPr algn="l">
              <a:lnSpc>
                <a:spcPct val="102000"/>
              </a:lnSpc>
              <a:spcAft>
                <a:spcPts val="0"/>
              </a:spcAft>
            </a:pPr>
            <a:r>
              <a:rPr sz="800" b="0" i="0">
                <a:solidFill>
                  <a:srgbClr val="64748B"/>
                </a:solidFill>
                <a:latin typeface="Segoe UI"/>
              </a:rPr>
              <a:t>fallback FULL_KB</a:t>
            </a:r>
          </a:p>
        </p:txBody>
      </p:sp>
      <p:cxnSp>
        <p:nvCxnSpPr>
          <p:cNvPr id="88" name="Connector 87"/>
          <p:cNvCxnSpPr/>
          <p:nvPr/>
        </p:nvCxnSpPr>
        <p:spPr>
          <a:xfrm>
            <a:off x="8147304" y="5532120"/>
            <a:ext cx="1435607" cy="0"/>
          </a:xfrm>
          <a:prstGeom prst="line">
            <a:avLst/>
          </a:prstGeom>
          <a:ln w="9525">
            <a:solidFill>
              <a:srgbClr val="15803D"/>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8138160" y="5596128"/>
            <a:ext cx="1453896" cy="256032"/>
          </a:xfrm>
          <a:prstGeom prst="rect">
            <a:avLst/>
          </a:prstGeom>
          <a:noFill/>
        </p:spPr>
        <p:txBody>
          <a:bodyPr wrap="square" lIns="36576" tIns="18288" rIns="36576" bIns="18288" anchor="t">
            <a:spAutoFit/>
          </a:bodyPr>
          <a:lstStyle/>
          <a:p>
            <a:pPr algn="l">
              <a:lnSpc>
                <a:spcPct val="100000"/>
              </a:lnSpc>
              <a:spcAft>
                <a:spcPts val="0"/>
              </a:spcAft>
            </a:pPr>
            <a:r>
              <a:rPr sz="740" b="1" i="0">
                <a:solidFill>
                  <a:srgbClr val="15803D"/>
                </a:solidFill>
                <a:latin typeface="Segoe UI"/>
              </a:rPr>
              <a:t>→ answer + trace</a:t>
            </a:r>
          </a:p>
        </p:txBody>
      </p:sp>
      <p:sp>
        <p:nvSpPr>
          <p:cNvPr id="90" name="Right Arrow 89"/>
          <p:cNvSpPr/>
          <p:nvPr/>
        </p:nvSpPr>
        <p:spPr>
          <a:xfrm>
            <a:off x="9720072" y="5111496"/>
            <a:ext cx="137160" cy="219456"/>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ounded Rectangle 90"/>
          <p:cNvSpPr/>
          <p:nvPr/>
        </p:nvSpPr>
        <p:spPr>
          <a:xfrm>
            <a:off x="9875519" y="4480560"/>
            <a:ext cx="1691640" cy="1481328"/>
          </a:xfrm>
          <a:prstGeom prst="roundRect">
            <a:avLst>
              <a:gd name="adj" fmla="val 12000"/>
            </a:avLst>
          </a:prstGeom>
          <a:solidFill>
            <a:srgbClr val="FFFFFF"/>
          </a:solidFill>
          <a:ln w="13970">
            <a:solidFill>
              <a:srgbClr val="BE123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Oval 91"/>
          <p:cNvSpPr/>
          <p:nvPr/>
        </p:nvSpPr>
        <p:spPr>
          <a:xfrm>
            <a:off x="9994392" y="4599432"/>
            <a:ext cx="274320" cy="274320"/>
          </a:xfrm>
          <a:prstGeom prst="ellipse">
            <a:avLst/>
          </a:prstGeom>
          <a:solidFill>
            <a:srgbClr val="BE12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Segoe UI"/>
              </a:rPr>
              <a:t>6</a:t>
            </a:r>
          </a:p>
        </p:txBody>
      </p:sp>
      <p:sp>
        <p:nvSpPr>
          <p:cNvPr id="93" name="TextBox 92"/>
          <p:cNvSpPr txBox="1"/>
          <p:nvPr/>
        </p:nvSpPr>
        <p:spPr>
          <a:xfrm>
            <a:off x="10332719" y="4572000"/>
            <a:ext cx="1161288" cy="347472"/>
          </a:xfrm>
          <a:prstGeom prst="rect">
            <a:avLst/>
          </a:prstGeom>
          <a:noFill/>
        </p:spPr>
        <p:txBody>
          <a:bodyPr wrap="square" lIns="36576" tIns="18288" rIns="36576" bIns="18288" anchor="t">
            <a:spAutoFit/>
          </a:bodyPr>
          <a:lstStyle/>
          <a:p>
            <a:pPr algn="l">
              <a:lnSpc>
                <a:spcPct val="92000"/>
              </a:lnSpc>
              <a:spcAft>
                <a:spcPts val="0"/>
              </a:spcAft>
            </a:pPr>
            <a:r>
              <a:rPr sz="1050" b="1" i="0">
                <a:solidFill>
                  <a:srgbClr val="0F172A"/>
                </a:solidFill>
                <a:latin typeface="Segoe UI"/>
              </a:rPr>
              <a:t>Takeover</a:t>
            </a:r>
          </a:p>
        </p:txBody>
      </p:sp>
      <p:sp>
        <p:nvSpPr>
          <p:cNvPr id="94" name="TextBox 93"/>
          <p:cNvSpPr txBox="1"/>
          <p:nvPr/>
        </p:nvSpPr>
        <p:spPr>
          <a:xfrm>
            <a:off x="9994392" y="4983480"/>
            <a:ext cx="1453896" cy="932688"/>
          </a:xfrm>
          <a:prstGeom prst="rect">
            <a:avLst/>
          </a:prstGeom>
          <a:noFill/>
        </p:spPr>
        <p:txBody>
          <a:bodyPr wrap="square" lIns="36576" tIns="18288" rIns="36576" bIns="18288" anchor="t">
            <a:spAutoFit/>
          </a:bodyPr>
          <a:lstStyle/>
          <a:p>
            <a:pPr algn="l">
              <a:lnSpc>
                <a:spcPct val="102000"/>
              </a:lnSpc>
              <a:spcAft>
                <a:spcPts val="0"/>
              </a:spcAft>
            </a:pPr>
            <a:r>
              <a:rPr sz="800" b="0" i="0">
                <a:solidFill>
                  <a:srgbClr val="64748B"/>
                </a:solidFill>
                <a:latin typeface="Segoe UI"/>
              </a:rPr>
              <a:t>seller gõ tay</a:t>
            </a:r>
          </a:p>
          <a:p>
            <a:pPr algn="l">
              <a:lnSpc>
                <a:spcPct val="102000"/>
              </a:lnSpc>
              <a:spcAft>
                <a:spcPts val="0"/>
              </a:spcAft>
            </a:pPr>
            <a:r>
              <a:rPr sz="800" b="0" i="0">
                <a:solidFill>
                  <a:srgbClr val="64748B"/>
                </a:solidFill>
                <a:latin typeface="Segoe UI"/>
              </a:rPr>
              <a:t>AI dừng ngay</a:t>
            </a:r>
          </a:p>
          <a:p>
            <a:pPr algn="l">
              <a:lnSpc>
                <a:spcPct val="102000"/>
              </a:lnSpc>
              <a:spcAft>
                <a:spcPts val="0"/>
              </a:spcAft>
            </a:pPr>
            <a:r>
              <a:rPr sz="800" b="0" i="0">
                <a:solidFill>
                  <a:srgbClr val="64748B"/>
                </a:solidFill>
                <a:latin typeface="Segoe UI"/>
              </a:rPr>
              <a:t>version check</a:t>
            </a:r>
          </a:p>
        </p:txBody>
      </p:sp>
      <p:cxnSp>
        <p:nvCxnSpPr>
          <p:cNvPr id="95" name="Connector 94"/>
          <p:cNvCxnSpPr/>
          <p:nvPr/>
        </p:nvCxnSpPr>
        <p:spPr>
          <a:xfrm>
            <a:off x="10003536" y="5532120"/>
            <a:ext cx="1435607" cy="0"/>
          </a:xfrm>
          <a:prstGeom prst="line">
            <a:avLst/>
          </a:prstGeom>
          <a:ln w="9525">
            <a:solidFill>
              <a:srgbClr val="BE123C"/>
            </a:solidFill>
          </a:ln>
        </p:spPr>
        <p:style>
          <a:lnRef idx="2">
            <a:schemeClr val="accent1"/>
          </a:lnRef>
          <a:fillRef idx="0">
            <a:schemeClr val="accent1"/>
          </a:fillRef>
          <a:effectRef idx="1">
            <a:schemeClr val="accent1"/>
          </a:effectRef>
          <a:fontRef idx="minor">
            <a:schemeClr val="tx1"/>
          </a:fontRef>
        </p:style>
      </p:cxnSp>
      <p:sp>
        <p:nvSpPr>
          <p:cNvPr id="96" name="TextBox 95"/>
          <p:cNvSpPr txBox="1"/>
          <p:nvPr/>
        </p:nvSpPr>
        <p:spPr>
          <a:xfrm>
            <a:off x="9994392" y="5596128"/>
            <a:ext cx="1453896" cy="256032"/>
          </a:xfrm>
          <a:prstGeom prst="rect">
            <a:avLst/>
          </a:prstGeom>
          <a:noFill/>
        </p:spPr>
        <p:txBody>
          <a:bodyPr wrap="square" lIns="36576" tIns="18288" rIns="36576" bIns="18288" anchor="t">
            <a:spAutoFit/>
          </a:bodyPr>
          <a:lstStyle/>
          <a:p>
            <a:pPr algn="l">
              <a:lnSpc>
                <a:spcPct val="100000"/>
              </a:lnSpc>
              <a:spcAft>
                <a:spcPts val="0"/>
              </a:spcAft>
            </a:pPr>
            <a:r>
              <a:rPr sz="740" b="1" i="0">
                <a:solidFill>
                  <a:srgbClr val="BE123C"/>
                </a:solidFill>
                <a:latin typeface="Segoe UI"/>
              </a:rPr>
              <a:t>→ AI im lặng</a:t>
            </a:r>
          </a:p>
        </p:txBody>
      </p:sp>
      <p:sp>
        <p:nvSpPr>
          <p:cNvPr id="97" name="TextBox 96"/>
          <p:cNvSpPr txBox="1"/>
          <p:nvPr/>
        </p:nvSpPr>
        <p:spPr>
          <a:xfrm>
            <a:off x="594360" y="6062472"/>
            <a:ext cx="11000232" cy="292608"/>
          </a:xfrm>
          <a:prstGeom prst="rect">
            <a:avLst/>
          </a:prstGeom>
          <a:noFill/>
        </p:spPr>
        <p:txBody>
          <a:bodyPr wrap="square" lIns="36576" tIns="18288" rIns="36576" bIns="18288" anchor="t">
            <a:spAutoFit/>
          </a:bodyPr>
          <a:lstStyle/>
          <a:p>
            <a:pPr algn="l">
              <a:lnSpc>
                <a:spcPct val="100000"/>
              </a:lnSpc>
              <a:spcAft>
                <a:spcPts val="0"/>
              </a:spcAft>
            </a:pPr>
            <a:r>
              <a:rPr sz="860" b="0" i="1">
                <a:solidFill>
                  <a:srgbClr val="64748B"/>
                </a:solidFill>
                <a:latin typeface="Segoe UI"/>
              </a:rPr>
              <a:t>Cùng một process: REST/API + socket /live + socket /inbox. JWT lấy từ handshake; DB là nơi duy nhất quyết định giá, kho và trạng thái.</a:t>
            </a:r>
          </a:p>
        </p:txBody>
      </p:sp>
      <p:cxnSp>
        <p:nvCxnSpPr>
          <p:cNvPr id="98" name="Connector 97"/>
          <p:cNvCxnSpPr/>
          <p:nvPr/>
        </p:nvCxnSpPr>
        <p:spPr>
          <a:xfrm>
            <a:off x="594360" y="6492240"/>
            <a:ext cx="1100023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594360" y="6537960"/>
            <a:ext cx="7315200" cy="201168"/>
          </a:xfrm>
          <a:prstGeom prst="rect">
            <a:avLst/>
          </a:prstGeom>
          <a:noFill/>
        </p:spPr>
        <p:txBody>
          <a:bodyPr wrap="square" lIns="36576" tIns="18288" rIns="36576" bIns="18288" anchor="t">
            <a:spAutoFit/>
          </a:bodyPr>
          <a:lstStyle/>
          <a:p>
            <a:pPr algn="l">
              <a:lnSpc>
                <a:spcPct val="100000"/>
              </a:lnSpc>
              <a:spcAft>
                <a:spcPts val="0"/>
              </a:spcAft>
            </a:pPr>
            <a:r>
              <a:rPr sz="800" b="0" i="0">
                <a:solidFill>
                  <a:srgbClr val="94A3B8"/>
                </a:solidFill>
                <a:latin typeface="Segoe UI"/>
              </a:rPr>
              <a:t>LiveOrder · Pipeline toàn dự án · 2026</a:t>
            </a:r>
          </a:p>
        </p:txBody>
      </p:sp>
      <p:sp>
        <p:nvSpPr>
          <p:cNvPr id="100" name="TextBox 99"/>
          <p:cNvSpPr txBox="1"/>
          <p:nvPr/>
        </p:nvSpPr>
        <p:spPr>
          <a:xfrm>
            <a:off x="8229600" y="6537960"/>
            <a:ext cx="3364992" cy="201168"/>
          </a:xfrm>
          <a:prstGeom prst="rect">
            <a:avLst/>
          </a:prstGeom>
          <a:noFill/>
        </p:spPr>
        <p:txBody>
          <a:bodyPr wrap="square" lIns="36576" tIns="18288" rIns="36576" bIns="18288" anchor="t">
            <a:spAutoFit/>
          </a:bodyPr>
          <a:lstStyle/>
          <a:p>
            <a:pPr algn="r">
              <a:lnSpc>
                <a:spcPct val="100000"/>
              </a:lnSpc>
              <a:spcAft>
                <a:spcPts val="0"/>
              </a:spcAft>
            </a:pPr>
            <a:r>
              <a:rPr sz="800" b="0" i="0">
                <a:solidFill>
                  <a:srgbClr val="94A3B8"/>
                </a:solidFill>
                <a:latin typeface="Segoe UI"/>
              </a:rPr>
              <a:t>Aho-Corasick  ·  RAG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94360" y="274320"/>
            <a:ext cx="6400800" cy="228600"/>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0F766E"/>
                </a:solidFill>
                <a:latin typeface="Segoe UI"/>
              </a:rPr>
              <a:t>04 · CỐT LÕI ①</a:t>
            </a:r>
          </a:p>
        </p:txBody>
      </p:sp>
      <p:sp>
        <p:nvSpPr>
          <p:cNvPr id="4" name="TextBox 3"/>
          <p:cNvSpPr txBox="1"/>
          <p:nvPr/>
        </p:nvSpPr>
        <p:spPr>
          <a:xfrm>
            <a:off x="576072" y="493776"/>
            <a:ext cx="10424160" cy="502920"/>
          </a:xfrm>
          <a:prstGeom prst="rect">
            <a:avLst/>
          </a:prstGeom>
          <a:noFill/>
        </p:spPr>
        <p:txBody>
          <a:bodyPr wrap="square" lIns="36576" tIns="18288" rIns="36576" bIns="18288" anchor="t">
            <a:spAutoFit/>
          </a:bodyPr>
          <a:lstStyle/>
          <a:p>
            <a:pPr algn="l">
              <a:lnSpc>
                <a:spcPct val="100000"/>
              </a:lnSpc>
              <a:spcAft>
                <a:spcPts val="0"/>
              </a:spcAft>
            </a:pPr>
            <a:r>
              <a:rPr sz="2300" b="1" i="0">
                <a:solidFill>
                  <a:srgbClr val="0F172A"/>
                </a:solidFill>
                <a:latin typeface="Segoe UI"/>
              </a:rPr>
              <a:t>Aho-Corasick: bắt mọi SKU trong một lượt quét</a:t>
            </a:r>
          </a:p>
        </p:txBody>
      </p:sp>
      <p:sp>
        <p:nvSpPr>
          <p:cNvPr id="5" name="TextBox 4"/>
          <p:cNvSpPr txBox="1"/>
          <p:nvPr/>
        </p:nvSpPr>
        <p:spPr>
          <a:xfrm>
            <a:off x="10698480" y="283464"/>
            <a:ext cx="960120" cy="228600"/>
          </a:xfrm>
          <a:prstGeom prst="rect">
            <a:avLst/>
          </a:prstGeom>
          <a:noFill/>
        </p:spPr>
        <p:txBody>
          <a:bodyPr wrap="square" lIns="36576" tIns="18288" rIns="36576" bIns="18288" anchor="t">
            <a:spAutoFit/>
          </a:bodyPr>
          <a:lstStyle/>
          <a:p>
            <a:pPr algn="r">
              <a:lnSpc>
                <a:spcPct val="100000"/>
              </a:lnSpc>
              <a:spcAft>
                <a:spcPts val="0"/>
              </a:spcAft>
            </a:pPr>
            <a:r>
              <a:rPr sz="900" b="1" i="0">
                <a:solidFill>
                  <a:srgbClr val="94A3B8"/>
                </a:solidFill>
                <a:latin typeface="Segoe UI"/>
              </a:rPr>
              <a:t>05 / 13</a:t>
            </a:r>
          </a:p>
        </p:txBody>
      </p:sp>
      <p:sp>
        <p:nvSpPr>
          <p:cNvPr id="6" name="Rounded Rectangle 5"/>
          <p:cNvSpPr/>
          <p:nvPr/>
        </p:nvSpPr>
        <p:spPr>
          <a:xfrm>
            <a:off x="594360" y="1298448"/>
            <a:ext cx="5440680" cy="35204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389888"/>
            <a:ext cx="5029200" cy="256032"/>
          </a:xfrm>
          <a:prstGeom prst="rect">
            <a:avLst/>
          </a:prstGeom>
          <a:noFill/>
        </p:spPr>
        <p:txBody>
          <a:bodyPr wrap="square" lIns="36576" tIns="18288" rIns="36576" bIns="18288" anchor="t">
            <a:spAutoFit/>
          </a:bodyPr>
          <a:lstStyle/>
          <a:p>
            <a:pPr algn="l">
              <a:lnSpc>
                <a:spcPct val="100000"/>
              </a:lnSpc>
              <a:spcAft>
                <a:spcPts val="0"/>
              </a:spcAft>
            </a:pPr>
            <a:r>
              <a:rPr sz="1100" b="1" i="0">
                <a:solidFill>
                  <a:srgbClr val="0F172A"/>
                </a:solidFill>
                <a:latin typeface="Segoe UI"/>
              </a:rPr>
              <a:t>Trie + fail link (BFS) + output link</a:t>
            </a:r>
          </a:p>
        </p:txBody>
      </p:sp>
      <p:sp>
        <p:nvSpPr>
          <p:cNvPr id="8" name="TextBox 7"/>
          <p:cNvSpPr txBox="1"/>
          <p:nvPr/>
        </p:nvSpPr>
        <p:spPr>
          <a:xfrm>
            <a:off x="777240" y="1645920"/>
            <a:ext cx="5029200" cy="228600"/>
          </a:xfrm>
          <a:prstGeom prst="rect">
            <a:avLst/>
          </a:prstGeom>
          <a:noFill/>
        </p:spPr>
        <p:txBody>
          <a:bodyPr wrap="square" lIns="36576" tIns="18288" rIns="36576" bIns="18288" anchor="t">
            <a:spAutoFit/>
          </a:bodyPr>
          <a:lstStyle/>
          <a:p>
            <a:pPr algn="l">
              <a:lnSpc>
                <a:spcPct val="100000"/>
              </a:lnSpc>
              <a:spcAft>
                <a:spcPts val="0"/>
              </a:spcAft>
            </a:pPr>
            <a:r>
              <a:rPr sz="850" b="0" i="1">
                <a:solidFill>
                  <a:srgbClr val="64748B"/>
                </a:solidFill>
                <a:latin typeface="Segoe UI"/>
              </a:rPr>
              <a:t>Automaton dựng từ SKU của đúng shop đang live</a:t>
            </a:r>
          </a:p>
        </p:txBody>
      </p:sp>
      <p:sp>
        <p:nvSpPr>
          <p:cNvPr id="9" name="Rounded Rectangle 8"/>
          <p:cNvSpPr/>
          <p:nvPr/>
        </p:nvSpPr>
        <p:spPr>
          <a:xfrm>
            <a:off x="868680" y="2834640"/>
            <a:ext cx="658368" cy="384048"/>
          </a:xfrm>
          <a:prstGeom prst="roundRect">
            <a:avLst>
              <a:gd name="adj" fmla="val 35000"/>
            </a:avLst>
          </a:prstGeom>
          <a:solidFill>
            <a:srgbClr val="DBEAFE"/>
          </a:solidFill>
          <a:ln w="1397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68680" y="2834640"/>
            <a:ext cx="658368" cy="384048"/>
          </a:xfrm>
          <a:prstGeom prst="rect">
            <a:avLst/>
          </a:prstGeom>
          <a:noFill/>
        </p:spPr>
        <p:txBody>
          <a:bodyPr wrap="square" lIns="36576" tIns="18288" rIns="36576" bIns="18288" anchor="ctr">
            <a:spAutoFit/>
          </a:bodyPr>
          <a:lstStyle/>
          <a:p>
            <a:pPr algn="ctr">
              <a:lnSpc>
                <a:spcPct val="100000"/>
              </a:lnSpc>
              <a:spcAft>
                <a:spcPts val="0"/>
              </a:spcAft>
            </a:pPr>
            <a:r>
              <a:rPr sz="900" b="1" i="0">
                <a:solidFill>
                  <a:srgbClr val="0F172A"/>
                </a:solidFill>
                <a:latin typeface="Segoe UI"/>
              </a:rPr>
              <a:t>root</a:t>
            </a:r>
          </a:p>
        </p:txBody>
      </p:sp>
      <p:sp>
        <p:nvSpPr>
          <p:cNvPr id="11" name="Rounded Rectangle 10"/>
          <p:cNvSpPr/>
          <p:nvPr/>
        </p:nvSpPr>
        <p:spPr>
          <a:xfrm>
            <a:off x="1783080" y="2834640"/>
            <a:ext cx="457200" cy="384048"/>
          </a:xfrm>
          <a:prstGeom prst="roundRect">
            <a:avLst>
              <a:gd name="adj" fmla="val 35000"/>
            </a:avLst>
          </a:prstGeom>
          <a:solidFill>
            <a:srgbClr val="F1F5F9"/>
          </a:solidFill>
          <a:ln w="1397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783080" y="2834640"/>
            <a:ext cx="457200" cy="384048"/>
          </a:xfrm>
          <a:prstGeom prst="rect">
            <a:avLst/>
          </a:prstGeom>
          <a:noFill/>
        </p:spPr>
        <p:txBody>
          <a:bodyPr wrap="square" lIns="36576" tIns="18288" rIns="36576" bIns="18288" anchor="ctr">
            <a:spAutoFit/>
          </a:bodyPr>
          <a:lstStyle/>
          <a:p>
            <a:pPr algn="ctr">
              <a:lnSpc>
                <a:spcPct val="100000"/>
              </a:lnSpc>
              <a:spcAft>
                <a:spcPts val="0"/>
              </a:spcAft>
            </a:pPr>
            <a:r>
              <a:rPr sz="900" b="1" i="0">
                <a:solidFill>
                  <a:srgbClr val="0F172A"/>
                </a:solidFill>
                <a:latin typeface="Segoe UI"/>
              </a:rPr>
              <a:t>S</a:t>
            </a:r>
          </a:p>
        </p:txBody>
      </p:sp>
      <p:sp>
        <p:nvSpPr>
          <p:cNvPr id="13" name="Rounded Rectangle 12"/>
          <p:cNvSpPr/>
          <p:nvPr/>
        </p:nvSpPr>
        <p:spPr>
          <a:xfrm>
            <a:off x="2651760" y="2834640"/>
            <a:ext cx="457200" cy="384048"/>
          </a:xfrm>
          <a:prstGeom prst="roundRect">
            <a:avLst>
              <a:gd name="adj" fmla="val 35000"/>
            </a:avLst>
          </a:prstGeom>
          <a:solidFill>
            <a:srgbClr val="F1F5F9"/>
          </a:solidFill>
          <a:ln w="1397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651760" y="2834640"/>
            <a:ext cx="457200" cy="384048"/>
          </a:xfrm>
          <a:prstGeom prst="rect">
            <a:avLst/>
          </a:prstGeom>
          <a:noFill/>
        </p:spPr>
        <p:txBody>
          <a:bodyPr wrap="square" lIns="36576" tIns="18288" rIns="36576" bIns="18288" anchor="ctr">
            <a:spAutoFit/>
          </a:bodyPr>
          <a:lstStyle/>
          <a:p>
            <a:pPr algn="ctr">
              <a:lnSpc>
                <a:spcPct val="100000"/>
              </a:lnSpc>
              <a:spcAft>
                <a:spcPts val="0"/>
              </a:spcAft>
            </a:pPr>
            <a:r>
              <a:rPr sz="900" b="1" i="0">
                <a:solidFill>
                  <a:srgbClr val="0F172A"/>
                </a:solidFill>
                <a:latin typeface="Segoe UI"/>
              </a:rPr>
              <a:t>P</a:t>
            </a:r>
          </a:p>
        </p:txBody>
      </p:sp>
      <p:sp>
        <p:nvSpPr>
          <p:cNvPr id="15" name="Rounded Rectangle 14"/>
          <p:cNvSpPr/>
          <p:nvPr/>
        </p:nvSpPr>
        <p:spPr>
          <a:xfrm>
            <a:off x="3520440" y="2834640"/>
            <a:ext cx="457200" cy="384048"/>
          </a:xfrm>
          <a:prstGeom prst="roundRect">
            <a:avLst>
              <a:gd name="adj" fmla="val 35000"/>
            </a:avLst>
          </a:prstGeom>
          <a:solidFill>
            <a:srgbClr val="F1F5F9"/>
          </a:solidFill>
          <a:ln w="1397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20440" y="2834640"/>
            <a:ext cx="457200" cy="384048"/>
          </a:xfrm>
          <a:prstGeom prst="rect">
            <a:avLst/>
          </a:prstGeom>
          <a:noFill/>
        </p:spPr>
        <p:txBody>
          <a:bodyPr wrap="square" lIns="36576" tIns="18288" rIns="36576" bIns="18288" anchor="ctr">
            <a:spAutoFit/>
          </a:bodyPr>
          <a:lstStyle/>
          <a:p>
            <a:pPr algn="ctr">
              <a:lnSpc>
                <a:spcPct val="100000"/>
              </a:lnSpc>
              <a:spcAft>
                <a:spcPts val="0"/>
              </a:spcAft>
            </a:pPr>
            <a:r>
              <a:rPr sz="900" b="1" i="0">
                <a:solidFill>
                  <a:srgbClr val="0F172A"/>
                </a:solidFill>
                <a:latin typeface="Segoe UI"/>
              </a:rPr>
              <a:t>0</a:t>
            </a:r>
          </a:p>
        </p:txBody>
      </p:sp>
      <p:cxnSp>
        <p:nvCxnSpPr>
          <p:cNvPr id="17" name="Connector 16"/>
          <p:cNvCxnSpPr/>
          <p:nvPr/>
        </p:nvCxnSpPr>
        <p:spPr>
          <a:xfrm>
            <a:off x="1527048" y="3026664"/>
            <a:ext cx="256032" cy="0"/>
          </a:xfrm>
          <a:prstGeom prst="line">
            <a:avLst/>
          </a:prstGeom>
          <a:ln w="1397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240280" y="3026664"/>
            <a:ext cx="411480" cy="0"/>
          </a:xfrm>
          <a:prstGeom prst="line">
            <a:avLst/>
          </a:prstGeom>
          <a:ln w="1397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108960" y="3026664"/>
            <a:ext cx="411480" cy="0"/>
          </a:xfrm>
          <a:prstGeom prst="line">
            <a:avLst/>
          </a:prstGeom>
          <a:ln w="13970">
            <a:solidFill>
              <a:srgbClr val="64748B"/>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434840" y="1783080"/>
            <a:ext cx="960120" cy="365760"/>
          </a:xfrm>
          <a:prstGeom prst="roundRect">
            <a:avLst>
              <a:gd name="adj" fmla="val 35000"/>
            </a:avLst>
          </a:prstGeom>
          <a:solidFill>
            <a:srgbClr val="E6FFFA"/>
          </a:solidFill>
          <a:ln w="1397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434840" y="1783080"/>
            <a:ext cx="960120" cy="365760"/>
          </a:xfrm>
          <a:prstGeom prst="rect">
            <a:avLst/>
          </a:prstGeom>
          <a:noFill/>
        </p:spPr>
        <p:txBody>
          <a:bodyPr wrap="square" lIns="36576" tIns="18288" rIns="36576" bIns="18288" anchor="ctr">
            <a:spAutoFit/>
          </a:bodyPr>
          <a:lstStyle/>
          <a:p>
            <a:pPr algn="ctr">
              <a:lnSpc>
                <a:spcPct val="100000"/>
              </a:lnSpc>
              <a:spcAft>
                <a:spcPts val="0"/>
              </a:spcAft>
            </a:pPr>
            <a:r>
              <a:rPr sz="860" b="1" i="0">
                <a:solidFill>
                  <a:srgbClr val="0F172A"/>
                </a:solidFill>
                <a:latin typeface="Segoe UI"/>
              </a:rPr>
              <a:t>SP01</a:t>
            </a:r>
          </a:p>
        </p:txBody>
      </p:sp>
      <p:cxnSp>
        <p:nvCxnSpPr>
          <p:cNvPr id="22" name="Connector 21"/>
          <p:cNvCxnSpPr/>
          <p:nvPr/>
        </p:nvCxnSpPr>
        <p:spPr>
          <a:xfrm flipV="1">
            <a:off x="3977639" y="1965960"/>
            <a:ext cx="457201" cy="1060704"/>
          </a:xfrm>
          <a:prstGeom prst="line">
            <a:avLst/>
          </a:prstGeom>
          <a:ln w="12700">
            <a:solidFill>
              <a:srgbClr val="0F766E"/>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434840" y="2450592"/>
            <a:ext cx="960120" cy="365760"/>
          </a:xfrm>
          <a:prstGeom prst="roundRect">
            <a:avLst>
              <a:gd name="adj" fmla="val 35000"/>
            </a:avLst>
          </a:prstGeom>
          <a:solidFill>
            <a:srgbClr val="E6FFFA"/>
          </a:solidFill>
          <a:ln w="1397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434840" y="2450592"/>
            <a:ext cx="960120" cy="365760"/>
          </a:xfrm>
          <a:prstGeom prst="rect">
            <a:avLst/>
          </a:prstGeom>
          <a:noFill/>
        </p:spPr>
        <p:txBody>
          <a:bodyPr wrap="square" lIns="36576" tIns="18288" rIns="36576" bIns="18288" anchor="ctr">
            <a:spAutoFit/>
          </a:bodyPr>
          <a:lstStyle/>
          <a:p>
            <a:pPr algn="ctr">
              <a:lnSpc>
                <a:spcPct val="100000"/>
              </a:lnSpc>
              <a:spcAft>
                <a:spcPts val="0"/>
              </a:spcAft>
            </a:pPr>
            <a:r>
              <a:rPr sz="860" b="1" i="0">
                <a:solidFill>
                  <a:srgbClr val="0F172A"/>
                </a:solidFill>
                <a:latin typeface="Segoe UI"/>
              </a:rPr>
              <a:t>SP02</a:t>
            </a:r>
          </a:p>
        </p:txBody>
      </p:sp>
      <p:cxnSp>
        <p:nvCxnSpPr>
          <p:cNvPr id="25" name="Connector 24"/>
          <p:cNvCxnSpPr/>
          <p:nvPr/>
        </p:nvCxnSpPr>
        <p:spPr>
          <a:xfrm flipV="1">
            <a:off x="3977639" y="2633472"/>
            <a:ext cx="457201" cy="393192"/>
          </a:xfrm>
          <a:prstGeom prst="line">
            <a:avLst/>
          </a:prstGeom>
          <a:ln w="12700">
            <a:solidFill>
              <a:srgbClr val="0F766E"/>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4434840" y="3118104"/>
            <a:ext cx="960120" cy="365760"/>
          </a:xfrm>
          <a:prstGeom prst="roundRect">
            <a:avLst>
              <a:gd name="adj" fmla="val 35000"/>
            </a:avLst>
          </a:prstGeom>
          <a:solidFill>
            <a:srgbClr val="E6FFFA"/>
          </a:solidFill>
          <a:ln w="1397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434840" y="3118104"/>
            <a:ext cx="960120" cy="365760"/>
          </a:xfrm>
          <a:prstGeom prst="rect">
            <a:avLst/>
          </a:prstGeom>
          <a:noFill/>
        </p:spPr>
        <p:txBody>
          <a:bodyPr wrap="square" lIns="36576" tIns="18288" rIns="36576" bIns="18288" anchor="ctr">
            <a:spAutoFit/>
          </a:bodyPr>
          <a:lstStyle/>
          <a:p>
            <a:pPr algn="ctr">
              <a:lnSpc>
                <a:spcPct val="100000"/>
              </a:lnSpc>
              <a:spcAft>
                <a:spcPts val="0"/>
              </a:spcAft>
            </a:pPr>
            <a:r>
              <a:rPr sz="860" b="1" i="0">
                <a:solidFill>
                  <a:srgbClr val="0F172A"/>
                </a:solidFill>
                <a:latin typeface="Segoe UI"/>
              </a:rPr>
              <a:t>SP03</a:t>
            </a:r>
          </a:p>
        </p:txBody>
      </p:sp>
      <p:cxnSp>
        <p:nvCxnSpPr>
          <p:cNvPr id="28" name="Connector 27"/>
          <p:cNvCxnSpPr/>
          <p:nvPr/>
        </p:nvCxnSpPr>
        <p:spPr>
          <a:xfrm>
            <a:off x="3977639" y="3026664"/>
            <a:ext cx="457201" cy="274320"/>
          </a:xfrm>
          <a:prstGeom prst="line">
            <a:avLst/>
          </a:prstGeom>
          <a:ln w="12700">
            <a:solidFill>
              <a:srgbClr val="0F766E"/>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4434840" y="4114800"/>
            <a:ext cx="960120" cy="365760"/>
          </a:xfrm>
          <a:prstGeom prst="roundRect">
            <a:avLst>
              <a:gd name="adj" fmla="val 35000"/>
            </a:avLst>
          </a:prstGeom>
          <a:solidFill>
            <a:srgbClr val="E6FFFA"/>
          </a:solidFill>
          <a:ln w="1397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434840" y="4114800"/>
            <a:ext cx="960120" cy="365760"/>
          </a:xfrm>
          <a:prstGeom prst="rect">
            <a:avLst/>
          </a:prstGeom>
          <a:noFill/>
        </p:spPr>
        <p:txBody>
          <a:bodyPr wrap="square" lIns="36576" tIns="18288" rIns="36576" bIns="18288" anchor="ctr">
            <a:spAutoFit/>
          </a:bodyPr>
          <a:lstStyle/>
          <a:p>
            <a:pPr algn="ctr">
              <a:lnSpc>
                <a:spcPct val="100000"/>
              </a:lnSpc>
              <a:spcAft>
                <a:spcPts val="0"/>
              </a:spcAft>
            </a:pPr>
            <a:r>
              <a:rPr sz="860" b="1" i="0">
                <a:solidFill>
                  <a:srgbClr val="0F172A"/>
                </a:solidFill>
                <a:latin typeface="Segoe UI"/>
              </a:rPr>
              <a:t>… SP07</a:t>
            </a:r>
          </a:p>
        </p:txBody>
      </p:sp>
      <p:cxnSp>
        <p:nvCxnSpPr>
          <p:cNvPr id="31" name="Connector 30"/>
          <p:cNvCxnSpPr/>
          <p:nvPr/>
        </p:nvCxnSpPr>
        <p:spPr>
          <a:xfrm>
            <a:off x="3977639" y="3026664"/>
            <a:ext cx="457201" cy="1271016"/>
          </a:xfrm>
          <a:prstGeom prst="line">
            <a:avLst/>
          </a:prstGeom>
          <a:ln w="12700">
            <a:solidFill>
              <a:srgbClr val="0F766E"/>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1197864" y="3218688"/>
            <a:ext cx="2551175" cy="0"/>
          </a:xfrm>
          <a:prstGeom prst="line">
            <a:avLst/>
          </a:prstGeom>
          <a:ln w="12700">
            <a:solidFill>
              <a:srgbClr val="BE123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417320" y="3346704"/>
            <a:ext cx="2011680" cy="201168"/>
          </a:xfrm>
          <a:prstGeom prst="rect">
            <a:avLst/>
          </a:prstGeom>
          <a:noFill/>
        </p:spPr>
        <p:txBody>
          <a:bodyPr wrap="square" lIns="36576" tIns="18288" rIns="36576" bIns="18288" anchor="t">
            <a:spAutoFit/>
          </a:bodyPr>
          <a:lstStyle/>
          <a:p>
            <a:pPr algn="l">
              <a:lnSpc>
                <a:spcPct val="100000"/>
              </a:lnSpc>
              <a:spcAft>
                <a:spcPts val="0"/>
              </a:spcAft>
            </a:pPr>
            <a:r>
              <a:rPr sz="750" b="0" i="1">
                <a:solidFill>
                  <a:srgbClr val="BE123C"/>
                </a:solidFill>
                <a:latin typeface="Segoe UI"/>
              </a:rPr>
              <a:t>fail link (hậu tố dài nhất)</a:t>
            </a:r>
          </a:p>
        </p:txBody>
      </p:sp>
      <p:sp>
        <p:nvSpPr>
          <p:cNvPr id="34" name="TextBox 33"/>
          <p:cNvSpPr txBox="1"/>
          <p:nvPr/>
        </p:nvSpPr>
        <p:spPr>
          <a:xfrm>
            <a:off x="777240" y="4370832"/>
            <a:ext cx="5074920" cy="347472"/>
          </a:xfrm>
          <a:prstGeom prst="rect">
            <a:avLst/>
          </a:prstGeom>
          <a:noFill/>
        </p:spPr>
        <p:txBody>
          <a:bodyPr wrap="square" lIns="36576" tIns="18288" rIns="36576" bIns="18288" anchor="t">
            <a:spAutoFit/>
          </a:bodyPr>
          <a:lstStyle/>
          <a:p>
            <a:pPr algn="l">
              <a:lnSpc>
                <a:spcPct val="100000"/>
              </a:lnSpc>
              <a:spcAft>
                <a:spcPts val="0"/>
              </a:spcAft>
            </a:pPr>
            <a:r>
              <a:rPr sz="830" b="0" i="0">
                <a:solidFill>
                  <a:srgbClr val="64748B"/>
                </a:solidFill>
                <a:latin typeface="Segoe UI"/>
              </a:rPr>
              <a:t>Không khớp → lùi theo fail link thay vì quay lại đầu chuỗi.</a:t>
            </a:r>
          </a:p>
          <a:p>
            <a:pPr algn="l">
              <a:lnSpc>
                <a:spcPct val="100000"/>
              </a:lnSpc>
              <a:spcAft>
                <a:spcPts val="0"/>
              </a:spcAft>
            </a:pPr>
            <a:r>
              <a:rPr sz="830" b="0" i="0">
                <a:solidFill>
                  <a:srgbClr val="64748B"/>
                </a:solidFill>
                <a:latin typeface="Segoe UI"/>
              </a:rPr>
              <a:t>Output của nút được lan truyền theo fail link.</a:t>
            </a:r>
          </a:p>
        </p:txBody>
      </p:sp>
      <p:sp>
        <p:nvSpPr>
          <p:cNvPr id="35" name="Rounded Rectangle 34"/>
          <p:cNvSpPr/>
          <p:nvPr/>
        </p:nvSpPr>
        <p:spPr>
          <a:xfrm>
            <a:off x="6199632" y="1298448"/>
            <a:ext cx="5394960" cy="35204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382512" y="1417320"/>
            <a:ext cx="5029200" cy="256032"/>
          </a:xfrm>
          <a:prstGeom prst="rect">
            <a:avLst/>
          </a:prstGeom>
          <a:noFill/>
        </p:spPr>
        <p:txBody>
          <a:bodyPr wrap="square" lIns="36576" tIns="18288" rIns="36576" bIns="18288" anchor="t">
            <a:spAutoFit/>
          </a:bodyPr>
          <a:lstStyle/>
          <a:p>
            <a:pPr algn="l">
              <a:lnSpc>
                <a:spcPct val="100000"/>
              </a:lnSpc>
              <a:spcAft>
                <a:spcPts val="0"/>
              </a:spcAft>
            </a:pPr>
            <a:r>
              <a:rPr sz="1100" b="1" i="0">
                <a:solidFill>
                  <a:srgbClr val="0F172A"/>
                </a:solidFill>
                <a:latin typeface="Segoe UI"/>
              </a:rPr>
              <a:t>Một lượt quét làm gì?</a:t>
            </a:r>
          </a:p>
        </p:txBody>
      </p:sp>
      <p:sp>
        <p:nvSpPr>
          <p:cNvPr id="37" name="Oval 36"/>
          <p:cNvSpPr/>
          <p:nvPr/>
        </p:nvSpPr>
        <p:spPr>
          <a:xfrm>
            <a:off x="6400800" y="1801368"/>
            <a:ext cx="228600" cy="2286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i="0">
                <a:solidFill>
                  <a:srgbClr val="FFFFFF"/>
                </a:solidFill>
                <a:latin typeface="Segoe UI"/>
              </a:rPr>
              <a:t>1</a:t>
            </a:r>
          </a:p>
        </p:txBody>
      </p:sp>
      <p:sp>
        <p:nvSpPr>
          <p:cNvPr id="38" name="TextBox 37"/>
          <p:cNvSpPr txBox="1"/>
          <p:nvPr/>
        </p:nvSpPr>
        <p:spPr>
          <a:xfrm>
            <a:off x="6711696" y="1783080"/>
            <a:ext cx="1234440" cy="219456"/>
          </a:xfrm>
          <a:prstGeom prst="rect">
            <a:avLst/>
          </a:prstGeom>
          <a:noFill/>
        </p:spPr>
        <p:txBody>
          <a:bodyPr wrap="square" lIns="36576" tIns="18288" rIns="36576" bIns="18288" anchor="t">
            <a:spAutoFit/>
          </a:bodyPr>
          <a:lstStyle/>
          <a:p>
            <a:pPr algn="l">
              <a:lnSpc>
                <a:spcPct val="100000"/>
              </a:lnSpc>
              <a:spcAft>
                <a:spcPts val="0"/>
              </a:spcAft>
            </a:pPr>
            <a:r>
              <a:rPr sz="919" b="1" i="0">
                <a:solidFill>
                  <a:srgbClr val="0F766E"/>
                </a:solidFill>
                <a:latin typeface="Segoe UI"/>
              </a:rPr>
              <a:t>Dựng trie</a:t>
            </a:r>
          </a:p>
        </p:txBody>
      </p:sp>
      <p:sp>
        <p:nvSpPr>
          <p:cNvPr id="39" name="TextBox 38"/>
          <p:cNvSpPr txBox="1"/>
          <p:nvPr/>
        </p:nvSpPr>
        <p:spPr>
          <a:xfrm>
            <a:off x="7882127" y="1783080"/>
            <a:ext cx="3520440" cy="384048"/>
          </a:xfrm>
          <a:prstGeom prst="rect">
            <a:avLst/>
          </a:prstGeom>
          <a:noFill/>
        </p:spPr>
        <p:txBody>
          <a:bodyPr wrap="square" lIns="36576" tIns="18288" rIns="36576" bIns="18288" anchor="t">
            <a:spAutoFit/>
          </a:bodyPr>
          <a:lstStyle/>
          <a:p>
            <a:pPr algn="l">
              <a:lnSpc>
                <a:spcPct val="100000"/>
              </a:lnSpc>
              <a:spcAft>
                <a:spcPts val="0"/>
              </a:spcAft>
            </a:pPr>
            <a:r>
              <a:rPr sz="880" b="0" i="0">
                <a:solidFill>
                  <a:srgbClr val="1E293B"/>
                </a:solidFill>
                <a:latin typeface="Segoe UI"/>
              </a:rPr>
              <a:t>mỗi SKU là một đường đi; ký tự chuẩn hoá hoa/thường.</a:t>
            </a:r>
          </a:p>
        </p:txBody>
      </p:sp>
      <p:sp>
        <p:nvSpPr>
          <p:cNvPr id="40" name="Oval 39"/>
          <p:cNvSpPr/>
          <p:nvPr/>
        </p:nvSpPr>
        <p:spPr>
          <a:xfrm>
            <a:off x="6400800" y="2267712"/>
            <a:ext cx="228600" cy="2286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i="0">
                <a:solidFill>
                  <a:srgbClr val="FFFFFF"/>
                </a:solidFill>
                <a:latin typeface="Segoe UI"/>
              </a:rPr>
              <a:t>2</a:t>
            </a:r>
          </a:p>
        </p:txBody>
      </p:sp>
      <p:sp>
        <p:nvSpPr>
          <p:cNvPr id="41" name="TextBox 40"/>
          <p:cNvSpPr txBox="1"/>
          <p:nvPr/>
        </p:nvSpPr>
        <p:spPr>
          <a:xfrm>
            <a:off x="6711696" y="2249424"/>
            <a:ext cx="1234440" cy="219456"/>
          </a:xfrm>
          <a:prstGeom prst="rect">
            <a:avLst/>
          </a:prstGeom>
          <a:noFill/>
        </p:spPr>
        <p:txBody>
          <a:bodyPr wrap="square" lIns="36576" tIns="18288" rIns="36576" bIns="18288" anchor="t">
            <a:spAutoFit/>
          </a:bodyPr>
          <a:lstStyle/>
          <a:p>
            <a:pPr algn="l">
              <a:lnSpc>
                <a:spcPct val="100000"/>
              </a:lnSpc>
              <a:spcAft>
                <a:spcPts val="0"/>
              </a:spcAft>
            </a:pPr>
            <a:r>
              <a:rPr sz="919" b="1" i="0">
                <a:solidFill>
                  <a:srgbClr val="0F766E"/>
                </a:solidFill>
                <a:latin typeface="Segoe UI"/>
              </a:rPr>
              <a:t>Nối fail link</a:t>
            </a:r>
          </a:p>
        </p:txBody>
      </p:sp>
      <p:sp>
        <p:nvSpPr>
          <p:cNvPr id="42" name="TextBox 41"/>
          <p:cNvSpPr txBox="1"/>
          <p:nvPr/>
        </p:nvSpPr>
        <p:spPr>
          <a:xfrm>
            <a:off x="7882127" y="2249424"/>
            <a:ext cx="3520440" cy="384048"/>
          </a:xfrm>
          <a:prstGeom prst="rect">
            <a:avLst/>
          </a:prstGeom>
          <a:noFill/>
        </p:spPr>
        <p:txBody>
          <a:bodyPr wrap="square" lIns="36576" tIns="18288" rIns="36576" bIns="18288" anchor="t">
            <a:spAutoFit/>
          </a:bodyPr>
          <a:lstStyle/>
          <a:p>
            <a:pPr algn="l">
              <a:lnSpc>
                <a:spcPct val="100000"/>
              </a:lnSpc>
              <a:spcAft>
                <a:spcPts val="0"/>
              </a:spcAft>
            </a:pPr>
            <a:r>
              <a:rPr sz="880" b="0" i="0">
                <a:solidFill>
                  <a:srgbClr val="1E293B"/>
                </a:solidFill>
                <a:latin typeface="Segoe UI"/>
              </a:rPr>
              <a:t>BFS: hậu tố dài nhất của tiền tố hiện tại cũng là tiền tố khác.</a:t>
            </a:r>
          </a:p>
        </p:txBody>
      </p:sp>
      <p:sp>
        <p:nvSpPr>
          <p:cNvPr id="43" name="Oval 42"/>
          <p:cNvSpPr/>
          <p:nvPr/>
        </p:nvSpPr>
        <p:spPr>
          <a:xfrm>
            <a:off x="6400800" y="2734056"/>
            <a:ext cx="228600" cy="2286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i="0">
                <a:solidFill>
                  <a:srgbClr val="FFFFFF"/>
                </a:solidFill>
                <a:latin typeface="Segoe UI"/>
              </a:rPr>
              <a:t>3</a:t>
            </a:r>
          </a:p>
        </p:txBody>
      </p:sp>
      <p:sp>
        <p:nvSpPr>
          <p:cNvPr id="44" name="TextBox 43"/>
          <p:cNvSpPr txBox="1"/>
          <p:nvPr/>
        </p:nvSpPr>
        <p:spPr>
          <a:xfrm>
            <a:off x="6711696" y="2715768"/>
            <a:ext cx="1234440" cy="219456"/>
          </a:xfrm>
          <a:prstGeom prst="rect">
            <a:avLst/>
          </a:prstGeom>
          <a:noFill/>
        </p:spPr>
        <p:txBody>
          <a:bodyPr wrap="square" lIns="36576" tIns="18288" rIns="36576" bIns="18288" anchor="t">
            <a:spAutoFit/>
          </a:bodyPr>
          <a:lstStyle/>
          <a:p>
            <a:pPr algn="l">
              <a:lnSpc>
                <a:spcPct val="100000"/>
              </a:lnSpc>
              <a:spcAft>
                <a:spcPts val="0"/>
              </a:spcAft>
            </a:pPr>
            <a:r>
              <a:rPr sz="919" b="1" i="0">
                <a:solidFill>
                  <a:srgbClr val="0F766E"/>
                </a:solidFill>
                <a:latin typeface="Segoe UI"/>
              </a:rPr>
              <a:t>Quét text</a:t>
            </a:r>
          </a:p>
        </p:txBody>
      </p:sp>
      <p:sp>
        <p:nvSpPr>
          <p:cNvPr id="45" name="TextBox 44"/>
          <p:cNvSpPr txBox="1"/>
          <p:nvPr/>
        </p:nvSpPr>
        <p:spPr>
          <a:xfrm>
            <a:off x="7882127" y="2715768"/>
            <a:ext cx="3520440" cy="384048"/>
          </a:xfrm>
          <a:prstGeom prst="rect">
            <a:avLst/>
          </a:prstGeom>
          <a:noFill/>
        </p:spPr>
        <p:txBody>
          <a:bodyPr wrap="square" lIns="36576" tIns="18288" rIns="36576" bIns="18288" anchor="t">
            <a:spAutoFit/>
          </a:bodyPr>
          <a:lstStyle/>
          <a:p>
            <a:pPr algn="l">
              <a:lnSpc>
                <a:spcPct val="100000"/>
              </a:lnSpc>
              <a:spcAft>
                <a:spcPts val="0"/>
              </a:spcAft>
            </a:pPr>
            <a:r>
              <a:rPr sz="880" b="0" i="0">
                <a:solidFill>
                  <a:srgbClr val="1E293B"/>
                </a:solidFill>
                <a:latin typeface="Segoe UI"/>
              </a:rPr>
              <a:t>đi theo cạnh; không có cạnh thì lùi fail — không quay lại đầu.</a:t>
            </a:r>
          </a:p>
        </p:txBody>
      </p:sp>
      <p:sp>
        <p:nvSpPr>
          <p:cNvPr id="46" name="Oval 45"/>
          <p:cNvSpPr/>
          <p:nvPr/>
        </p:nvSpPr>
        <p:spPr>
          <a:xfrm>
            <a:off x="6400800" y="3200399"/>
            <a:ext cx="228600" cy="2286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i="0">
                <a:solidFill>
                  <a:srgbClr val="FFFFFF"/>
                </a:solidFill>
                <a:latin typeface="Segoe UI"/>
              </a:rPr>
              <a:t>4</a:t>
            </a:r>
          </a:p>
        </p:txBody>
      </p:sp>
      <p:sp>
        <p:nvSpPr>
          <p:cNvPr id="47" name="TextBox 46"/>
          <p:cNvSpPr txBox="1"/>
          <p:nvPr/>
        </p:nvSpPr>
        <p:spPr>
          <a:xfrm>
            <a:off x="6711696" y="3182111"/>
            <a:ext cx="1234440" cy="219456"/>
          </a:xfrm>
          <a:prstGeom prst="rect">
            <a:avLst/>
          </a:prstGeom>
          <a:noFill/>
        </p:spPr>
        <p:txBody>
          <a:bodyPr wrap="square" lIns="36576" tIns="18288" rIns="36576" bIns="18288" anchor="t">
            <a:spAutoFit/>
          </a:bodyPr>
          <a:lstStyle/>
          <a:p>
            <a:pPr algn="l">
              <a:lnSpc>
                <a:spcPct val="100000"/>
              </a:lnSpc>
              <a:spcAft>
                <a:spcPts val="0"/>
              </a:spcAft>
            </a:pPr>
            <a:r>
              <a:rPr sz="919" b="1" i="0">
                <a:solidFill>
                  <a:srgbClr val="0F766E"/>
                </a:solidFill>
                <a:latin typeface="Segoe UI"/>
              </a:rPr>
              <a:t>Chọn match</a:t>
            </a:r>
          </a:p>
        </p:txBody>
      </p:sp>
      <p:sp>
        <p:nvSpPr>
          <p:cNvPr id="48" name="TextBox 47"/>
          <p:cNvSpPr txBox="1"/>
          <p:nvPr/>
        </p:nvSpPr>
        <p:spPr>
          <a:xfrm>
            <a:off x="7882127" y="3182111"/>
            <a:ext cx="3520440" cy="384048"/>
          </a:xfrm>
          <a:prstGeom prst="rect">
            <a:avLst/>
          </a:prstGeom>
          <a:noFill/>
        </p:spPr>
        <p:txBody>
          <a:bodyPr wrap="square" lIns="36576" tIns="18288" rIns="36576" bIns="18288" anchor="t">
            <a:spAutoFit/>
          </a:bodyPr>
          <a:lstStyle/>
          <a:p>
            <a:pPr algn="l">
              <a:lnSpc>
                <a:spcPct val="100000"/>
              </a:lnSpc>
              <a:spcAft>
                <a:spcPts val="0"/>
              </a:spcAft>
            </a:pPr>
            <a:r>
              <a:rPr sz="880" b="0" i="0">
                <a:solidFill>
                  <a:srgbClr val="1E293B"/>
                </a:solidFill>
                <a:latin typeface="Segoe UI"/>
              </a:rPr>
              <a:t>mỗi vị trí bắt đầu chỉ giữ match DÀI NHẤT (SP010 thắng SP01).</a:t>
            </a:r>
          </a:p>
        </p:txBody>
      </p:sp>
      <p:sp>
        <p:nvSpPr>
          <p:cNvPr id="49" name="Oval 48"/>
          <p:cNvSpPr/>
          <p:nvPr/>
        </p:nvSpPr>
        <p:spPr>
          <a:xfrm>
            <a:off x="6400800" y="3666743"/>
            <a:ext cx="228600" cy="2286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i="0">
                <a:solidFill>
                  <a:srgbClr val="FFFFFF"/>
                </a:solidFill>
                <a:latin typeface="Segoe UI"/>
              </a:rPr>
              <a:t>5</a:t>
            </a:r>
          </a:p>
        </p:txBody>
      </p:sp>
      <p:sp>
        <p:nvSpPr>
          <p:cNvPr id="50" name="TextBox 49"/>
          <p:cNvSpPr txBox="1"/>
          <p:nvPr/>
        </p:nvSpPr>
        <p:spPr>
          <a:xfrm>
            <a:off x="6711696" y="3648455"/>
            <a:ext cx="1234440" cy="219456"/>
          </a:xfrm>
          <a:prstGeom prst="rect">
            <a:avLst/>
          </a:prstGeom>
          <a:noFill/>
        </p:spPr>
        <p:txBody>
          <a:bodyPr wrap="square" lIns="36576" tIns="18288" rIns="36576" bIns="18288" anchor="t">
            <a:spAutoFit/>
          </a:bodyPr>
          <a:lstStyle/>
          <a:p>
            <a:pPr algn="l">
              <a:lnSpc>
                <a:spcPct val="100000"/>
              </a:lnSpc>
              <a:spcAft>
                <a:spcPts val="0"/>
              </a:spcAft>
            </a:pPr>
            <a:r>
              <a:rPr sz="919" b="1" i="0">
                <a:solidFill>
                  <a:srgbClr val="0F766E"/>
                </a:solidFill>
                <a:latin typeface="Segoe UI"/>
              </a:rPr>
              <a:t>Word boundary</a:t>
            </a:r>
          </a:p>
        </p:txBody>
      </p:sp>
      <p:sp>
        <p:nvSpPr>
          <p:cNvPr id="51" name="TextBox 50"/>
          <p:cNvSpPr txBox="1"/>
          <p:nvPr/>
        </p:nvSpPr>
        <p:spPr>
          <a:xfrm>
            <a:off x="7882127" y="3648455"/>
            <a:ext cx="3520440" cy="384048"/>
          </a:xfrm>
          <a:prstGeom prst="rect">
            <a:avLst/>
          </a:prstGeom>
          <a:noFill/>
        </p:spPr>
        <p:txBody>
          <a:bodyPr wrap="square" lIns="36576" tIns="18288" rIns="36576" bIns="18288" anchor="t">
            <a:spAutoFit/>
          </a:bodyPr>
          <a:lstStyle/>
          <a:p>
            <a:pPr algn="l">
              <a:lnSpc>
                <a:spcPct val="100000"/>
              </a:lnSpc>
              <a:spcAft>
                <a:spcPts val="0"/>
              </a:spcAft>
            </a:pPr>
            <a:r>
              <a:rPr sz="880" b="0" i="0">
                <a:solidFill>
                  <a:srgbClr val="1E293B"/>
                </a:solidFill>
                <a:latin typeface="Segoe UI"/>
              </a:rPr>
              <a:t>ký tự trước/sau không thuộc [A-Z0-9_] → SP01 không khớp trong SP010.</a:t>
            </a:r>
          </a:p>
        </p:txBody>
      </p:sp>
      <p:sp>
        <p:nvSpPr>
          <p:cNvPr id="52" name="Oval 51"/>
          <p:cNvSpPr/>
          <p:nvPr/>
        </p:nvSpPr>
        <p:spPr>
          <a:xfrm>
            <a:off x="6400800" y="4133087"/>
            <a:ext cx="228600" cy="2286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i="0">
                <a:solidFill>
                  <a:srgbClr val="FFFFFF"/>
                </a:solidFill>
                <a:latin typeface="Segoe UI"/>
              </a:rPr>
              <a:t>6</a:t>
            </a:r>
          </a:p>
        </p:txBody>
      </p:sp>
      <p:sp>
        <p:nvSpPr>
          <p:cNvPr id="53" name="TextBox 52"/>
          <p:cNvSpPr txBox="1"/>
          <p:nvPr/>
        </p:nvSpPr>
        <p:spPr>
          <a:xfrm>
            <a:off x="6711696" y="4114799"/>
            <a:ext cx="1234440" cy="219456"/>
          </a:xfrm>
          <a:prstGeom prst="rect">
            <a:avLst/>
          </a:prstGeom>
          <a:noFill/>
        </p:spPr>
        <p:txBody>
          <a:bodyPr wrap="square" lIns="36576" tIns="18288" rIns="36576" bIns="18288" anchor="t">
            <a:spAutoFit/>
          </a:bodyPr>
          <a:lstStyle/>
          <a:p>
            <a:pPr algn="l">
              <a:lnSpc>
                <a:spcPct val="100000"/>
              </a:lnSpc>
              <a:spcAft>
                <a:spcPts val="0"/>
              </a:spcAft>
            </a:pPr>
            <a:r>
              <a:rPr sz="919" b="1" i="0">
                <a:solidFill>
                  <a:srgbClr val="0F766E"/>
                </a:solidFill>
                <a:latin typeface="Segoe UI"/>
              </a:rPr>
              <a:t>Trả kết quả</a:t>
            </a:r>
          </a:p>
        </p:txBody>
      </p:sp>
      <p:sp>
        <p:nvSpPr>
          <p:cNvPr id="54" name="TextBox 53"/>
          <p:cNvSpPr txBox="1"/>
          <p:nvPr/>
        </p:nvSpPr>
        <p:spPr>
          <a:xfrm>
            <a:off x="7882127" y="4114799"/>
            <a:ext cx="3520440" cy="384048"/>
          </a:xfrm>
          <a:prstGeom prst="rect">
            <a:avLst/>
          </a:prstGeom>
          <a:noFill/>
        </p:spPr>
        <p:txBody>
          <a:bodyPr wrap="square" lIns="36576" tIns="18288" rIns="36576" bIns="18288" anchor="t">
            <a:spAutoFit/>
          </a:bodyPr>
          <a:lstStyle/>
          <a:p>
            <a:pPr algn="l">
              <a:lnSpc>
                <a:spcPct val="100000"/>
              </a:lnSpc>
              <a:spcAft>
                <a:spcPts val="0"/>
              </a:spcAft>
            </a:pPr>
            <a:r>
              <a:rPr sz="880" b="0" i="0">
                <a:solidFill>
                  <a:srgbClr val="1E293B"/>
                </a:solidFill>
                <a:latin typeface="Segoe UI"/>
              </a:rPr>
              <a:t>start/end UTF-16 trên chính chuỗi đã che → highlight không lệch.</a:t>
            </a:r>
          </a:p>
        </p:txBody>
      </p:sp>
      <p:sp>
        <p:nvSpPr>
          <p:cNvPr id="55" name="Rounded Rectangle 54"/>
          <p:cNvSpPr/>
          <p:nvPr/>
        </p:nvSpPr>
        <p:spPr>
          <a:xfrm>
            <a:off x="594360" y="5074920"/>
            <a:ext cx="2633472" cy="10058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731520" y="5138928"/>
            <a:ext cx="2331720" cy="201168"/>
          </a:xfrm>
          <a:prstGeom prst="rect">
            <a:avLst/>
          </a:prstGeom>
          <a:noFill/>
        </p:spPr>
        <p:txBody>
          <a:bodyPr wrap="square" lIns="36576" tIns="18288" rIns="36576" bIns="18288" anchor="t">
            <a:spAutoFit/>
          </a:bodyPr>
          <a:lstStyle/>
          <a:p>
            <a:pPr algn="l">
              <a:lnSpc>
                <a:spcPct val="100000"/>
              </a:lnSpc>
              <a:spcAft>
                <a:spcPts val="0"/>
              </a:spcAft>
            </a:pPr>
            <a:r>
              <a:rPr sz="750" b="1" i="0">
                <a:solidFill>
                  <a:srgbClr val="64748B"/>
                </a:solidFill>
                <a:latin typeface="Segoe UI"/>
              </a:rPr>
              <a:t>BUILD</a:t>
            </a:r>
          </a:p>
        </p:txBody>
      </p:sp>
      <p:sp>
        <p:nvSpPr>
          <p:cNvPr id="57" name="TextBox 56"/>
          <p:cNvSpPr txBox="1"/>
          <p:nvPr/>
        </p:nvSpPr>
        <p:spPr>
          <a:xfrm>
            <a:off x="731520" y="5358384"/>
            <a:ext cx="2331720" cy="256032"/>
          </a:xfrm>
          <a:prstGeom prst="rect">
            <a:avLst/>
          </a:prstGeom>
          <a:noFill/>
        </p:spPr>
        <p:txBody>
          <a:bodyPr wrap="square" lIns="36576" tIns="18288" rIns="36576" bIns="18288" anchor="t">
            <a:spAutoFit/>
          </a:bodyPr>
          <a:lstStyle/>
          <a:p>
            <a:pPr algn="l">
              <a:lnSpc>
                <a:spcPct val="100000"/>
              </a:lnSpc>
              <a:spcAft>
                <a:spcPts val="0"/>
              </a:spcAft>
            </a:pPr>
            <a:r>
              <a:rPr sz="1300" b="1" i="0">
                <a:solidFill>
                  <a:srgbClr val="0F766E"/>
                </a:solidFill>
                <a:latin typeface="Segoe UI"/>
              </a:rPr>
              <a:t>O(Σ |SKU|)</a:t>
            </a:r>
          </a:p>
        </p:txBody>
      </p:sp>
      <p:sp>
        <p:nvSpPr>
          <p:cNvPr id="58" name="TextBox 57"/>
          <p:cNvSpPr txBox="1"/>
          <p:nvPr/>
        </p:nvSpPr>
        <p:spPr>
          <a:xfrm>
            <a:off x="731520" y="5650992"/>
            <a:ext cx="2331720" cy="320040"/>
          </a:xfrm>
          <a:prstGeom prst="rect">
            <a:avLst/>
          </a:prstGeom>
          <a:noFill/>
        </p:spPr>
        <p:txBody>
          <a:bodyPr wrap="square" lIns="36576" tIns="18288" rIns="36576" bIns="18288" anchor="t">
            <a:spAutoFit/>
          </a:bodyPr>
          <a:lstStyle/>
          <a:p>
            <a:pPr algn="l">
              <a:lnSpc>
                <a:spcPct val="100000"/>
              </a:lnSpc>
              <a:spcAft>
                <a:spcPts val="0"/>
              </a:spcAft>
            </a:pPr>
            <a:r>
              <a:rPr sz="780" b="0" i="0">
                <a:solidFill>
                  <a:srgbClr val="64748B"/>
                </a:solidFill>
                <a:latin typeface="Segoe UI"/>
              </a:rPr>
              <a:t>dựng một lần / phiên live</a:t>
            </a:r>
          </a:p>
        </p:txBody>
      </p:sp>
      <p:sp>
        <p:nvSpPr>
          <p:cNvPr id="59" name="Rounded Rectangle 58"/>
          <p:cNvSpPr/>
          <p:nvPr/>
        </p:nvSpPr>
        <p:spPr>
          <a:xfrm>
            <a:off x="3337560" y="5074920"/>
            <a:ext cx="2633472" cy="10058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3474720" y="5138928"/>
            <a:ext cx="2331720" cy="201168"/>
          </a:xfrm>
          <a:prstGeom prst="rect">
            <a:avLst/>
          </a:prstGeom>
          <a:noFill/>
        </p:spPr>
        <p:txBody>
          <a:bodyPr wrap="square" lIns="36576" tIns="18288" rIns="36576" bIns="18288" anchor="t">
            <a:spAutoFit/>
          </a:bodyPr>
          <a:lstStyle/>
          <a:p>
            <a:pPr algn="l">
              <a:lnSpc>
                <a:spcPct val="100000"/>
              </a:lnSpc>
              <a:spcAft>
                <a:spcPts val="0"/>
              </a:spcAft>
            </a:pPr>
            <a:r>
              <a:rPr sz="750" b="1" i="0">
                <a:solidFill>
                  <a:srgbClr val="64748B"/>
                </a:solidFill>
                <a:latin typeface="Segoe UI"/>
              </a:rPr>
              <a:t>QUÉT</a:t>
            </a:r>
          </a:p>
        </p:txBody>
      </p:sp>
      <p:sp>
        <p:nvSpPr>
          <p:cNvPr id="61" name="TextBox 60"/>
          <p:cNvSpPr txBox="1"/>
          <p:nvPr/>
        </p:nvSpPr>
        <p:spPr>
          <a:xfrm>
            <a:off x="3474720" y="5358384"/>
            <a:ext cx="2331720" cy="256032"/>
          </a:xfrm>
          <a:prstGeom prst="rect">
            <a:avLst/>
          </a:prstGeom>
          <a:noFill/>
        </p:spPr>
        <p:txBody>
          <a:bodyPr wrap="square" lIns="36576" tIns="18288" rIns="36576" bIns="18288" anchor="t">
            <a:spAutoFit/>
          </a:bodyPr>
          <a:lstStyle/>
          <a:p>
            <a:pPr algn="l">
              <a:lnSpc>
                <a:spcPct val="100000"/>
              </a:lnSpc>
              <a:spcAft>
                <a:spcPts val="0"/>
              </a:spcAft>
            </a:pPr>
            <a:r>
              <a:rPr sz="1300" b="1" i="0">
                <a:solidFill>
                  <a:srgbClr val="0F766E"/>
                </a:solidFill>
                <a:latin typeface="Segoe UI"/>
              </a:rPr>
              <a:t>O(n + matches)</a:t>
            </a:r>
          </a:p>
        </p:txBody>
      </p:sp>
      <p:sp>
        <p:nvSpPr>
          <p:cNvPr id="62" name="TextBox 61"/>
          <p:cNvSpPr txBox="1"/>
          <p:nvPr/>
        </p:nvSpPr>
        <p:spPr>
          <a:xfrm>
            <a:off x="3474720" y="5650992"/>
            <a:ext cx="2331720" cy="320040"/>
          </a:xfrm>
          <a:prstGeom prst="rect">
            <a:avLst/>
          </a:prstGeom>
          <a:noFill/>
        </p:spPr>
        <p:txBody>
          <a:bodyPr wrap="square" lIns="36576" tIns="18288" rIns="36576" bIns="18288" anchor="t">
            <a:spAutoFit/>
          </a:bodyPr>
          <a:lstStyle/>
          <a:p>
            <a:pPr algn="l">
              <a:lnSpc>
                <a:spcPct val="100000"/>
              </a:lnSpc>
              <a:spcAft>
                <a:spcPts val="0"/>
              </a:spcAft>
            </a:pPr>
            <a:r>
              <a:rPr sz="780" b="0" i="0">
                <a:solidFill>
                  <a:srgbClr val="64748B"/>
                </a:solidFill>
                <a:latin typeface="Segoe UI"/>
              </a:rPr>
              <a:t>một lượt trên toàn comment</a:t>
            </a:r>
          </a:p>
        </p:txBody>
      </p:sp>
      <p:sp>
        <p:nvSpPr>
          <p:cNvPr id="63" name="Rounded Rectangle 62"/>
          <p:cNvSpPr/>
          <p:nvPr/>
        </p:nvSpPr>
        <p:spPr>
          <a:xfrm>
            <a:off x="6080760" y="5074920"/>
            <a:ext cx="2633472" cy="10058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6217920" y="5138928"/>
            <a:ext cx="2331720" cy="201168"/>
          </a:xfrm>
          <a:prstGeom prst="rect">
            <a:avLst/>
          </a:prstGeom>
          <a:noFill/>
        </p:spPr>
        <p:txBody>
          <a:bodyPr wrap="square" lIns="36576" tIns="18288" rIns="36576" bIns="18288" anchor="t">
            <a:spAutoFit/>
          </a:bodyPr>
          <a:lstStyle/>
          <a:p>
            <a:pPr algn="l">
              <a:lnSpc>
                <a:spcPct val="100000"/>
              </a:lnSpc>
              <a:spcAft>
                <a:spcPts val="0"/>
              </a:spcAft>
            </a:pPr>
            <a:r>
              <a:rPr sz="750" b="1" i="0">
                <a:solidFill>
                  <a:srgbClr val="64748B"/>
                </a:solidFill>
                <a:latin typeface="Segoe UI"/>
              </a:rPr>
              <a:t>BỘ NHỚ</a:t>
            </a:r>
          </a:p>
        </p:txBody>
      </p:sp>
      <p:sp>
        <p:nvSpPr>
          <p:cNvPr id="65" name="TextBox 64"/>
          <p:cNvSpPr txBox="1"/>
          <p:nvPr/>
        </p:nvSpPr>
        <p:spPr>
          <a:xfrm>
            <a:off x="6217920" y="5358384"/>
            <a:ext cx="2331720" cy="256032"/>
          </a:xfrm>
          <a:prstGeom prst="rect">
            <a:avLst/>
          </a:prstGeom>
          <a:noFill/>
        </p:spPr>
        <p:txBody>
          <a:bodyPr wrap="square" lIns="36576" tIns="18288" rIns="36576" bIns="18288" anchor="t">
            <a:spAutoFit/>
          </a:bodyPr>
          <a:lstStyle/>
          <a:p>
            <a:pPr algn="l">
              <a:lnSpc>
                <a:spcPct val="100000"/>
              </a:lnSpc>
              <a:spcAft>
                <a:spcPts val="0"/>
              </a:spcAft>
            </a:pPr>
            <a:r>
              <a:rPr sz="1300" b="1" i="0">
                <a:solidFill>
                  <a:srgbClr val="0F766E"/>
                </a:solidFill>
                <a:latin typeface="Segoe UI"/>
              </a:rPr>
              <a:t>1 automaton / phiên</a:t>
            </a:r>
          </a:p>
        </p:txBody>
      </p:sp>
      <p:sp>
        <p:nvSpPr>
          <p:cNvPr id="66" name="TextBox 65"/>
          <p:cNvSpPr txBox="1"/>
          <p:nvPr/>
        </p:nvSpPr>
        <p:spPr>
          <a:xfrm>
            <a:off x="6217920" y="5650992"/>
            <a:ext cx="2331720" cy="320040"/>
          </a:xfrm>
          <a:prstGeom prst="rect">
            <a:avLst/>
          </a:prstGeom>
          <a:noFill/>
        </p:spPr>
        <p:txBody>
          <a:bodyPr wrap="square" lIns="36576" tIns="18288" rIns="36576" bIns="18288" anchor="t">
            <a:spAutoFit/>
          </a:bodyPr>
          <a:lstStyle/>
          <a:p>
            <a:pPr algn="l">
              <a:lnSpc>
                <a:spcPct val="100000"/>
              </a:lnSpc>
              <a:spcAft>
                <a:spcPts val="0"/>
              </a:spcAft>
            </a:pPr>
            <a:r>
              <a:rPr sz="780" b="0" i="0">
                <a:solidFill>
                  <a:srgbClr val="64748B"/>
                </a:solidFill>
                <a:latin typeface="Segoe UI"/>
              </a:rPr>
              <a:t>cache theo sessionId</a:t>
            </a:r>
          </a:p>
        </p:txBody>
      </p:sp>
      <p:sp>
        <p:nvSpPr>
          <p:cNvPr id="67" name="Rounded Rectangle 66"/>
          <p:cNvSpPr/>
          <p:nvPr/>
        </p:nvSpPr>
        <p:spPr>
          <a:xfrm>
            <a:off x="8823960" y="5074920"/>
            <a:ext cx="2633472" cy="10058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8961120" y="5138928"/>
            <a:ext cx="2331720" cy="201168"/>
          </a:xfrm>
          <a:prstGeom prst="rect">
            <a:avLst/>
          </a:prstGeom>
          <a:noFill/>
        </p:spPr>
        <p:txBody>
          <a:bodyPr wrap="square" lIns="36576" tIns="18288" rIns="36576" bIns="18288" anchor="t">
            <a:spAutoFit/>
          </a:bodyPr>
          <a:lstStyle/>
          <a:p>
            <a:pPr algn="l">
              <a:lnSpc>
                <a:spcPct val="100000"/>
              </a:lnSpc>
              <a:spcAft>
                <a:spcPts val="0"/>
              </a:spcAft>
            </a:pPr>
            <a:r>
              <a:rPr sz="750" b="1" i="0">
                <a:solidFill>
                  <a:srgbClr val="64748B"/>
                </a:solidFill>
                <a:latin typeface="Segoe UI"/>
              </a:rPr>
              <a:t>THỜI GIAN</a:t>
            </a:r>
          </a:p>
        </p:txBody>
      </p:sp>
      <p:sp>
        <p:nvSpPr>
          <p:cNvPr id="69" name="TextBox 68"/>
          <p:cNvSpPr txBox="1"/>
          <p:nvPr/>
        </p:nvSpPr>
        <p:spPr>
          <a:xfrm>
            <a:off x="8961120" y="5358384"/>
            <a:ext cx="2331720" cy="256032"/>
          </a:xfrm>
          <a:prstGeom prst="rect">
            <a:avLst/>
          </a:prstGeom>
          <a:noFill/>
        </p:spPr>
        <p:txBody>
          <a:bodyPr wrap="square" lIns="36576" tIns="18288" rIns="36576" bIns="18288" anchor="t">
            <a:spAutoFit/>
          </a:bodyPr>
          <a:lstStyle/>
          <a:p>
            <a:pPr algn="l">
              <a:lnSpc>
                <a:spcPct val="100000"/>
              </a:lnSpc>
              <a:spcAft>
                <a:spcPts val="0"/>
              </a:spcAft>
            </a:pPr>
            <a:r>
              <a:rPr sz="1300" b="1" i="0">
                <a:solidFill>
                  <a:srgbClr val="0F766E"/>
                </a:solidFill>
                <a:latin typeface="Segoe UI"/>
              </a:rPr>
              <a:t>đo thật</a:t>
            </a:r>
          </a:p>
        </p:txBody>
      </p:sp>
      <p:sp>
        <p:nvSpPr>
          <p:cNvPr id="70" name="TextBox 69"/>
          <p:cNvSpPr txBox="1"/>
          <p:nvPr/>
        </p:nvSpPr>
        <p:spPr>
          <a:xfrm>
            <a:off x="8961120" y="5650992"/>
            <a:ext cx="2331720" cy="320040"/>
          </a:xfrm>
          <a:prstGeom prst="rect">
            <a:avLst/>
          </a:prstGeom>
          <a:noFill/>
        </p:spPr>
        <p:txBody>
          <a:bodyPr wrap="square" lIns="36576" tIns="18288" rIns="36576" bIns="18288" anchor="t">
            <a:spAutoFit/>
          </a:bodyPr>
          <a:lstStyle/>
          <a:p>
            <a:pPr algn="l">
              <a:lnSpc>
                <a:spcPct val="100000"/>
              </a:lnSpc>
              <a:spcAft>
                <a:spcPts val="0"/>
              </a:spcAft>
            </a:pPr>
            <a:r>
              <a:rPr sz="780" b="0" i="0">
                <a:solidFill>
                  <a:srgbClr val="64748B"/>
                </a:solidFill>
                <a:latin typeface="Segoe UI"/>
              </a:rPr>
              <a:t>performance.now(), không hard-code</a:t>
            </a:r>
          </a:p>
        </p:txBody>
      </p:sp>
      <p:cxnSp>
        <p:nvCxnSpPr>
          <p:cNvPr id="71" name="Connector 70"/>
          <p:cNvCxnSpPr/>
          <p:nvPr/>
        </p:nvCxnSpPr>
        <p:spPr>
          <a:xfrm>
            <a:off x="594360" y="6492240"/>
            <a:ext cx="1100023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594360" y="6537960"/>
            <a:ext cx="7315200" cy="201168"/>
          </a:xfrm>
          <a:prstGeom prst="rect">
            <a:avLst/>
          </a:prstGeom>
          <a:noFill/>
        </p:spPr>
        <p:txBody>
          <a:bodyPr wrap="square" lIns="36576" tIns="18288" rIns="36576" bIns="18288" anchor="t">
            <a:spAutoFit/>
          </a:bodyPr>
          <a:lstStyle/>
          <a:p>
            <a:pPr algn="l">
              <a:lnSpc>
                <a:spcPct val="100000"/>
              </a:lnSpc>
              <a:spcAft>
                <a:spcPts val="0"/>
              </a:spcAft>
            </a:pPr>
            <a:r>
              <a:rPr sz="800" b="0" i="0">
                <a:solidFill>
                  <a:srgbClr val="94A3B8"/>
                </a:solidFill>
                <a:latin typeface="Segoe UI"/>
              </a:rPr>
              <a:t>LiveOrder · Pipeline toàn dự án · 2026</a:t>
            </a:r>
          </a:p>
        </p:txBody>
      </p:sp>
      <p:sp>
        <p:nvSpPr>
          <p:cNvPr id="73" name="TextBox 72"/>
          <p:cNvSpPr txBox="1"/>
          <p:nvPr/>
        </p:nvSpPr>
        <p:spPr>
          <a:xfrm>
            <a:off x="8229600" y="6537960"/>
            <a:ext cx="3364992" cy="201168"/>
          </a:xfrm>
          <a:prstGeom prst="rect">
            <a:avLst/>
          </a:prstGeom>
          <a:noFill/>
        </p:spPr>
        <p:txBody>
          <a:bodyPr wrap="square" lIns="36576" tIns="18288" rIns="36576" bIns="18288" anchor="t">
            <a:spAutoFit/>
          </a:bodyPr>
          <a:lstStyle/>
          <a:p>
            <a:pPr algn="r">
              <a:lnSpc>
                <a:spcPct val="100000"/>
              </a:lnSpc>
              <a:spcAft>
                <a:spcPts val="0"/>
              </a:spcAft>
            </a:pPr>
            <a:r>
              <a:rPr sz="800" b="0" i="0">
                <a:solidFill>
                  <a:srgbClr val="94A3B8"/>
                </a:solidFill>
                <a:latin typeface="Segoe UI"/>
              </a:rPr>
              <a:t>Aho-Corasick  ·  RAG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94360" y="274320"/>
            <a:ext cx="6400800" cy="228600"/>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0F766E"/>
                </a:solidFill>
                <a:latin typeface="Segoe UI"/>
              </a:rPr>
              <a:t>05 · CỐT LÕI ①</a:t>
            </a:r>
          </a:p>
        </p:txBody>
      </p:sp>
      <p:sp>
        <p:nvSpPr>
          <p:cNvPr id="4" name="TextBox 3"/>
          <p:cNvSpPr txBox="1"/>
          <p:nvPr/>
        </p:nvSpPr>
        <p:spPr>
          <a:xfrm>
            <a:off x="576072" y="493776"/>
            <a:ext cx="10424160" cy="502920"/>
          </a:xfrm>
          <a:prstGeom prst="rect">
            <a:avLst/>
          </a:prstGeom>
          <a:noFill/>
        </p:spPr>
        <p:txBody>
          <a:bodyPr wrap="square" lIns="36576" tIns="18288" rIns="36576" bIns="18288" anchor="t">
            <a:spAutoFit/>
          </a:bodyPr>
          <a:lstStyle/>
          <a:p>
            <a:pPr algn="l">
              <a:lnSpc>
                <a:spcPct val="100000"/>
              </a:lnSpc>
              <a:spcAft>
                <a:spcPts val="0"/>
              </a:spcAft>
            </a:pPr>
            <a:r>
              <a:rPr sz="2300" b="1" i="0">
                <a:solidFill>
                  <a:srgbClr val="0F172A"/>
                </a:solidFill>
                <a:latin typeface="Segoe UI"/>
              </a:rPr>
              <a:t>Comment → đơn: pipeline nguyên tử, chống trùng</a:t>
            </a:r>
          </a:p>
        </p:txBody>
      </p:sp>
      <p:sp>
        <p:nvSpPr>
          <p:cNvPr id="5" name="TextBox 4"/>
          <p:cNvSpPr txBox="1"/>
          <p:nvPr/>
        </p:nvSpPr>
        <p:spPr>
          <a:xfrm>
            <a:off x="10698480" y="283464"/>
            <a:ext cx="960120" cy="228600"/>
          </a:xfrm>
          <a:prstGeom prst="rect">
            <a:avLst/>
          </a:prstGeom>
          <a:noFill/>
        </p:spPr>
        <p:txBody>
          <a:bodyPr wrap="square" lIns="36576" tIns="18288" rIns="36576" bIns="18288" anchor="t">
            <a:spAutoFit/>
          </a:bodyPr>
          <a:lstStyle/>
          <a:p>
            <a:pPr algn="r">
              <a:lnSpc>
                <a:spcPct val="100000"/>
              </a:lnSpc>
              <a:spcAft>
                <a:spcPts val="0"/>
              </a:spcAft>
            </a:pPr>
            <a:r>
              <a:rPr sz="900" b="1" i="0">
                <a:solidFill>
                  <a:srgbClr val="94A3B8"/>
                </a:solidFill>
                <a:latin typeface="Segoe UI"/>
              </a:rPr>
              <a:t>06 / 13</a:t>
            </a:r>
          </a:p>
        </p:txBody>
      </p:sp>
      <p:sp>
        <p:nvSpPr>
          <p:cNvPr id="6" name="Rounded Rectangle 5"/>
          <p:cNvSpPr/>
          <p:nvPr/>
        </p:nvSpPr>
        <p:spPr>
          <a:xfrm>
            <a:off x="594360" y="1298448"/>
            <a:ext cx="2057400" cy="1993392"/>
          </a:xfrm>
          <a:prstGeom prst="roundRect">
            <a:avLst>
              <a:gd name="adj" fmla="val 12000"/>
            </a:avLst>
          </a:prstGeom>
          <a:solidFill>
            <a:srgbClr val="FFFFFF"/>
          </a:solidFill>
          <a:ln w="1397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13232" y="1417319"/>
            <a:ext cx="274320" cy="27432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Segoe UI"/>
              </a:rPr>
              <a:t>1</a:t>
            </a:r>
          </a:p>
        </p:txBody>
      </p:sp>
      <p:sp>
        <p:nvSpPr>
          <p:cNvPr id="8" name="TextBox 7"/>
          <p:cNvSpPr txBox="1"/>
          <p:nvPr/>
        </p:nvSpPr>
        <p:spPr>
          <a:xfrm>
            <a:off x="1051560" y="1389888"/>
            <a:ext cx="1527048" cy="347472"/>
          </a:xfrm>
          <a:prstGeom prst="rect">
            <a:avLst/>
          </a:prstGeom>
          <a:noFill/>
        </p:spPr>
        <p:txBody>
          <a:bodyPr wrap="square" lIns="36576" tIns="18288" rIns="36576" bIns="18288" anchor="t">
            <a:spAutoFit/>
          </a:bodyPr>
          <a:lstStyle/>
          <a:p>
            <a:pPr algn="l">
              <a:lnSpc>
                <a:spcPct val="92000"/>
              </a:lnSpc>
              <a:spcAft>
                <a:spcPts val="0"/>
              </a:spcAft>
            </a:pPr>
            <a:r>
              <a:rPr sz="1100" b="1" i="0">
                <a:solidFill>
                  <a:srgbClr val="0F172A"/>
                </a:solidFill>
                <a:latin typeface="Segoe UI"/>
              </a:rPr>
              <a:t>Nhận comment</a:t>
            </a:r>
          </a:p>
        </p:txBody>
      </p:sp>
      <p:sp>
        <p:nvSpPr>
          <p:cNvPr id="9" name="TextBox 8"/>
          <p:cNvSpPr txBox="1"/>
          <p:nvPr/>
        </p:nvSpPr>
        <p:spPr>
          <a:xfrm>
            <a:off x="713232" y="1801368"/>
            <a:ext cx="1819656" cy="1444752"/>
          </a:xfrm>
          <a:prstGeom prst="rect">
            <a:avLst/>
          </a:prstGeom>
          <a:noFill/>
        </p:spPr>
        <p:txBody>
          <a:bodyPr wrap="square" lIns="36576" tIns="18288" rIns="36576" bIns="18288" anchor="t">
            <a:spAutoFit/>
          </a:bodyPr>
          <a:lstStyle/>
          <a:p>
            <a:pPr algn="l">
              <a:lnSpc>
                <a:spcPct val="102000"/>
              </a:lnSpc>
              <a:spcAft>
                <a:spcPts val="0"/>
              </a:spcAft>
            </a:pPr>
            <a:r>
              <a:rPr sz="819" b="0" i="0">
                <a:solidFill>
                  <a:srgbClr val="64748B"/>
                </a:solidFill>
                <a:latin typeface="Segoe UI"/>
              </a:rPr>
              <a:t>socket /live · JWT handshake</a:t>
            </a:r>
          </a:p>
          <a:p>
            <a:pPr algn="l">
              <a:lnSpc>
                <a:spcPct val="102000"/>
              </a:lnSpc>
              <a:spcAft>
                <a:spcPts val="0"/>
              </a:spcAft>
            </a:pPr>
            <a:r>
              <a:rPr sz="819" b="0" i="0">
                <a:solidFill>
                  <a:srgbClr val="64748B"/>
                </a:solidFill>
                <a:latin typeface="Segoe UI"/>
              </a:rPr>
              <a:t>chỉ phiên LIVE · ≤200 ký tự</a:t>
            </a:r>
          </a:p>
          <a:p>
            <a:pPr algn="l">
              <a:lnSpc>
                <a:spcPct val="102000"/>
              </a:lnSpc>
              <a:spcAft>
                <a:spcPts val="0"/>
              </a:spcAft>
            </a:pPr>
            <a:r>
              <a:rPr sz="819" b="0" i="0">
                <a:solidFill>
                  <a:srgbClr val="64748B"/>
                </a:solidFill>
                <a:latin typeface="Segoe UI"/>
              </a:rPr>
              <a:t>che SĐT trước khi parse</a:t>
            </a:r>
          </a:p>
        </p:txBody>
      </p:sp>
      <p:cxnSp>
        <p:nvCxnSpPr>
          <p:cNvPr id="10" name="Connector 9"/>
          <p:cNvCxnSpPr/>
          <p:nvPr/>
        </p:nvCxnSpPr>
        <p:spPr>
          <a:xfrm>
            <a:off x="722376" y="2862072"/>
            <a:ext cx="1801368" cy="0"/>
          </a:xfrm>
          <a:prstGeom prst="line">
            <a:avLst/>
          </a:prstGeom>
          <a:ln w="9525">
            <a:solidFill>
              <a:srgbClr val="0F766E"/>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13232" y="2926080"/>
            <a:ext cx="1819656" cy="256032"/>
          </a:xfrm>
          <a:prstGeom prst="rect">
            <a:avLst/>
          </a:prstGeom>
          <a:noFill/>
        </p:spPr>
        <p:txBody>
          <a:bodyPr wrap="square" lIns="36576" tIns="18288" rIns="36576" bIns="18288" anchor="t">
            <a:spAutoFit/>
          </a:bodyPr>
          <a:lstStyle/>
          <a:p>
            <a:pPr algn="l">
              <a:lnSpc>
                <a:spcPct val="100000"/>
              </a:lnSpc>
              <a:spcAft>
                <a:spcPts val="0"/>
              </a:spcAft>
            </a:pPr>
            <a:r>
              <a:rPr sz="740" b="1" i="0">
                <a:solidFill>
                  <a:srgbClr val="0F766E"/>
                </a:solidFill>
                <a:latin typeface="Segoe UI"/>
              </a:rPr>
              <a:t>→ text hợp lệ</a:t>
            </a:r>
          </a:p>
        </p:txBody>
      </p:sp>
      <p:sp>
        <p:nvSpPr>
          <p:cNvPr id="12" name="Right Arrow 11"/>
          <p:cNvSpPr/>
          <p:nvPr/>
        </p:nvSpPr>
        <p:spPr>
          <a:xfrm>
            <a:off x="2660903" y="2194560"/>
            <a:ext cx="146304" cy="219456"/>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825496" y="1298448"/>
            <a:ext cx="2057400" cy="1993392"/>
          </a:xfrm>
          <a:prstGeom prst="roundRect">
            <a:avLst>
              <a:gd name="adj" fmla="val 12000"/>
            </a:avLst>
          </a:prstGeom>
          <a:solidFill>
            <a:srgbClr val="FFFFFF"/>
          </a:solidFill>
          <a:ln w="1397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44368" y="1417319"/>
            <a:ext cx="274320" cy="27432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Segoe UI"/>
              </a:rPr>
              <a:t>2</a:t>
            </a:r>
          </a:p>
        </p:txBody>
      </p:sp>
      <p:sp>
        <p:nvSpPr>
          <p:cNvPr id="15" name="TextBox 14"/>
          <p:cNvSpPr txBox="1"/>
          <p:nvPr/>
        </p:nvSpPr>
        <p:spPr>
          <a:xfrm>
            <a:off x="3282696" y="1389888"/>
            <a:ext cx="1527048" cy="347472"/>
          </a:xfrm>
          <a:prstGeom prst="rect">
            <a:avLst/>
          </a:prstGeom>
          <a:noFill/>
        </p:spPr>
        <p:txBody>
          <a:bodyPr wrap="square" lIns="36576" tIns="18288" rIns="36576" bIns="18288" anchor="t">
            <a:spAutoFit/>
          </a:bodyPr>
          <a:lstStyle/>
          <a:p>
            <a:pPr algn="l">
              <a:lnSpc>
                <a:spcPct val="92000"/>
              </a:lnSpc>
              <a:spcAft>
                <a:spcPts val="0"/>
              </a:spcAft>
            </a:pPr>
            <a:r>
              <a:rPr sz="1100" b="1" i="0">
                <a:solidFill>
                  <a:srgbClr val="0F172A"/>
                </a:solidFill>
                <a:latin typeface="Segoe UI"/>
              </a:rPr>
              <a:t>Aho-Corasick</a:t>
            </a:r>
          </a:p>
        </p:txBody>
      </p:sp>
      <p:sp>
        <p:nvSpPr>
          <p:cNvPr id="16" name="TextBox 15"/>
          <p:cNvSpPr txBox="1"/>
          <p:nvPr/>
        </p:nvSpPr>
        <p:spPr>
          <a:xfrm>
            <a:off x="2944368" y="1801368"/>
            <a:ext cx="1819656" cy="1444752"/>
          </a:xfrm>
          <a:prstGeom prst="rect">
            <a:avLst/>
          </a:prstGeom>
          <a:noFill/>
        </p:spPr>
        <p:txBody>
          <a:bodyPr wrap="square" lIns="36576" tIns="18288" rIns="36576" bIns="18288" anchor="t">
            <a:spAutoFit/>
          </a:bodyPr>
          <a:lstStyle/>
          <a:p>
            <a:pPr algn="l">
              <a:lnSpc>
                <a:spcPct val="102000"/>
              </a:lnSpc>
              <a:spcAft>
                <a:spcPts val="0"/>
              </a:spcAft>
            </a:pPr>
            <a:r>
              <a:rPr sz="819" b="0" i="0">
                <a:solidFill>
                  <a:srgbClr val="64748B"/>
                </a:solidFill>
                <a:latin typeface="Segoe UI"/>
              </a:rPr>
              <a:t>automaton cache theo phiên</a:t>
            </a:r>
          </a:p>
          <a:p>
            <a:pPr algn="l">
              <a:lnSpc>
                <a:spcPct val="102000"/>
              </a:lnSpc>
              <a:spcAft>
                <a:spcPts val="0"/>
              </a:spcAft>
            </a:pPr>
            <a:r>
              <a:rPr sz="819" b="0" i="0">
                <a:solidFill>
                  <a:srgbClr val="64748B"/>
                </a:solidFill>
                <a:latin typeface="Segoe UI"/>
              </a:rPr>
              <a:t>1 lượt quét · match ĐẦU TIÊN</a:t>
            </a:r>
          </a:p>
          <a:p>
            <a:pPr algn="l">
              <a:lnSpc>
                <a:spcPct val="102000"/>
              </a:lnSpc>
              <a:spcAft>
                <a:spcPts val="0"/>
              </a:spcAft>
            </a:pPr>
            <a:r>
              <a:rPr sz="819" b="0" i="0">
                <a:solidFill>
                  <a:srgbClr val="64748B"/>
                </a:solidFill>
                <a:latin typeface="Segoe UI"/>
              </a:rPr>
              <a:t>vị trí UTF-16 + ms thật</a:t>
            </a:r>
          </a:p>
        </p:txBody>
      </p:sp>
      <p:cxnSp>
        <p:nvCxnSpPr>
          <p:cNvPr id="17" name="Connector 16"/>
          <p:cNvCxnSpPr/>
          <p:nvPr/>
        </p:nvCxnSpPr>
        <p:spPr>
          <a:xfrm>
            <a:off x="2953512" y="2862072"/>
            <a:ext cx="1801368" cy="0"/>
          </a:xfrm>
          <a:prstGeom prst="line">
            <a:avLst/>
          </a:prstGeom>
          <a:ln w="9525">
            <a:solidFill>
              <a:srgbClr val="0F766E"/>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944368" y="2926080"/>
            <a:ext cx="1819656" cy="256032"/>
          </a:xfrm>
          <a:prstGeom prst="rect">
            <a:avLst/>
          </a:prstGeom>
          <a:noFill/>
        </p:spPr>
        <p:txBody>
          <a:bodyPr wrap="square" lIns="36576" tIns="18288" rIns="36576" bIns="18288" anchor="t">
            <a:spAutoFit/>
          </a:bodyPr>
          <a:lstStyle/>
          <a:p>
            <a:pPr algn="l">
              <a:lnSpc>
                <a:spcPct val="100000"/>
              </a:lnSpc>
              <a:spcAft>
                <a:spcPts val="0"/>
              </a:spcAft>
            </a:pPr>
            <a:r>
              <a:rPr sz="740" b="1" i="0">
                <a:solidFill>
                  <a:srgbClr val="0F766E"/>
                </a:solidFill>
                <a:latin typeface="Segoe UI"/>
              </a:rPr>
              <a:t>→ match đầu tiên</a:t>
            </a:r>
          </a:p>
        </p:txBody>
      </p:sp>
      <p:sp>
        <p:nvSpPr>
          <p:cNvPr id="19" name="Right Arrow 18"/>
          <p:cNvSpPr/>
          <p:nvPr/>
        </p:nvSpPr>
        <p:spPr>
          <a:xfrm>
            <a:off x="4892040" y="2194560"/>
            <a:ext cx="146304" cy="219456"/>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56632" y="1298448"/>
            <a:ext cx="2057400" cy="1993392"/>
          </a:xfrm>
          <a:prstGeom prst="roundRect">
            <a:avLst>
              <a:gd name="adj" fmla="val 12000"/>
            </a:avLst>
          </a:prstGeom>
          <a:solidFill>
            <a:srgbClr val="FFFFFF"/>
          </a:solidFill>
          <a:ln w="1397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5175504" y="1417319"/>
            <a:ext cx="274320" cy="27432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Segoe UI"/>
              </a:rPr>
              <a:t>3</a:t>
            </a:r>
          </a:p>
        </p:txBody>
      </p:sp>
      <p:sp>
        <p:nvSpPr>
          <p:cNvPr id="22" name="TextBox 21"/>
          <p:cNvSpPr txBox="1"/>
          <p:nvPr/>
        </p:nvSpPr>
        <p:spPr>
          <a:xfrm>
            <a:off x="5513832" y="1389888"/>
            <a:ext cx="1527048" cy="347472"/>
          </a:xfrm>
          <a:prstGeom prst="rect">
            <a:avLst/>
          </a:prstGeom>
          <a:noFill/>
        </p:spPr>
        <p:txBody>
          <a:bodyPr wrap="square" lIns="36576" tIns="18288" rIns="36576" bIns="18288" anchor="t">
            <a:spAutoFit/>
          </a:bodyPr>
          <a:lstStyle/>
          <a:p>
            <a:pPr algn="l">
              <a:lnSpc>
                <a:spcPct val="92000"/>
              </a:lnSpc>
              <a:spcAft>
                <a:spcPts val="0"/>
              </a:spcAft>
            </a:pPr>
            <a:r>
              <a:rPr sz="1100" b="1" i="0">
                <a:solidFill>
                  <a:srgbClr val="0F172A"/>
                </a:solidFill>
                <a:latin typeface="Segoe UI"/>
              </a:rPr>
              <a:t>Chống trùng</a:t>
            </a:r>
          </a:p>
        </p:txBody>
      </p:sp>
      <p:sp>
        <p:nvSpPr>
          <p:cNvPr id="23" name="TextBox 22"/>
          <p:cNvSpPr txBox="1"/>
          <p:nvPr/>
        </p:nvSpPr>
        <p:spPr>
          <a:xfrm>
            <a:off x="5175504" y="1801368"/>
            <a:ext cx="1819656" cy="1444752"/>
          </a:xfrm>
          <a:prstGeom prst="rect">
            <a:avLst/>
          </a:prstGeom>
          <a:noFill/>
        </p:spPr>
        <p:txBody>
          <a:bodyPr wrap="square" lIns="36576" tIns="18288" rIns="36576" bIns="18288" anchor="t">
            <a:spAutoFit/>
          </a:bodyPr>
          <a:lstStyle/>
          <a:p>
            <a:pPr algn="l">
              <a:lnSpc>
                <a:spcPct val="102000"/>
              </a:lnSpc>
              <a:spcAft>
                <a:spcPts val="0"/>
              </a:spcAft>
            </a:pPr>
            <a:r>
              <a:rPr sz="819" b="0" i="0">
                <a:solidFill>
                  <a:srgbClr val="64748B"/>
                </a:solidFill>
                <a:latin typeface="Segoe UI"/>
              </a:rPr>
              <a:t>eventId = sha1(session|user|nonce|SKU)</a:t>
            </a:r>
          </a:p>
          <a:p>
            <a:pPr algn="l">
              <a:lnSpc>
                <a:spcPct val="102000"/>
              </a:lnSpc>
              <a:spcAft>
                <a:spcPts val="0"/>
              </a:spcAft>
            </a:pPr>
            <a:r>
              <a:rPr sz="819" b="0" i="0">
                <a:solidFill>
                  <a:srgbClr val="64748B"/>
                </a:solidFill>
                <a:latin typeface="Segoe UI"/>
              </a:rPr>
              <a:t>unique trong DB</a:t>
            </a:r>
          </a:p>
          <a:p>
            <a:pPr algn="l">
              <a:lnSpc>
                <a:spcPct val="102000"/>
              </a:lnSpc>
              <a:spcAft>
                <a:spcPts val="0"/>
              </a:spcAft>
            </a:pPr>
            <a:r>
              <a:rPr sz="819" b="0" i="0">
                <a:solidFill>
                  <a:srgbClr val="64748B"/>
                </a:solidFill>
                <a:latin typeface="Segoe UI"/>
              </a:rPr>
              <a:t>P2002 → trả đơn cũ</a:t>
            </a:r>
          </a:p>
        </p:txBody>
      </p:sp>
      <p:cxnSp>
        <p:nvCxnSpPr>
          <p:cNvPr id="24" name="Connector 23"/>
          <p:cNvCxnSpPr/>
          <p:nvPr/>
        </p:nvCxnSpPr>
        <p:spPr>
          <a:xfrm>
            <a:off x="5184648" y="2862072"/>
            <a:ext cx="1801368" cy="0"/>
          </a:xfrm>
          <a:prstGeom prst="line">
            <a:avLst/>
          </a:prstGeom>
          <a:ln w="9525">
            <a:solidFill>
              <a:srgbClr val="1D4ED8"/>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175504" y="2926080"/>
            <a:ext cx="1819656" cy="256032"/>
          </a:xfrm>
          <a:prstGeom prst="rect">
            <a:avLst/>
          </a:prstGeom>
          <a:noFill/>
        </p:spPr>
        <p:txBody>
          <a:bodyPr wrap="square" lIns="36576" tIns="18288" rIns="36576" bIns="18288" anchor="t">
            <a:spAutoFit/>
          </a:bodyPr>
          <a:lstStyle/>
          <a:p>
            <a:pPr algn="l">
              <a:lnSpc>
                <a:spcPct val="100000"/>
              </a:lnSpc>
              <a:spcAft>
                <a:spcPts val="0"/>
              </a:spcAft>
            </a:pPr>
            <a:r>
              <a:rPr sz="740" b="1" i="0">
                <a:solidFill>
                  <a:srgbClr val="1D4ED8"/>
                </a:solidFill>
                <a:latin typeface="Segoe UI"/>
              </a:rPr>
              <a:t>→ eventId</a:t>
            </a:r>
          </a:p>
        </p:txBody>
      </p:sp>
      <p:sp>
        <p:nvSpPr>
          <p:cNvPr id="26" name="Right Arrow 25"/>
          <p:cNvSpPr/>
          <p:nvPr/>
        </p:nvSpPr>
        <p:spPr>
          <a:xfrm>
            <a:off x="7123176" y="2194560"/>
            <a:ext cx="146304" cy="219456"/>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287768" y="1298448"/>
            <a:ext cx="2057400" cy="1993392"/>
          </a:xfrm>
          <a:prstGeom prst="roundRect">
            <a:avLst>
              <a:gd name="adj" fmla="val 12000"/>
            </a:avLst>
          </a:prstGeom>
          <a:solidFill>
            <a:srgbClr val="FFFFFF"/>
          </a:solidFill>
          <a:ln w="1397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406640" y="1417319"/>
            <a:ext cx="274320" cy="27432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Segoe UI"/>
              </a:rPr>
              <a:t>4</a:t>
            </a:r>
          </a:p>
        </p:txBody>
      </p:sp>
      <p:sp>
        <p:nvSpPr>
          <p:cNvPr id="29" name="TextBox 28"/>
          <p:cNvSpPr txBox="1"/>
          <p:nvPr/>
        </p:nvSpPr>
        <p:spPr>
          <a:xfrm>
            <a:off x="7744968" y="1389888"/>
            <a:ext cx="1527048" cy="347472"/>
          </a:xfrm>
          <a:prstGeom prst="rect">
            <a:avLst/>
          </a:prstGeom>
          <a:noFill/>
        </p:spPr>
        <p:txBody>
          <a:bodyPr wrap="square" lIns="36576" tIns="18288" rIns="36576" bIns="18288" anchor="t">
            <a:spAutoFit/>
          </a:bodyPr>
          <a:lstStyle/>
          <a:p>
            <a:pPr algn="l">
              <a:lnSpc>
                <a:spcPct val="92000"/>
              </a:lnSpc>
              <a:spcAft>
                <a:spcPts val="0"/>
              </a:spcAft>
            </a:pPr>
            <a:r>
              <a:rPr sz="1100" b="1" i="0">
                <a:solidFill>
                  <a:srgbClr val="0F172A"/>
                </a:solidFill>
                <a:latin typeface="Segoe UI"/>
              </a:rPr>
              <a:t>Transaction</a:t>
            </a:r>
          </a:p>
        </p:txBody>
      </p:sp>
      <p:sp>
        <p:nvSpPr>
          <p:cNvPr id="30" name="TextBox 29"/>
          <p:cNvSpPr txBox="1"/>
          <p:nvPr/>
        </p:nvSpPr>
        <p:spPr>
          <a:xfrm>
            <a:off x="7406640" y="1801368"/>
            <a:ext cx="1819656" cy="1444752"/>
          </a:xfrm>
          <a:prstGeom prst="rect">
            <a:avLst/>
          </a:prstGeom>
          <a:noFill/>
        </p:spPr>
        <p:txBody>
          <a:bodyPr wrap="square" lIns="36576" tIns="18288" rIns="36576" bIns="18288" anchor="t">
            <a:spAutoFit/>
          </a:bodyPr>
          <a:lstStyle/>
          <a:p>
            <a:pPr algn="l">
              <a:lnSpc>
                <a:spcPct val="102000"/>
              </a:lnSpc>
              <a:spcAft>
                <a:spcPts val="0"/>
              </a:spcAft>
            </a:pPr>
            <a:r>
              <a:rPr sz="819" b="0" i="0">
                <a:solidFill>
                  <a:srgbClr val="64748B"/>
                </a:solidFill>
                <a:latin typeface="Segoe UI"/>
              </a:rPr>
              <a:t>UPDATE stock WHERE stock ≥ qty</a:t>
            </a:r>
          </a:p>
          <a:p>
            <a:pPr algn="l">
              <a:lnSpc>
                <a:spcPct val="102000"/>
              </a:lnSpc>
              <a:spcAft>
                <a:spcPts val="0"/>
              </a:spcAft>
            </a:pPr>
            <a:r>
              <a:rPr sz="819" b="0" i="0">
                <a:solidFill>
                  <a:srgbClr val="64748B"/>
                </a:solidFill>
                <a:latin typeface="Segoe UI"/>
              </a:rPr>
              <a:t>count = 0 → hết hàng</a:t>
            </a:r>
          </a:p>
          <a:p>
            <a:pPr algn="l">
              <a:lnSpc>
                <a:spcPct val="102000"/>
              </a:lnSpc>
              <a:spcAft>
                <a:spcPts val="0"/>
              </a:spcAft>
            </a:pPr>
            <a:r>
              <a:rPr sz="819" b="0" i="0">
                <a:solidFill>
                  <a:srgbClr val="64748B"/>
                </a:solidFill>
                <a:latin typeface="Segoe UI"/>
              </a:rPr>
              <a:t>CREATE Order PENDING</a:t>
            </a:r>
          </a:p>
        </p:txBody>
      </p:sp>
      <p:cxnSp>
        <p:nvCxnSpPr>
          <p:cNvPr id="31" name="Connector 30"/>
          <p:cNvCxnSpPr/>
          <p:nvPr/>
        </p:nvCxnSpPr>
        <p:spPr>
          <a:xfrm>
            <a:off x="7415784" y="2862072"/>
            <a:ext cx="1801368" cy="0"/>
          </a:xfrm>
          <a:prstGeom prst="line">
            <a:avLst/>
          </a:prstGeom>
          <a:ln w="9525">
            <a:solidFill>
              <a:srgbClr val="B45309"/>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406640" y="2926080"/>
            <a:ext cx="1819656" cy="256032"/>
          </a:xfrm>
          <a:prstGeom prst="rect">
            <a:avLst/>
          </a:prstGeom>
          <a:noFill/>
        </p:spPr>
        <p:txBody>
          <a:bodyPr wrap="square" lIns="36576" tIns="18288" rIns="36576" bIns="18288" anchor="t">
            <a:spAutoFit/>
          </a:bodyPr>
          <a:lstStyle/>
          <a:p>
            <a:pPr algn="l">
              <a:lnSpc>
                <a:spcPct val="100000"/>
              </a:lnSpc>
              <a:spcAft>
                <a:spcPts val="0"/>
              </a:spcAft>
            </a:pPr>
            <a:r>
              <a:rPr sz="740" b="1" i="0">
                <a:solidFill>
                  <a:srgbClr val="B45309"/>
                </a:solidFill>
                <a:latin typeface="Segoe UI"/>
              </a:rPr>
              <a:t>→ Order PENDING</a:t>
            </a:r>
          </a:p>
        </p:txBody>
      </p:sp>
      <p:sp>
        <p:nvSpPr>
          <p:cNvPr id="33" name="Right Arrow 32"/>
          <p:cNvSpPr/>
          <p:nvPr/>
        </p:nvSpPr>
        <p:spPr>
          <a:xfrm>
            <a:off x="9354312" y="2194560"/>
            <a:ext cx="146304" cy="219456"/>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518904" y="1298448"/>
            <a:ext cx="2057400" cy="1993392"/>
          </a:xfrm>
          <a:prstGeom prst="roundRect">
            <a:avLst>
              <a:gd name="adj" fmla="val 12000"/>
            </a:avLst>
          </a:prstGeom>
          <a:solidFill>
            <a:srgbClr val="FFFFFF"/>
          </a:solidFill>
          <a:ln w="1397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9637776" y="1417319"/>
            <a:ext cx="274320" cy="274320"/>
          </a:xfrm>
          <a:prstGeom prst="ellipse">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Segoe UI"/>
              </a:rPr>
              <a:t>5</a:t>
            </a:r>
          </a:p>
        </p:txBody>
      </p:sp>
      <p:sp>
        <p:nvSpPr>
          <p:cNvPr id="36" name="TextBox 35"/>
          <p:cNvSpPr txBox="1"/>
          <p:nvPr/>
        </p:nvSpPr>
        <p:spPr>
          <a:xfrm>
            <a:off x="9976104" y="1389888"/>
            <a:ext cx="1527048" cy="347472"/>
          </a:xfrm>
          <a:prstGeom prst="rect">
            <a:avLst/>
          </a:prstGeom>
          <a:noFill/>
        </p:spPr>
        <p:txBody>
          <a:bodyPr wrap="square" lIns="36576" tIns="18288" rIns="36576" bIns="18288" anchor="t">
            <a:spAutoFit/>
          </a:bodyPr>
          <a:lstStyle/>
          <a:p>
            <a:pPr algn="l">
              <a:lnSpc>
                <a:spcPct val="92000"/>
              </a:lnSpc>
              <a:spcAft>
                <a:spcPts val="0"/>
              </a:spcAft>
            </a:pPr>
            <a:r>
              <a:rPr sz="1100" b="1" i="0">
                <a:solidFill>
                  <a:srgbClr val="0F172A"/>
                </a:solidFill>
                <a:latin typeface="Segoe UI"/>
              </a:rPr>
              <a:t>Phát realtime</a:t>
            </a:r>
          </a:p>
        </p:txBody>
      </p:sp>
      <p:sp>
        <p:nvSpPr>
          <p:cNvPr id="37" name="TextBox 36"/>
          <p:cNvSpPr txBox="1"/>
          <p:nvPr/>
        </p:nvSpPr>
        <p:spPr>
          <a:xfrm>
            <a:off x="9637776" y="1801368"/>
            <a:ext cx="1819656" cy="1444752"/>
          </a:xfrm>
          <a:prstGeom prst="rect">
            <a:avLst/>
          </a:prstGeom>
          <a:noFill/>
        </p:spPr>
        <p:txBody>
          <a:bodyPr wrap="square" lIns="36576" tIns="18288" rIns="36576" bIns="18288" anchor="t">
            <a:spAutoFit/>
          </a:bodyPr>
          <a:lstStyle/>
          <a:p>
            <a:pPr algn="l">
              <a:lnSpc>
                <a:spcPct val="102000"/>
              </a:lnSpc>
              <a:spcAft>
                <a:spcPts val="0"/>
              </a:spcAft>
            </a:pPr>
            <a:r>
              <a:rPr sz="819" b="0" i="0">
                <a:solidFill>
                  <a:srgbClr val="64748B"/>
                </a:solidFill>
                <a:latin typeface="Segoe UI"/>
              </a:rPr>
              <a:t>comment + matches + ms</a:t>
            </a:r>
          </a:p>
          <a:p>
            <a:pPr algn="l">
              <a:lnSpc>
                <a:spcPct val="102000"/>
              </a:lnSpc>
              <a:spcAft>
                <a:spcPts val="0"/>
              </a:spcAft>
            </a:pPr>
            <a:r>
              <a:rPr sz="819" b="0" i="0">
                <a:solidFill>
                  <a:srgbClr val="64748B"/>
                </a:solidFill>
                <a:latin typeface="Segoe UI"/>
              </a:rPr>
              <a:t>new_order → 2 cửa sổ</a:t>
            </a:r>
          </a:p>
          <a:p>
            <a:pPr algn="l">
              <a:lnSpc>
                <a:spcPct val="102000"/>
              </a:lnSpc>
              <a:spcAft>
                <a:spcPts val="0"/>
              </a:spcAft>
            </a:pPr>
            <a:r>
              <a:rPr sz="819" b="0" i="0">
                <a:solidFill>
                  <a:srgbClr val="64748B"/>
                </a:solidFill>
                <a:latin typeface="Segoe UI"/>
              </a:rPr>
              <a:t>log Studio · hẹn nhắc tiền</a:t>
            </a:r>
          </a:p>
        </p:txBody>
      </p:sp>
      <p:cxnSp>
        <p:nvCxnSpPr>
          <p:cNvPr id="38" name="Connector 37"/>
          <p:cNvCxnSpPr/>
          <p:nvPr/>
        </p:nvCxnSpPr>
        <p:spPr>
          <a:xfrm>
            <a:off x="9646920" y="2862072"/>
            <a:ext cx="1801368" cy="0"/>
          </a:xfrm>
          <a:prstGeom prst="line">
            <a:avLst/>
          </a:prstGeom>
          <a:ln w="9525">
            <a:solidFill>
              <a:srgbClr val="15803D"/>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9637776" y="2926080"/>
            <a:ext cx="1819656" cy="256032"/>
          </a:xfrm>
          <a:prstGeom prst="rect">
            <a:avLst/>
          </a:prstGeom>
          <a:noFill/>
        </p:spPr>
        <p:txBody>
          <a:bodyPr wrap="square" lIns="36576" tIns="18288" rIns="36576" bIns="18288" anchor="t">
            <a:spAutoFit/>
          </a:bodyPr>
          <a:lstStyle/>
          <a:p>
            <a:pPr algn="l">
              <a:lnSpc>
                <a:spcPct val="100000"/>
              </a:lnSpc>
              <a:spcAft>
                <a:spcPts val="0"/>
              </a:spcAft>
            </a:pPr>
            <a:r>
              <a:rPr sz="740" b="1" i="0">
                <a:solidFill>
                  <a:srgbClr val="15803D"/>
                </a:solidFill>
                <a:latin typeface="Segoe UI"/>
              </a:rPr>
              <a:t>→ 2 cửa sổ</a:t>
            </a:r>
          </a:p>
        </p:txBody>
      </p:sp>
      <p:sp>
        <p:nvSpPr>
          <p:cNvPr id="40" name="Rounded Rectangle 39"/>
          <p:cNvSpPr/>
          <p:nvPr/>
        </p:nvSpPr>
        <p:spPr>
          <a:xfrm>
            <a:off x="594360" y="3520440"/>
            <a:ext cx="7635240" cy="1371600"/>
          </a:xfrm>
          <a:prstGeom prst="roundRect">
            <a:avLst>
              <a:gd name="adj" fmla="val 8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749808" y="3584448"/>
            <a:ext cx="7223760" cy="201168"/>
          </a:xfrm>
          <a:prstGeom prst="rect">
            <a:avLst/>
          </a:prstGeom>
          <a:noFill/>
        </p:spPr>
        <p:txBody>
          <a:bodyPr wrap="square" lIns="36576" tIns="18288" rIns="36576" bIns="18288" anchor="t">
            <a:spAutoFit/>
          </a:bodyPr>
          <a:lstStyle/>
          <a:p>
            <a:pPr algn="l">
              <a:lnSpc>
                <a:spcPct val="100000"/>
              </a:lnSpc>
              <a:spcAft>
                <a:spcPts val="0"/>
              </a:spcAft>
            </a:pPr>
            <a:r>
              <a:rPr sz="780" b="1" i="0">
                <a:solidFill>
                  <a:srgbClr val="5EEAD4"/>
                </a:solidFill>
                <a:latin typeface="Segoe UI"/>
              </a:rPr>
              <a:t>TRANSACTION — hai khách tranh 1 món vẫn đúng 1 người thắng</a:t>
            </a:r>
          </a:p>
        </p:txBody>
      </p:sp>
      <p:sp>
        <p:nvSpPr>
          <p:cNvPr id="42" name="TextBox 41"/>
          <p:cNvSpPr txBox="1"/>
          <p:nvPr/>
        </p:nvSpPr>
        <p:spPr>
          <a:xfrm>
            <a:off x="749808" y="3822191"/>
            <a:ext cx="7315200" cy="182880"/>
          </a:xfrm>
          <a:prstGeom prst="rect">
            <a:avLst/>
          </a:prstGeom>
          <a:noFill/>
        </p:spPr>
        <p:txBody>
          <a:bodyPr wrap="square" lIns="36576" tIns="18288" rIns="36576" bIns="18288" anchor="t">
            <a:spAutoFit/>
          </a:bodyPr>
          <a:lstStyle/>
          <a:p>
            <a:pPr algn="l">
              <a:lnSpc>
                <a:spcPct val="100000"/>
              </a:lnSpc>
              <a:spcAft>
                <a:spcPts val="0"/>
              </a:spcAft>
            </a:pPr>
            <a:r>
              <a:rPr sz="860" b="0" i="0">
                <a:solidFill>
                  <a:srgbClr val="93C5FD"/>
                </a:solidFill>
                <a:latin typeface="Consolas"/>
              </a:rPr>
              <a:t>BEGIN;</a:t>
            </a:r>
          </a:p>
        </p:txBody>
      </p:sp>
      <p:sp>
        <p:nvSpPr>
          <p:cNvPr id="43" name="TextBox 42"/>
          <p:cNvSpPr txBox="1"/>
          <p:nvPr/>
        </p:nvSpPr>
        <p:spPr>
          <a:xfrm>
            <a:off x="749808" y="4008729"/>
            <a:ext cx="7315200" cy="182880"/>
          </a:xfrm>
          <a:prstGeom prst="rect">
            <a:avLst/>
          </a:prstGeom>
          <a:noFill/>
        </p:spPr>
        <p:txBody>
          <a:bodyPr wrap="square" lIns="36576" tIns="18288" rIns="36576" bIns="18288" anchor="t">
            <a:spAutoFit/>
          </a:bodyPr>
          <a:lstStyle/>
          <a:p>
            <a:pPr algn="l">
              <a:lnSpc>
                <a:spcPct val="100000"/>
              </a:lnSpc>
              <a:spcAft>
                <a:spcPts val="0"/>
              </a:spcAft>
            </a:pPr>
            <a:r>
              <a:rPr sz="860" b="0" i="0">
                <a:solidFill>
                  <a:srgbClr val="E2E8F0"/>
                </a:solidFill>
                <a:latin typeface="Consolas"/>
              </a:rPr>
              <a:t>UPDATE "Product" SET stock = stock - $qty</a:t>
            </a:r>
          </a:p>
        </p:txBody>
      </p:sp>
      <p:sp>
        <p:nvSpPr>
          <p:cNvPr id="44" name="TextBox 43"/>
          <p:cNvSpPr txBox="1"/>
          <p:nvPr/>
        </p:nvSpPr>
        <p:spPr>
          <a:xfrm>
            <a:off x="749808" y="4195267"/>
            <a:ext cx="7315200" cy="182880"/>
          </a:xfrm>
          <a:prstGeom prst="rect">
            <a:avLst/>
          </a:prstGeom>
          <a:noFill/>
        </p:spPr>
        <p:txBody>
          <a:bodyPr wrap="square" lIns="36576" tIns="18288" rIns="36576" bIns="18288" anchor="t">
            <a:spAutoFit/>
          </a:bodyPr>
          <a:lstStyle/>
          <a:p>
            <a:pPr algn="l">
              <a:lnSpc>
                <a:spcPct val="100000"/>
              </a:lnSpc>
              <a:spcAft>
                <a:spcPts val="0"/>
              </a:spcAft>
            </a:pPr>
            <a:r>
              <a:rPr sz="860" b="0" i="0">
                <a:solidFill>
                  <a:srgbClr val="94A3B8"/>
                </a:solidFill>
                <a:latin typeface="Consolas"/>
              </a:rPr>
              <a:t> WHERE id = $id AND stock &gt;= $qty;   -- count = 0 ⇒ hết hàng</a:t>
            </a:r>
          </a:p>
        </p:txBody>
      </p:sp>
      <p:sp>
        <p:nvSpPr>
          <p:cNvPr id="45" name="TextBox 44"/>
          <p:cNvSpPr txBox="1"/>
          <p:nvPr/>
        </p:nvSpPr>
        <p:spPr>
          <a:xfrm>
            <a:off x="749808" y="4381804"/>
            <a:ext cx="7315200" cy="182880"/>
          </a:xfrm>
          <a:prstGeom prst="rect">
            <a:avLst/>
          </a:prstGeom>
          <a:noFill/>
        </p:spPr>
        <p:txBody>
          <a:bodyPr wrap="square" lIns="36576" tIns="18288" rIns="36576" bIns="18288" anchor="t">
            <a:spAutoFit/>
          </a:bodyPr>
          <a:lstStyle/>
          <a:p>
            <a:pPr algn="l">
              <a:lnSpc>
                <a:spcPct val="100000"/>
              </a:lnSpc>
              <a:spcAft>
                <a:spcPts val="0"/>
              </a:spcAft>
            </a:pPr>
            <a:r>
              <a:rPr sz="860" b="0" i="0">
                <a:solidFill>
                  <a:srgbClr val="E2E8F0"/>
                </a:solidFill>
                <a:latin typeface="Consolas"/>
              </a:rPr>
              <a:t>INSERT INTO "Order" (... status='PENDING', unitPrice, total, eventId ...);</a:t>
            </a:r>
          </a:p>
        </p:txBody>
      </p:sp>
      <p:sp>
        <p:nvSpPr>
          <p:cNvPr id="46" name="TextBox 45"/>
          <p:cNvSpPr txBox="1"/>
          <p:nvPr/>
        </p:nvSpPr>
        <p:spPr>
          <a:xfrm>
            <a:off x="749808" y="4568342"/>
            <a:ext cx="7315200" cy="182880"/>
          </a:xfrm>
          <a:prstGeom prst="rect">
            <a:avLst/>
          </a:prstGeom>
          <a:noFill/>
        </p:spPr>
        <p:txBody>
          <a:bodyPr wrap="square" lIns="36576" tIns="18288" rIns="36576" bIns="18288" anchor="t">
            <a:spAutoFit/>
          </a:bodyPr>
          <a:lstStyle/>
          <a:p>
            <a:pPr algn="l">
              <a:lnSpc>
                <a:spcPct val="100000"/>
              </a:lnSpc>
              <a:spcAft>
                <a:spcPts val="0"/>
              </a:spcAft>
            </a:pPr>
            <a:r>
              <a:rPr sz="860" b="0" i="0">
                <a:solidFill>
                  <a:srgbClr val="93C5FD"/>
                </a:solidFill>
                <a:latin typeface="Consolas"/>
              </a:rPr>
              <a:t>COMMIT;</a:t>
            </a:r>
          </a:p>
        </p:txBody>
      </p:sp>
      <p:sp>
        <p:nvSpPr>
          <p:cNvPr id="47" name="Rounded Rectangle 46"/>
          <p:cNvSpPr/>
          <p:nvPr/>
        </p:nvSpPr>
        <p:spPr>
          <a:xfrm>
            <a:off x="8430768" y="3520440"/>
            <a:ext cx="3163824" cy="1371600"/>
          </a:xfrm>
          <a:prstGeom prst="roundRect">
            <a:avLst>
              <a:gd name="adj" fmla="val 12000"/>
            </a:avLst>
          </a:prstGeom>
          <a:solidFill>
            <a:srgbClr val="FFE4E6"/>
          </a:solidFill>
          <a:ln w="12700">
            <a:solidFill>
              <a:srgbClr val="FFE4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8430768" y="3520440"/>
            <a:ext cx="64008" cy="1371600"/>
          </a:xfrm>
          <a:prstGeom prst="rect">
            <a:avLst/>
          </a:prstGeom>
          <a:solidFill>
            <a:srgbClr val="BE1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8613648" y="3602736"/>
            <a:ext cx="2834640" cy="228600"/>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BE123C"/>
                </a:solidFill>
                <a:latin typeface="Segoe UI"/>
              </a:rPr>
              <a:t>Vì sao phải nguyên tử?</a:t>
            </a:r>
          </a:p>
        </p:txBody>
      </p:sp>
      <p:sp>
        <p:nvSpPr>
          <p:cNvPr id="50" name="TextBox 49"/>
          <p:cNvSpPr txBox="1"/>
          <p:nvPr/>
        </p:nvSpPr>
        <p:spPr>
          <a:xfrm>
            <a:off x="8613648" y="3867912"/>
            <a:ext cx="2852928" cy="914400"/>
          </a:xfrm>
          <a:prstGeom prst="rect">
            <a:avLst/>
          </a:prstGeom>
          <a:noFill/>
        </p:spPr>
        <p:txBody>
          <a:bodyPr wrap="square" lIns="36576" tIns="18288" rIns="36576" bIns="18288" anchor="t">
            <a:spAutoFit/>
          </a:bodyPr>
          <a:lstStyle/>
          <a:p>
            <a:pPr algn="l">
              <a:lnSpc>
                <a:spcPct val="102000"/>
              </a:lnSpc>
              <a:spcAft>
                <a:spcPts val="0"/>
              </a:spcAft>
            </a:pPr>
            <a:r>
              <a:rPr sz="830" b="0" i="0">
                <a:solidFill>
                  <a:srgbClr val="1E293B"/>
                </a:solidFill>
                <a:latin typeface="Segoe UI"/>
              </a:rPr>
              <a:t>Điều kiện stock ≥ qty nằm trong chính câu UPDATE.</a:t>
            </a:r>
          </a:p>
          <a:p>
            <a:pPr algn="l">
              <a:lnSpc>
                <a:spcPct val="102000"/>
              </a:lnSpc>
              <a:spcAft>
                <a:spcPts val="0"/>
              </a:spcAft>
            </a:pPr>
            <a:r>
              <a:rPr sz="830" b="0" i="0">
                <a:solidFill>
                  <a:srgbClr val="1E293B"/>
                </a:solidFill>
                <a:latin typeface="Segoe UI"/>
              </a:rPr>
              <a:t>PostgreSQL row-lock rồi đánh giá lại → không thể cùng trừ.</a:t>
            </a:r>
          </a:p>
        </p:txBody>
      </p:sp>
      <p:sp>
        <p:nvSpPr>
          <p:cNvPr id="51" name="Rounded Rectangle 50"/>
          <p:cNvSpPr/>
          <p:nvPr/>
        </p:nvSpPr>
        <p:spPr>
          <a:xfrm>
            <a:off x="594360" y="5138928"/>
            <a:ext cx="3429000" cy="868680"/>
          </a:xfrm>
          <a:prstGeom prst="roundRect">
            <a:avLst>
              <a:gd name="adj" fmla="val 12000"/>
            </a:avLst>
          </a:prstGeom>
          <a:solidFill>
            <a:srgbClr val="DCFCE7"/>
          </a:solidFill>
          <a:ln w="12700">
            <a:solidFill>
              <a:srgbClr val="DCFC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594360" y="5138928"/>
            <a:ext cx="64008" cy="86868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758952" y="5212080"/>
            <a:ext cx="3108960" cy="228600"/>
          </a:xfrm>
          <a:prstGeom prst="rect">
            <a:avLst/>
          </a:prstGeom>
          <a:noFill/>
        </p:spPr>
        <p:txBody>
          <a:bodyPr wrap="square" lIns="36576" tIns="18288" rIns="36576" bIns="18288" anchor="t">
            <a:spAutoFit/>
          </a:bodyPr>
          <a:lstStyle/>
          <a:p>
            <a:pPr algn="l">
              <a:lnSpc>
                <a:spcPct val="100000"/>
              </a:lnSpc>
              <a:spcAft>
                <a:spcPts val="0"/>
              </a:spcAft>
            </a:pPr>
            <a:r>
              <a:rPr sz="1000" b="1" i="0">
                <a:solidFill>
                  <a:srgbClr val="15803D"/>
                </a:solidFill>
                <a:latin typeface="Segoe UI"/>
              </a:rPr>
              <a:t>Tạo đơn</a:t>
            </a:r>
          </a:p>
        </p:txBody>
      </p:sp>
      <p:sp>
        <p:nvSpPr>
          <p:cNvPr id="54" name="TextBox 53"/>
          <p:cNvSpPr txBox="1"/>
          <p:nvPr/>
        </p:nvSpPr>
        <p:spPr>
          <a:xfrm>
            <a:off x="758952" y="5468112"/>
            <a:ext cx="3154680" cy="411480"/>
          </a:xfrm>
          <a:prstGeom prst="rect">
            <a:avLst/>
          </a:prstGeom>
          <a:noFill/>
        </p:spPr>
        <p:txBody>
          <a:bodyPr wrap="square" lIns="36576" tIns="18288" rIns="36576" bIns="18288" anchor="t">
            <a:spAutoFit/>
          </a:bodyPr>
          <a:lstStyle/>
          <a:p>
            <a:pPr algn="l">
              <a:lnSpc>
                <a:spcPct val="100000"/>
              </a:lnSpc>
              <a:spcAft>
                <a:spcPts val="0"/>
              </a:spcAft>
            </a:pPr>
            <a:r>
              <a:rPr sz="800" b="0" i="0">
                <a:solidFill>
                  <a:srgbClr val="1E293B"/>
                </a:solidFill>
                <a:latin typeface="Segoe UI"/>
              </a:rPr>
              <a:t>Order PENDING · unitPrice snapshot · paymentCode</a:t>
            </a:r>
          </a:p>
        </p:txBody>
      </p:sp>
      <p:sp>
        <p:nvSpPr>
          <p:cNvPr id="55" name="Rounded Rectangle 54"/>
          <p:cNvSpPr/>
          <p:nvPr/>
        </p:nvSpPr>
        <p:spPr>
          <a:xfrm>
            <a:off x="4251960" y="5138928"/>
            <a:ext cx="3429000" cy="868680"/>
          </a:xfrm>
          <a:prstGeom prst="roundRect">
            <a:avLst>
              <a:gd name="adj" fmla="val 12000"/>
            </a:avLst>
          </a:prstGeom>
          <a:solidFill>
            <a:srgbClr val="FEF3C7"/>
          </a:solidFill>
          <a:ln w="12700">
            <a:solidFill>
              <a:srgbClr val="FEF3C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4251960" y="5138928"/>
            <a:ext cx="64008" cy="86868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4416552" y="5212080"/>
            <a:ext cx="3108960" cy="228600"/>
          </a:xfrm>
          <a:prstGeom prst="rect">
            <a:avLst/>
          </a:prstGeom>
          <a:noFill/>
        </p:spPr>
        <p:txBody>
          <a:bodyPr wrap="square" lIns="36576" tIns="18288" rIns="36576" bIns="18288" anchor="t">
            <a:spAutoFit/>
          </a:bodyPr>
          <a:lstStyle/>
          <a:p>
            <a:pPr algn="l">
              <a:lnSpc>
                <a:spcPct val="100000"/>
              </a:lnSpc>
              <a:spcAft>
                <a:spcPts val="0"/>
              </a:spcAft>
            </a:pPr>
            <a:r>
              <a:rPr sz="1000" b="1" i="0">
                <a:solidFill>
                  <a:srgbClr val="B45309"/>
                </a:solidFill>
                <a:latin typeface="Segoe UI"/>
              </a:rPr>
              <a:t>Hết hàng</a:t>
            </a:r>
          </a:p>
        </p:txBody>
      </p:sp>
      <p:sp>
        <p:nvSpPr>
          <p:cNvPr id="58" name="TextBox 57"/>
          <p:cNvSpPr txBox="1"/>
          <p:nvPr/>
        </p:nvSpPr>
        <p:spPr>
          <a:xfrm>
            <a:off x="4416552" y="5468112"/>
            <a:ext cx="3154680" cy="411480"/>
          </a:xfrm>
          <a:prstGeom prst="rect">
            <a:avLst/>
          </a:prstGeom>
          <a:noFill/>
        </p:spPr>
        <p:txBody>
          <a:bodyPr wrap="square" lIns="36576" tIns="18288" rIns="36576" bIns="18288" anchor="t">
            <a:spAutoFit/>
          </a:bodyPr>
          <a:lstStyle/>
          <a:p>
            <a:pPr algn="l">
              <a:lnSpc>
                <a:spcPct val="100000"/>
              </a:lnSpc>
              <a:spcAft>
                <a:spcPts val="0"/>
              </a:spcAft>
            </a:pPr>
            <a:r>
              <a:rPr sz="800" b="0" i="0">
                <a:solidFill>
                  <a:srgbClr val="1E293B"/>
                </a:solidFill>
                <a:latin typeface="Segoe UI"/>
              </a:rPr>
              <a:t>count = 0 · không ghi gì · phát "SPxx đã hết hàng"</a:t>
            </a:r>
          </a:p>
        </p:txBody>
      </p:sp>
      <p:sp>
        <p:nvSpPr>
          <p:cNvPr id="59" name="Rounded Rectangle 58"/>
          <p:cNvSpPr/>
          <p:nvPr/>
        </p:nvSpPr>
        <p:spPr>
          <a:xfrm>
            <a:off x="7909560" y="5138928"/>
            <a:ext cx="3429000" cy="868680"/>
          </a:xfrm>
          <a:prstGeom prst="roundRect">
            <a:avLst>
              <a:gd name="adj" fmla="val 12000"/>
            </a:avLst>
          </a:prstGeom>
          <a:solidFill>
            <a:srgbClr val="DBEAFE"/>
          </a:solidFill>
          <a:ln w="12700">
            <a:solidFill>
              <a:srgbClr val="DBEAF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ectangle 59"/>
          <p:cNvSpPr/>
          <p:nvPr/>
        </p:nvSpPr>
        <p:spPr>
          <a:xfrm>
            <a:off x="7909560" y="5138928"/>
            <a:ext cx="64008" cy="86868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8074152" y="5212080"/>
            <a:ext cx="3108960" cy="228600"/>
          </a:xfrm>
          <a:prstGeom prst="rect">
            <a:avLst/>
          </a:prstGeom>
          <a:noFill/>
        </p:spPr>
        <p:txBody>
          <a:bodyPr wrap="square" lIns="36576" tIns="18288" rIns="36576" bIns="18288" anchor="t">
            <a:spAutoFit/>
          </a:bodyPr>
          <a:lstStyle/>
          <a:p>
            <a:pPr algn="l">
              <a:lnSpc>
                <a:spcPct val="100000"/>
              </a:lnSpc>
              <a:spcAft>
                <a:spcPts val="0"/>
              </a:spcAft>
            </a:pPr>
            <a:r>
              <a:rPr sz="1000" b="1" i="0">
                <a:solidFill>
                  <a:srgbClr val="1D4ED8"/>
                </a:solidFill>
                <a:latin typeface="Segoe UI"/>
              </a:rPr>
              <a:t>Trùng nonce</a:t>
            </a:r>
          </a:p>
        </p:txBody>
      </p:sp>
      <p:sp>
        <p:nvSpPr>
          <p:cNvPr id="62" name="TextBox 61"/>
          <p:cNvSpPr txBox="1"/>
          <p:nvPr/>
        </p:nvSpPr>
        <p:spPr>
          <a:xfrm>
            <a:off x="8074152" y="5468112"/>
            <a:ext cx="3154680" cy="411480"/>
          </a:xfrm>
          <a:prstGeom prst="rect">
            <a:avLst/>
          </a:prstGeom>
          <a:noFill/>
        </p:spPr>
        <p:txBody>
          <a:bodyPr wrap="square" lIns="36576" tIns="18288" rIns="36576" bIns="18288" anchor="t">
            <a:spAutoFit/>
          </a:bodyPr>
          <a:lstStyle/>
          <a:p>
            <a:pPr algn="l">
              <a:lnSpc>
                <a:spcPct val="100000"/>
              </a:lnSpc>
              <a:spcAft>
                <a:spcPts val="0"/>
              </a:spcAft>
            </a:pPr>
            <a:r>
              <a:rPr sz="800" b="0" i="0">
                <a:solidFill>
                  <a:srgbClr val="1E293B"/>
                </a:solidFill>
                <a:latin typeface="Segoe UI"/>
              </a:rPr>
              <a:t>trả đơn cũ · duplicate: true · không phát new_order lần 2</a:t>
            </a:r>
          </a:p>
        </p:txBody>
      </p:sp>
      <p:cxnSp>
        <p:nvCxnSpPr>
          <p:cNvPr id="63" name="Connector 62"/>
          <p:cNvCxnSpPr/>
          <p:nvPr/>
        </p:nvCxnSpPr>
        <p:spPr>
          <a:xfrm>
            <a:off x="594360" y="6492240"/>
            <a:ext cx="1100023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594360" y="6537960"/>
            <a:ext cx="7315200" cy="201168"/>
          </a:xfrm>
          <a:prstGeom prst="rect">
            <a:avLst/>
          </a:prstGeom>
          <a:noFill/>
        </p:spPr>
        <p:txBody>
          <a:bodyPr wrap="square" lIns="36576" tIns="18288" rIns="36576" bIns="18288" anchor="t">
            <a:spAutoFit/>
          </a:bodyPr>
          <a:lstStyle/>
          <a:p>
            <a:pPr algn="l">
              <a:lnSpc>
                <a:spcPct val="100000"/>
              </a:lnSpc>
              <a:spcAft>
                <a:spcPts val="0"/>
              </a:spcAft>
            </a:pPr>
            <a:r>
              <a:rPr sz="800" b="0" i="0">
                <a:solidFill>
                  <a:srgbClr val="94A3B8"/>
                </a:solidFill>
                <a:latin typeface="Segoe UI"/>
              </a:rPr>
              <a:t>LiveOrder · Pipeline toàn dự án · 2026</a:t>
            </a:r>
          </a:p>
        </p:txBody>
      </p:sp>
      <p:sp>
        <p:nvSpPr>
          <p:cNvPr id="65" name="TextBox 64"/>
          <p:cNvSpPr txBox="1"/>
          <p:nvPr/>
        </p:nvSpPr>
        <p:spPr>
          <a:xfrm>
            <a:off x="8229600" y="6537960"/>
            <a:ext cx="3364992" cy="201168"/>
          </a:xfrm>
          <a:prstGeom prst="rect">
            <a:avLst/>
          </a:prstGeom>
          <a:noFill/>
        </p:spPr>
        <p:txBody>
          <a:bodyPr wrap="square" lIns="36576" tIns="18288" rIns="36576" bIns="18288" anchor="t">
            <a:spAutoFit/>
          </a:bodyPr>
          <a:lstStyle/>
          <a:p>
            <a:pPr algn="r">
              <a:lnSpc>
                <a:spcPct val="100000"/>
              </a:lnSpc>
              <a:spcAft>
                <a:spcPts val="0"/>
              </a:spcAft>
            </a:pPr>
            <a:r>
              <a:rPr sz="800" b="0" i="0">
                <a:solidFill>
                  <a:srgbClr val="94A3B8"/>
                </a:solidFill>
                <a:latin typeface="Segoe UI"/>
              </a:rPr>
              <a:t>Aho-Corasick  ·  RAG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94360" y="274320"/>
            <a:ext cx="6400800" cy="228600"/>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0F766E"/>
                </a:solidFill>
                <a:latin typeface="Segoe UI"/>
              </a:rPr>
              <a:t>06 · CỐT LÕI ①</a:t>
            </a:r>
          </a:p>
        </p:txBody>
      </p:sp>
      <p:sp>
        <p:nvSpPr>
          <p:cNvPr id="4" name="TextBox 3"/>
          <p:cNvSpPr txBox="1"/>
          <p:nvPr/>
        </p:nvSpPr>
        <p:spPr>
          <a:xfrm>
            <a:off x="576072" y="493776"/>
            <a:ext cx="10424160" cy="502920"/>
          </a:xfrm>
          <a:prstGeom prst="rect">
            <a:avLst/>
          </a:prstGeom>
          <a:noFill/>
        </p:spPr>
        <p:txBody>
          <a:bodyPr wrap="square" lIns="36576" tIns="18288" rIns="36576" bIns="18288" anchor="t">
            <a:spAutoFit/>
          </a:bodyPr>
          <a:lstStyle/>
          <a:p>
            <a:pPr algn="l">
              <a:lnSpc>
                <a:spcPct val="100000"/>
              </a:lnSpc>
              <a:spcAft>
                <a:spcPts val="0"/>
              </a:spcAft>
            </a:pPr>
            <a:r>
              <a:rPr sz="2300" b="1" i="0">
                <a:solidFill>
                  <a:srgbClr val="0F172A"/>
                </a:solidFill>
                <a:latin typeface="Segoe UI"/>
              </a:rPr>
              <a:t>Bằng chứng: đúng mã, đúng số lượng, đúng thời gian</a:t>
            </a:r>
          </a:p>
        </p:txBody>
      </p:sp>
      <p:sp>
        <p:nvSpPr>
          <p:cNvPr id="5" name="TextBox 4"/>
          <p:cNvSpPr txBox="1"/>
          <p:nvPr/>
        </p:nvSpPr>
        <p:spPr>
          <a:xfrm>
            <a:off x="10698480" y="283464"/>
            <a:ext cx="960120" cy="228600"/>
          </a:xfrm>
          <a:prstGeom prst="rect">
            <a:avLst/>
          </a:prstGeom>
          <a:noFill/>
        </p:spPr>
        <p:txBody>
          <a:bodyPr wrap="square" lIns="36576" tIns="18288" rIns="36576" bIns="18288" anchor="t">
            <a:spAutoFit/>
          </a:bodyPr>
          <a:lstStyle/>
          <a:p>
            <a:pPr algn="r">
              <a:lnSpc>
                <a:spcPct val="100000"/>
              </a:lnSpc>
              <a:spcAft>
                <a:spcPts val="0"/>
              </a:spcAft>
            </a:pPr>
            <a:r>
              <a:rPr sz="900" b="1" i="0">
                <a:solidFill>
                  <a:srgbClr val="94A3B8"/>
                </a:solidFill>
                <a:latin typeface="Segoe UI"/>
              </a:rPr>
              <a:t>07 / 13</a:t>
            </a:r>
          </a:p>
        </p:txBody>
      </p:sp>
      <p:sp>
        <p:nvSpPr>
          <p:cNvPr id="6" name="Rounded Rectangle 5"/>
          <p:cNvSpPr/>
          <p:nvPr/>
        </p:nvSpPr>
        <p:spPr>
          <a:xfrm>
            <a:off x="594360" y="1298448"/>
            <a:ext cx="5623560" cy="3310128"/>
          </a:xfrm>
          <a:prstGeom prst="roundRect">
            <a:avLst>
              <a:gd name="adj" fmla="val 8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417320"/>
            <a:ext cx="5212080" cy="228600"/>
          </a:xfrm>
          <a:prstGeom prst="rect">
            <a:avLst/>
          </a:prstGeom>
          <a:noFill/>
        </p:spPr>
        <p:txBody>
          <a:bodyPr wrap="square" lIns="36576" tIns="18288" rIns="36576" bIns="18288" anchor="t">
            <a:spAutoFit/>
          </a:bodyPr>
          <a:lstStyle/>
          <a:p>
            <a:pPr algn="l">
              <a:lnSpc>
                <a:spcPct val="100000"/>
              </a:lnSpc>
              <a:spcAft>
                <a:spcPts val="0"/>
              </a:spcAft>
            </a:pPr>
            <a:r>
              <a:rPr sz="800" b="1" i="0">
                <a:solidFill>
                  <a:srgbClr val="5EEAD4"/>
                </a:solidFill>
                <a:latin typeface="Segoe UI"/>
              </a:rPr>
              <a:t>LIVE — comment thật</a:t>
            </a:r>
          </a:p>
        </p:txBody>
      </p:sp>
      <p:sp>
        <p:nvSpPr>
          <p:cNvPr id="8" name="TextBox 7"/>
          <p:cNvSpPr txBox="1"/>
          <p:nvPr/>
        </p:nvSpPr>
        <p:spPr>
          <a:xfrm>
            <a:off x="804672" y="1755648"/>
            <a:ext cx="5212080" cy="219456"/>
          </a:xfrm>
          <a:prstGeom prst="rect">
            <a:avLst/>
          </a:prstGeom>
          <a:noFill/>
        </p:spPr>
        <p:txBody>
          <a:bodyPr wrap="square" lIns="36576" tIns="18288" rIns="36576" bIns="18288" anchor="t">
            <a:spAutoFit/>
          </a:bodyPr>
          <a:lstStyle/>
          <a:p>
            <a:pPr algn="l">
              <a:lnSpc>
                <a:spcPct val="100000"/>
              </a:lnSpc>
              <a:spcAft>
                <a:spcPts val="0"/>
              </a:spcAft>
            </a:pPr>
            <a:r>
              <a:rPr sz="1000" b="1" i="0">
                <a:solidFill>
                  <a:srgbClr val="E2E8F0"/>
                </a:solidFill>
                <a:latin typeface="Consolas"/>
              </a:rPr>
              <a:t>&gt; lấy SP01 2 cái</a:t>
            </a:r>
          </a:p>
        </p:txBody>
      </p:sp>
      <p:sp>
        <p:nvSpPr>
          <p:cNvPr id="9" name="TextBox 8"/>
          <p:cNvSpPr txBox="1"/>
          <p:nvPr/>
        </p:nvSpPr>
        <p:spPr>
          <a:xfrm>
            <a:off x="804672" y="2020824"/>
            <a:ext cx="5212080" cy="219456"/>
          </a:xfrm>
          <a:prstGeom prst="rect">
            <a:avLst/>
          </a:prstGeom>
          <a:noFill/>
        </p:spPr>
        <p:txBody>
          <a:bodyPr wrap="square" lIns="36576" tIns="18288" rIns="36576" bIns="18288" anchor="t">
            <a:spAutoFit/>
          </a:bodyPr>
          <a:lstStyle/>
          <a:p>
            <a:pPr algn="l">
              <a:lnSpc>
                <a:spcPct val="100000"/>
              </a:lnSpc>
              <a:spcAft>
                <a:spcPts val="0"/>
              </a:spcAft>
            </a:pPr>
            <a:r>
              <a:rPr sz="1000" b="0" i="0">
                <a:solidFill>
                  <a:srgbClr val="E2E8F0"/>
                </a:solidFill>
                <a:latin typeface="Consolas"/>
              </a:rPr>
              <a:t/>
            </a:r>
          </a:p>
        </p:txBody>
      </p:sp>
      <p:sp>
        <p:nvSpPr>
          <p:cNvPr id="10" name="TextBox 9"/>
          <p:cNvSpPr txBox="1"/>
          <p:nvPr/>
        </p:nvSpPr>
        <p:spPr>
          <a:xfrm>
            <a:off x="804672" y="2286000"/>
            <a:ext cx="5212080" cy="219456"/>
          </a:xfrm>
          <a:prstGeom prst="rect">
            <a:avLst/>
          </a:prstGeom>
          <a:noFill/>
        </p:spPr>
        <p:txBody>
          <a:bodyPr wrap="square" lIns="36576" tIns="18288" rIns="36576" bIns="18288" anchor="t">
            <a:spAutoFit/>
          </a:bodyPr>
          <a:lstStyle/>
          <a:p>
            <a:pPr algn="l">
              <a:lnSpc>
                <a:spcPct val="100000"/>
              </a:lnSpc>
              <a:spcAft>
                <a:spcPts val="0"/>
              </a:spcAft>
            </a:pPr>
            <a:r>
              <a:rPr sz="1000" b="0" i="0">
                <a:solidFill>
                  <a:srgbClr val="99F6E4"/>
                </a:solidFill>
                <a:latin typeface="Consolas"/>
              </a:rPr>
              <a:t>match    SP01          [4, 8)</a:t>
            </a:r>
          </a:p>
        </p:txBody>
      </p:sp>
      <p:sp>
        <p:nvSpPr>
          <p:cNvPr id="11" name="TextBox 10"/>
          <p:cNvSpPr txBox="1"/>
          <p:nvPr/>
        </p:nvSpPr>
        <p:spPr>
          <a:xfrm>
            <a:off x="804672" y="2551176"/>
            <a:ext cx="5212080" cy="219456"/>
          </a:xfrm>
          <a:prstGeom prst="rect">
            <a:avLst/>
          </a:prstGeom>
          <a:noFill/>
        </p:spPr>
        <p:txBody>
          <a:bodyPr wrap="square" lIns="36576" tIns="18288" rIns="36576" bIns="18288" anchor="t">
            <a:spAutoFit/>
          </a:bodyPr>
          <a:lstStyle/>
          <a:p>
            <a:pPr algn="l">
              <a:lnSpc>
                <a:spcPct val="100000"/>
              </a:lnSpc>
              <a:spcAft>
                <a:spcPts val="0"/>
              </a:spcAft>
            </a:pPr>
            <a:r>
              <a:rPr sz="1000" b="0" i="0">
                <a:solidFill>
                  <a:srgbClr val="E2E8F0"/>
                </a:solidFill>
                <a:latin typeface="Consolas"/>
              </a:rPr>
              <a:t>qty      2             (20 ký tự sau mã)</a:t>
            </a:r>
          </a:p>
        </p:txBody>
      </p:sp>
      <p:sp>
        <p:nvSpPr>
          <p:cNvPr id="12" name="TextBox 11"/>
          <p:cNvSpPr txBox="1"/>
          <p:nvPr/>
        </p:nvSpPr>
        <p:spPr>
          <a:xfrm>
            <a:off x="804672" y="2816352"/>
            <a:ext cx="5212080" cy="219456"/>
          </a:xfrm>
          <a:prstGeom prst="rect">
            <a:avLst/>
          </a:prstGeom>
          <a:noFill/>
        </p:spPr>
        <p:txBody>
          <a:bodyPr wrap="square" lIns="36576" tIns="18288" rIns="36576" bIns="18288" anchor="t">
            <a:spAutoFit/>
          </a:bodyPr>
          <a:lstStyle/>
          <a:p>
            <a:pPr algn="l">
              <a:lnSpc>
                <a:spcPct val="100000"/>
              </a:lnSpc>
              <a:spcAft>
                <a:spcPts val="0"/>
              </a:spcAft>
            </a:pPr>
            <a:r>
              <a:rPr sz="1000" b="0" i="0">
                <a:solidFill>
                  <a:srgbClr val="E2E8F0"/>
                </a:solidFill>
                <a:latin typeface="Consolas"/>
              </a:rPr>
              <a:t>time     0.31 ms       (performance.now)</a:t>
            </a:r>
          </a:p>
        </p:txBody>
      </p:sp>
      <p:sp>
        <p:nvSpPr>
          <p:cNvPr id="13" name="TextBox 12"/>
          <p:cNvSpPr txBox="1"/>
          <p:nvPr/>
        </p:nvSpPr>
        <p:spPr>
          <a:xfrm>
            <a:off x="804672" y="3081528"/>
            <a:ext cx="5212080" cy="219456"/>
          </a:xfrm>
          <a:prstGeom prst="rect">
            <a:avLst/>
          </a:prstGeom>
          <a:noFill/>
        </p:spPr>
        <p:txBody>
          <a:bodyPr wrap="square" lIns="36576" tIns="18288" rIns="36576" bIns="18288" anchor="t">
            <a:spAutoFit/>
          </a:bodyPr>
          <a:lstStyle/>
          <a:p>
            <a:pPr algn="l">
              <a:lnSpc>
                <a:spcPct val="100000"/>
              </a:lnSpc>
              <a:spcAft>
                <a:spcPts val="0"/>
              </a:spcAft>
            </a:pPr>
            <a:r>
              <a:rPr sz="1000" b="0" i="0">
                <a:solidFill>
                  <a:srgbClr val="FDE68A"/>
                </a:solidFill>
                <a:latin typeface="Consolas"/>
              </a:rPr>
              <a:t>order    #12 · 300.000đ · PENDING</a:t>
            </a:r>
          </a:p>
        </p:txBody>
      </p:sp>
      <p:sp>
        <p:nvSpPr>
          <p:cNvPr id="14" name="TextBox 13"/>
          <p:cNvSpPr txBox="1"/>
          <p:nvPr/>
        </p:nvSpPr>
        <p:spPr>
          <a:xfrm>
            <a:off x="804672" y="3346704"/>
            <a:ext cx="5212080" cy="219456"/>
          </a:xfrm>
          <a:prstGeom prst="rect">
            <a:avLst/>
          </a:prstGeom>
          <a:noFill/>
        </p:spPr>
        <p:txBody>
          <a:bodyPr wrap="square" lIns="36576" tIns="18288" rIns="36576" bIns="18288" anchor="t">
            <a:spAutoFit/>
          </a:bodyPr>
          <a:lstStyle/>
          <a:p>
            <a:pPr algn="l">
              <a:lnSpc>
                <a:spcPct val="100000"/>
              </a:lnSpc>
              <a:spcAft>
                <a:spcPts val="0"/>
              </a:spcAft>
            </a:pPr>
            <a:r>
              <a:rPr sz="1000" b="0" i="0">
                <a:solidFill>
                  <a:srgbClr val="E2E8F0"/>
                </a:solidFill>
                <a:latin typeface="Consolas"/>
              </a:rPr>
              <a:t>stock    8 → 6</a:t>
            </a:r>
          </a:p>
        </p:txBody>
      </p:sp>
      <p:sp>
        <p:nvSpPr>
          <p:cNvPr id="15" name="TextBox 14"/>
          <p:cNvSpPr txBox="1"/>
          <p:nvPr/>
        </p:nvSpPr>
        <p:spPr>
          <a:xfrm>
            <a:off x="804672" y="3611880"/>
            <a:ext cx="5212080" cy="219456"/>
          </a:xfrm>
          <a:prstGeom prst="rect">
            <a:avLst/>
          </a:prstGeom>
          <a:noFill/>
        </p:spPr>
        <p:txBody>
          <a:bodyPr wrap="square" lIns="36576" tIns="18288" rIns="36576" bIns="18288" anchor="t">
            <a:spAutoFit/>
          </a:bodyPr>
          <a:lstStyle/>
          <a:p>
            <a:pPr algn="l">
              <a:lnSpc>
                <a:spcPct val="100000"/>
              </a:lnSpc>
              <a:spcAft>
                <a:spcPts val="0"/>
              </a:spcAft>
            </a:pPr>
            <a:r>
              <a:rPr sz="1000" b="0" i="0">
                <a:solidFill>
                  <a:srgbClr val="E2E8F0"/>
                </a:solidFill>
                <a:latin typeface="Consolas"/>
              </a:rPr>
              <a:t/>
            </a:r>
          </a:p>
        </p:txBody>
      </p:sp>
      <p:sp>
        <p:nvSpPr>
          <p:cNvPr id="16" name="TextBox 15"/>
          <p:cNvSpPr txBox="1"/>
          <p:nvPr/>
        </p:nvSpPr>
        <p:spPr>
          <a:xfrm>
            <a:off x="804672" y="3877056"/>
            <a:ext cx="5212080" cy="219456"/>
          </a:xfrm>
          <a:prstGeom prst="rect">
            <a:avLst/>
          </a:prstGeom>
          <a:noFill/>
        </p:spPr>
        <p:txBody>
          <a:bodyPr wrap="square" lIns="36576" tIns="18288" rIns="36576" bIns="18288" anchor="t">
            <a:spAutoFit/>
          </a:bodyPr>
          <a:lstStyle/>
          <a:p>
            <a:pPr algn="l">
              <a:lnSpc>
                <a:spcPct val="100000"/>
              </a:lnSpc>
              <a:spcAft>
                <a:spcPts val="0"/>
              </a:spcAft>
            </a:pPr>
            <a:r>
              <a:rPr sz="1000" b="0" i="0">
                <a:solidFill>
                  <a:srgbClr val="94A3B8"/>
                </a:solidFill>
                <a:latin typeface="Consolas"/>
              </a:rPr>
              <a:t>// comment đã được che SĐT trước khi quét</a:t>
            </a:r>
          </a:p>
        </p:txBody>
      </p:sp>
      <p:sp>
        <p:nvSpPr>
          <p:cNvPr id="17" name="TextBox 16"/>
          <p:cNvSpPr txBox="1"/>
          <p:nvPr/>
        </p:nvSpPr>
        <p:spPr>
          <a:xfrm>
            <a:off x="777240" y="4233672"/>
            <a:ext cx="5212080" cy="256032"/>
          </a:xfrm>
          <a:prstGeom prst="rect">
            <a:avLst/>
          </a:prstGeom>
          <a:noFill/>
        </p:spPr>
        <p:txBody>
          <a:bodyPr wrap="square" lIns="36576" tIns="18288" rIns="36576" bIns="18288" anchor="t">
            <a:spAutoFit/>
          </a:bodyPr>
          <a:lstStyle/>
          <a:p>
            <a:pPr algn="l">
              <a:lnSpc>
                <a:spcPct val="100000"/>
              </a:lnSpc>
              <a:spcAft>
                <a:spcPts val="0"/>
              </a:spcAft>
            </a:pPr>
            <a:r>
              <a:rPr sz="819" b="0" i="1">
                <a:solidFill>
                  <a:srgbClr val="94A3B8"/>
                </a:solidFill>
                <a:latin typeface="Segoe UI"/>
              </a:rPr>
              <a:t>Vị trí [4, 8) trỏ đúng chuỗi phát cho client → highlight không lệch.</a:t>
            </a:r>
          </a:p>
        </p:txBody>
      </p:sp>
      <p:sp>
        <p:nvSpPr>
          <p:cNvPr id="18" name="Rounded Rectangle 17"/>
          <p:cNvSpPr/>
          <p:nvPr/>
        </p:nvSpPr>
        <p:spPr>
          <a:xfrm>
            <a:off x="6446520" y="1298448"/>
            <a:ext cx="5148072" cy="3310128"/>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601968" y="1389888"/>
            <a:ext cx="4754880" cy="237744"/>
          </a:xfrm>
          <a:prstGeom prst="rect">
            <a:avLst/>
          </a:prstGeom>
          <a:noFill/>
        </p:spPr>
        <p:txBody>
          <a:bodyPr wrap="square" lIns="36576" tIns="18288" rIns="36576" bIns="18288" anchor="t">
            <a:spAutoFit/>
          </a:bodyPr>
          <a:lstStyle/>
          <a:p>
            <a:pPr algn="l">
              <a:lnSpc>
                <a:spcPct val="100000"/>
              </a:lnSpc>
              <a:spcAft>
                <a:spcPts val="0"/>
              </a:spcAft>
            </a:pPr>
            <a:r>
              <a:rPr sz="1050" b="1" i="0">
                <a:solidFill>
                  <a:srgbClr val="0F172A"/>
                </a:solidFill>
                <a:latin typeface="Segoe UI"/>
              </a:rPr>
              <a:t>Các ca biên đã kiểm thử</a:t>
            </a:r>
          </a:p>
        </p:txBody>
      </p:sp>
      <p:sp>
        <p:nvSpPr>
          <p:cNvPr id="20" name="TextBox 19"/>
          <p:cNvSpPr txBox="1"/>
          <p:nvPr/>
        </p:nvSpPr>
        <p:spPr>
          <a:xfrm>
            <a:off x="6675120" y="1682496"/>
            <a:ext cx="2011680" cy="182880"/>
          </a:xfrm>
          <a:prstGeom prst="rect">
            <a:avLst/>
          </a:prstGeom>
          <a:noFill/>
        </p:spPr>
        <p:txBody>
          <a:bodyPr wrap="square" lIns="36576" tIns="18288" rIns="36576" bIns="18288" anchor="t">
            <a:spAutoFit/>
          </a:bodyPr>
          <a:lstStyle/>
          <a:p>
            <a:pPr algn="l">
              <a:lnSpc>
                <a:spcPct val="100000"/>
              </a:lnSpc>
              <a:spcAft>
                <a:spcPts val="0"/>
              </a:spcAft>
            </a:pPr>
            <a:r>
              <a:rPr sz="700" b="1" i="0">
                <a:solidFill>
                  <a:srgbClr val="64748B"/>
                </a:solidFill>
                <a:latin typeface="Segoe UI"/>
              </a:rPr>
              <a:t>INPUT</a:t>
            </a:r>
          </a:p>
        </p:txBody>
      </p:sp>
      <p:sp>
        <p:nvSpPr>
          <p:cNvPr id="21" name="TextBox 20"/>
          <p:cNvSpPr txBox="1"/>
          <p:nvPr/>
        </p:nvSpPr>
        <p:spPr>
          <a:xfrm>
            <a:off x="8641080" y="1682496"/>
            <a:ext cx="2011680" cy="182880"/>
          </a:xfrm>
          <a:prstGeom prst="rect">
            <a:avLst/>
          </a:prstGeom>
          <a:noFill/>
        </p:spPr>
        <p:txBody>
          <a:bodyPr wrap="square" lIns="36576" tIns="18288" rIns="36576" bIns="18288" anchor="t">
            <a:spAutoFit/>
          </a:bodyPr>
          <a:lstStyle/>
          <a:p>
            <a:pPr algn="l">
              <a:lnSpc>
                <a:spcPct val="100000"/>
              </a:lnSpc>
              <a:spcAft>
                <a:spcPts val="0"/>
              </a:spcAft>
            </a:pPr>
            <a:r>
              <a:rPr sz="700" b="1" i="0">
                <a:solidFill>
                  <a:srgbClr val="64748B"/>
                </a:solidFill>
                <a:latin typeface="Segoe UI"/>
              </a:rPr>
              <a:t>KẾT QUẢ</a:t>
            </a:r>
          </a:p>
        </p:txBody>
      </p:sp>
      <p:sp>
        <p:nvSpPr>
          <p:cNvPr id="22" name="Rectangle 21"/>
          <p:cNvSpPr/>
          <p:nvPr/>
        </p:nvSpPr>
        <p:spPr>
          <a:xfrm>
            <a:off x="6583680" y="1920240"/>
            <a:ext cx="4846320" cy="329184"/>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675120" y="1984248"/>
            <a:ext cx="2103120" cy="219456"/>
          </a:xfrm>
          <a:prstGeom prst="rect">
            <a:avLst/>
          </a:prstGeom>
          <a:noFill/>
        </p:spPr>
        <p:txBody>
          <a:bodyPr wrap="square" lIns="36576" tIns="18288" rIns="36576" bIns="18288" anchor="t">
            <a:spAutoFit/>
          </a:bodyPr>
          <a:lstStyle/>
          <a:p>
            <a:pPr algn="l">
              <a:lnSpc>
                <a:spcPct val="100000"/>
              </a:lnSpc>
              <a:spcAft>
                <a:spcPts val="0"/>
              </a:spcAft>
            </a:pPr>
            <a:r>
              <a:rPr sz="880" b="0" i="0">
                <a:solidFill>
                  <a:srgbClr val="1E293B"/>
                </a:solidFill>
                <a:latin typeface="Consolas"/>
              </a:rPr>
              <a:t>SP01 2 cái</a:t>
            </a:r>
          </a:p>
        </p:txBody>
      </p:sp>
      <p:sp>
        <p:nvSpPr>
          <p:cNvPr id="24" name="TextBox 23"/>
          <p:cNvSpPr txBox="1"/>
          <p:nvPr/>
        </p:nvSpPr>
        <p:spPr>
          <a:xfrm>
            <a:off x="8641080" y="1984248"/>
            <a:ext cx="2697480" cy="219456"/>
          </a:xfrm>
          <a:prstGeom prst="rect">
            <a:avLst/>
          </a:prstGeom>
          <a:noFill/>
        </p:spPr>
        <p:txBody>
          <a:bodyPr wrap="square" lIns="36576" tIns="18288" rIns="36576" bIns="18288" anchor="t">
            <a:spAutoFit/>
          </a:bodyPr>
          <a:lstStyle/>
          <a:p>
            <a:pPr algn="l">
              <a:lnSpc>
                <a:spcPct val="100000"/>
              </a:lnSpc>
              <a:spcAft>
                <a:spcPts val="0"/>
              </a:spcAft>
            </a:pPr>
            <a:r>
              <a:rPr sz="850" b="1" i="0">
                <a:solidFill>
                  <a:srgbClr val="15803D"/>
                </a:solidFill>
                <a:latin typeface="Segoe UI"/>
              </a:rPr>
              <a:t>✓ match + qty 2</a:t>
            </a:r>
          </a:p>
        </p:txBody>
      </p:sp>
      <p:sp>
        <p:nvSpPr>
          <p:cNvPr id="25" name="TextBox 24"/>
          <p:cNvSpPr txBox="1"/>
          <p:nvPr/>
        </p:nvSpPr>
        <p:spPr>
          <a:xfrm>
            <a:off x="6675120" y="2340864"/>
            <a:ext cx="2103120" cy="219456"/>
          </a:xfrm>
          <a:prstGeom prst="rect">
            <a:avLst/>
          </a:prstGeom>
          <a:noFill/>
        </p:spPr>
        <p:txBody>
          <a:bodyPr wrap="square" lIns="36576" tIns="18288" rIns="36576" bIns="18288" anchor="t">
            <a:spAutoFit/>
          </a:bodyPr>
          <a:lstStyle/>
          <a:p>
            <a:pPr algn="l">
              <a:lnSpc>
                <a:spcPct val="100000"/>
              </a:lnSpc>
              <a:spcAft>
                <a:spcPts val="0"/>
              </a:spcAft>
            </a:pPr>
            <a:r>
              <a:rPr sz="880" b="0" i="0">
                <a:solidFill>
                  <a:srgbClr val="1E293B"/>
                </a:solidFill>
                <a:latin typeface="Consolas"/>
              </a:rPr>
              <a:t>SP010</a:t>
            </a:r>
          </a:p>
        </p:txBody>
      </p:sp>
      <p:sp>
        <p:nvSpPr>
          <p:cNvPr id="26" name="TextBox 25"/>
          <p:cNvSpPr txBox="1"/>
          <p:nvPr/>
        </p:nvSpPr>
        <p:spPr>
          <a:xfrm>
            <a:off x="8641080" y="2340864"/>
            <a:ext cx="2697480" cy="219456"/>
          </a:xfrm>
          <a:prstGeom prst="rect">
            <a:avLst/>
          </a:prstGeom>
          <a:noFill/>
        </p:spPr>
        <p:txBody>
          <a:bodyPr wrap="square" lIns="36576" tIns="18288" rIns="36576" bIns="18288" anchor="t">
            <a:spAutoFit/>
          </a:bodyPr>
          <a:lstStyle/>
          <a:p>
            <a:pPr algn="l">
              <a:lnSpc>
                <a:spcPct val="100000"/>
              </a:lnSpc>
              <a:spcAft>
                <a:spcPts val="0"/>
              </a:spcAft>
            </a:pPr>
            <a:r>
              <a:rPr sz="850" b="1" i="0">
                <a:solidFill>
                  <a:srgbClr val="BE123C"/>
                </a:solidFill>
                <a:latin typeface="Segoe UI"/>
              </a:rPr>
              <a:t>✗ không khớp SP01</a:t>
            </a:r>
          </a:p>
        </p:txBody>
      </p:sp>
      <p:sp>
        <p:nvSpPr>
          <p:cNvPr id="27" name="Rectangle 26"/>
          <p:cNvSpPr/>
          <p:nvPr/>
        </p:nvSpPr>
        <p:spPr>
          <a:xfrm>
            <a:off x="6583680" y="2633472"/>
            <a:ext cx="4846320" cy="329184"/>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675120" y="2697480"/>
            <a:ext cx="2103120" cy="219456"/>
          </a:xfrm>
          <a:prstGeom prst="rect">
            <a:avLst/>
          </a:prstGeom>
          <a:noFill/>
        </p:spPr>
        <p:txBody>
          <a:bodyPr wrap="square" lIns="36576" tIns="18288" rIns="36576" bIns="18288" anchor="t">
            <a:spAutoFit/>
          </a:bodyPr>
          <a:lstStyle/>
          <a:p>
            <a:pPr algn="l">
              <a:lnSpc>
                <a:spcPct val="100000"/>
              </a:lnSpc>
              <a:spcAft>
                <a:spcPts val="0"/>
              </a:spcAft>
            </a:pPr>
            <a:r>
              <a:rPr sz="880" b="0" i="0">
                <a:solidFill>
                  <a:srgbClr val="1E293B"/>
                </a:solidFill>
                <a:latin typeface="Consolas"/>
              </a:rPr>
              <a:t>xSP01</a:t>
            </a:r>
          </a:p>
        </p:txBody>
      </p:sp>
      <p:sp>
        <p:nvSpPr>
          <p:cNvPr id="29" name="TextBox 28"/>
          <p:cNvSpPr txBox="1"/>
          <p:nvPr/>
        </p:nvSpPr>
        <p:spPr>
          <a:xfrm>
            <a:off x="8641080" y="2697480"/>
            <a:ext cx="2697480" cy="219456"/>
          </a:xfrm>
          <a:prstGeom prst="rect">
            <a:avLst/>
          </a:prstGeom>
          <a:noFill/>
        </p:spPr>
        <p:txBody>
          <a:bodyPr wrap="square" lIns="36576" tIns="18288" rIns="36576" bIns="18288" anchor="t">
            <a:spAutoFit/>
          </a:bodyPr>
          <a:lstStyle/>
          <a:p>
            <a:pPr algn="l">
              <a:lnSpc>
                <a:spcPct val="100000"/>
              </a:lnSpc>
              <a:spcAft>
                <a:spcPts val="0"/>
              </a:spcAft>
            </a:pPr>
            <a:r>
              <a:rPr sz="850" b="1" i="0">
                <a:solidFill>
                  <a:srgbClr val="BE123C"/>
                </a:solidFill>
                <a:latin typeface="Segoe UI"/>
              </a:rPr>
              <a:t>✗ sai word boundary</a:t>
            </a:r>
          </a:p>
        </p:txBody>
      </p:sp>
      <p:sp>
        <p:nvSpPr>
          <p:cNvPr id="30" name="TextBox 29"/>
          <p:cNvSpPr txBox="1"/>
          <p:nvPr/>
        </p:nvSpPr>
        <p:spPr>
          <a:xfrm>
            <a:off x="6675120" y="3054096"/>
            <a:ext cx="2103120" cy="219456"/>
          </a:xfrm>
          <a:prstGeom prst="rect">
            <a:avLst/>
          </a:prstGeom>
          <a:noFill/>
        </p:spPr>
        <p:txBody>
          <a:bodyPr wrap="square" lIns="36576" tIns="18288" rIns="36576" bIns="18288" anchor="t">
            <a:spAutoFit/>
          </a:bodyPr>
          <a:lstStyle/>
          <a:p>
            <a:pPr algn="l">
              <a:lnSpc>
                <a:spcPct val="100000"/>
              </a:lnSpc>
              <a:spcAft>
                <a:spcPts val="0"/>
              </a:spcAft>
            </a:pPr>
            <a:r>
              <a:rPr sz="880" b="0" i="0">
                <a:solidFill>
                  <a:srgbClr val="1E293B"/>
                </a:solidFill>
                <a:latin typeface="Consolas"/>
              </a:rPr>
              <a:t>SP01SP02</a:t>
            </a:r>
          </a:p>
        </p:txBody>
      </p:sp>
      <p:sp>
        <p:nvSpPr>
          <p:cNvPr id="31" name="TextBox 30"/>
          <p:cNvSpPr txBox="1"/>
          <p:nvPr/>
        </p:nvSpPr>
        <p:spPr>
          <a:xfrm>
            <a:off x="8641080" y="3054096"/>
            <a:ext cx="2697480" cy="219456"/>
          </a:xfrm>
          <a:prstGeom prst="rect">
            <a:avLst/>
          </a:prstGeom>
          <a:noFill/>
        </p:spPr>
        <p:txBody>
          <a:bodyPr wrap="square" lIns="36576" tIns="18288" rIns="36576" bIns="18288" anchor="t">
            <a:spAutoFit/>
          </a:bodyPr>
          <a:lstStyle/>
          <a:p>
            <a:pPr algn="l">
              <a:lnSpc>
                <a:spcPct val="100000"/>
              </a:lnSpc>
              <a:spcAft>
                <a:spcPts val="0"/>
              </a:spcAft>
            </a:pPr>
            <a:r>
              <a:rPr sz="850" b="1" i="0">
                <a:solidFill>
                  <a:srgbClr val="BE123C"/>
                </a:solidFill>
                <a:latin typeface="Segoe UI"/>
              </a:rPr>
              <a:t>✗ dính chữ — không mã nào</a:t>
            </a:r>
          </a:p>
        </p:txBody>
      </p:sp>
      <p:sp>
        <p:nvSpPr>
          <p:cNvPr id="32" name="Rectangle 31"/>
          <p:cNvSpPr/>
          <p:nvPr/>
        </p:nvSpPr>
        <p:spPr>
          <a:xfrm>
            <a:off x="6583680" y="3346704"/>
            <a:ext cx="4846320" cy="329184"/>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675120" y="3410712"/>
            <a:ext cx="2103120" cy="219456"/>
          </a:xfrm>
          <a:prstGeom prst="rect">
            <a:avLst/>
          </a:prstGeom>
          <a:noFill/>
        </p:spPr>
        <p:txBody>
          <a:bodyPr wrap="square" lIns="36576" tIns="18288" rIns="36576" bIns="18288" anchor="t">
            <a:spAutoFit/>
          </a:bodyPr>
          <a:lstStyle/>
          <a:p>
            <a:pPr algn="l">
              <a:lnSpc>
                <a:spcPct val="100000"/>
              </a:lnSpc>
              <a:spcAft>
                <a:spcPts val="0"/>
              </a:spcAft>
            </a:pPr>
            <a:r>
              <a:rPr sz="880" b="0" i="0">
                <a:solidFill>
                  <a:srgbClr val="1E293B"/>
                </a:solidFill>
                <a:latin typeface="Consolas"/>
              </a:rPr>
              <a:t>SP01 100 cái</a:t>
            </a:r>
          </a:p>
        </p:txBody>
      </p:sp>
      <p:sp>
        <p:nvSpPr>
          <p:cNvPr id="34" name="TextBox 33"/>
          <p:cNvSpPr txBox="1"/>
          <p:nvPr/>
        </p:nvSpPr>
        <p:spPr>
          <a:xfrm>
            <a:off x="8641080" y="3410712"/>
            <a:ext cx="2697480" cy="219456"/>
          </a:xfrm>
          <a:prstGeom prst="rect">
            <a:avLst/>
          </a:prstGeom>
          <a:noFill/>
        </p:spPr>
        <p:txBody>
          <a:bodyPr wrap="square" lIns="36576" tIns="18288" rIns="36576" bIns="18288" anchor="t">
            <a:spAutoFit/>
          </a:bodyPr>
          <a:lstStyle/>
          <a:p>
            <a:pPr algn="l">
              <a:lnSpc>
                <a:spcPct val="100000"/>
              </a:lnSpc>
              <a:spcAft>
                <a:spcPts val="0"/>
              </a:spcAft>
            </a:pPr>
            <a:r>
              <a:rPr sz="850" b="1" i="0">
                <a:solidFill>
                  <a:srgbClr val="15803D"/>
                </a:solidFill>
                <a:latin typeface="Segoe UI"/>
              </a:rPr>
              <a:t>✓ qty 1 (số 3 chữ số)</a:t>
            </a:r>
          </a:p>
        </p:txBody>
      </p:sp>
      <p:sp>
        <p:nvSpPr>
          <p:cNvPr id="35" name="TextBox 34"/>
          <p:cNvSpPr txBox="1"/>
          <p:nvPr/>
        </p:nvSpPr>
        <p:spPr>
          <a:xfrm>
            <a:off x="6675120" y="3767328"/>
            <a:ext cx="2103120" cy="219456"/>
          </a:xfrm>
          <a:prstGeom prst="rect">
            <a:avLst/>
          </a:prstGeom>
          <a:noFill/>
        </p:spPr>
        <p:txBody>
          <a:bodyPr wrap="square" lIns="36576" tIns="18288" rIns="36576" bIns="18288" anchor="t">
            <a:spAutoFit/>
          </a:bodyPr>
          <a:lstStyle/>
          <a:p>
            <a:pPr algn="l">
              <a:lnSpc>
                <a:spcPct val="100000"/>
              </a:lnSpc>
              <a:spcAft>
                <a:spcPts val="0"/>
              </a:spcAft>
            </a:pPr>
            <a:r>
              <a:rPr sz="880" b="0" i="0">
                <a:solidFill>
                  <a:srgbClr val="1E293B"/>
                </a:solidFill>
                <a:latin typeface="Consolas"/>
              </a:rPr>
              <a:t>0912 345 678</a:t>
            </a:r>
          </a:p>
        </p:txBody>
      </p:sp>
      <p:sp>
        <p:nvSpPr>
          <p:cNvPr id="36" name="TextBox 35"/>
          <p:cNvSpPr txBox="1"/>
          <p:nvPr/>
        </p:nvSpPr>
        <p:spPr>
          <a:xfrm>
            <a:off x="8641080" y="3767328"/>
            <a:ext cx="2697480" cy="219456"/>
          </a:xfrm>
          <a:prstGeom prst="rect">
            <a:avLst/>
          </a:prstGeom>
          <a:noFill/>
        </p:spPr>
        <p:txBody>
          <a:bodyPr wrap="square" lIns="36576" tIns="18288" rIns="36576" bIns="18288" anchor="t">
            <a:spAutoFit/>
          </a:bodyPr>
          <a:lstStyle/>
          <a:p>
            <a:pPr algn="l">
              <a:lnSpc>
                <a:spcPct val="100000"/>
              </a:lnSpc>
              <a:spcAft>
                <a:spcPts val="0"/>
              </a:spcAft>
            </a:pPr>
            <a:r>
              <a:rPr sz="850" b="1" i="0">
                <a:solidFill>
                  <a:srgbClr val="1D4ED8"/>
                </a:solidFill>
                <a:latin typeface="Segoe UI"/>
              </a:rPr>
              <a:t>→ 0912***678</a:t>
            </a:r>
          </a:p>
        </p:txBody>
      </p:sp>
      <p:sp>
        <p:nvSpPr>
          <p:cNvPr id="37" name="Rectangle 36"/>
          <p:cNvSpPr/>
          <p:nvPr/>
        </p:nvSpPr>
        <p:spPr>
          <a:xfrm>
            <a:off x="6583680" y="4059936"/>
            <a:ext cx="4846320" cy="329184"/>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675120" y="4123944"/>
            <a:ext cx="2103120" cy="219456"/>
          </a:xfrm>
          <a:prstGeom prst="rect">
            <a:avLst/>
          </a:prstGeom>
          <a:noFill/>
        </p:spPr>
        <p:txBody>
          <a:bodyPr wrap="square" lIns="36576" tIns="18288" rIns="36576" bIns="18288" anchor="t">
            <a:spAutoFit/>
          </a:bodyPr>
          <a:lstStyle/>
          <a:p>
            <a:pPr algn="l">
              <a:lnSpc>
                <a:spcPct val="100000"/>
              </a:lnSpc>
              <a:spcAft>
                <a:spcPts val="0"/>
              </a:spcAft>
            </a:pPr>
            <a:r>
              <a:rPr sz="880" b="0" i="0">
                <a:solidFill>
                  <a:srgbClr val="1E293B"/>
                </a:solidFill>
                <a:latin typeface="Consolas"/>
              </a:rPr>
              <a:t>2 khách · kho 1</a:t>
            </a:r>
          </a:p>
        </p:txBody>
      </p:sp>
      <p:sp>
        <p:nvSpPr>
          <p:cNvPr id="39" name="TextBox 38"/>
          <p:cNvSpPr txBox="1"/>
          <p:nvPr/>
        </p:nvSpPr>
        <p:spPr>
          <a:xfrm>
            <a:off x="8641080" y="4123944"/>
            <a:ext cx="2697480" cy="219456"/>
          </a:xfrm>
          <a:prstGeom prst="rect">
            <a:avLst/>
          </a:prstGeom>
          <a:noFill/>
        </p:spPr>
        <p:txBody>
          <a:bodyPr wrap="square" lIns="36576" tIns="18288" rIns="36576" bIns="18288" anchor="t">
            <a:spAutoFit/>
          </a:bodyPr>
          <a:lstStyle/>
          <a:p>
            <a:pPr algn="l">
              <a:lnSpc>
                <a:spcPct val="100000"/>
              </a:lnSpc>
              <a:spcAft>
                <a:spcPts val="0"/>
              </a:spcAft>
            </a:pPr>
            <a:r>
              <a:rPr sz="850" b="1" i="0">
                <a:solidFill>
                  <a:srgbClr val="15803D"/>
                </a:solidFill>
                <a:latin typeface="Segoe UI"/>
              </a:rPr>
              <a:t>✓ đúng 1 đơn</a:t>
            </a:r>
          </a:p>
        </p:txBody>
      </p:sp>
      <p:sp>
        <p:nvSpPr>
          <p:cNvPr id="40" name="Rounded Rectangle 39"/>
          <p:cNvSpPr/>
          <p:nvPr/>
        </p:nvSpPr>
        <p:spPr>
          <a:xfrm>
            <a:off x="594360" y="4809744"/>
            <a:ext cx="3429000" cy="118872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594360" y="4809744"/>
            <a:ext cx="64008" cy="1188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758952" y="4882896"/>
            <a:ext cx="3108960" cy="237744"/>
          </a:xfrm>
          <a:prstGeom prst="rect">
            <a:avLst/>
          </a:prstGeom>
          <a:noFill/>
        </p:spPr>
        <p:txBody>
          <a:bodyPr wrap="square" lIns="36576" tIns="18288" rIns="36576" bIns="18288" anchor="t">
            <a:spAutoFit/>
          </a:bodyPr>
          <a:lstStyle/>
          <a:p>
            <a:pPr algn="l">
              <a:lnSpc>
                <a:spcPct val="100000"/>
              </a:lnSpc>
              <a:spcAft>
                <a:spcPts val="0"/>
              </a:spcAft>
            </a:pPr>
            <a:r>
              <a:rPr sz="1050" b="1" i="0">
                <a:solidFill>
                  <a:srgbClr val="0F766E"/>
                </a:solidFill>
                <a:latin typeface="Segoe UI"/>
              </a:rPr>
              <a:t>Đúng shop</a:t>
            </a:r>
          </a:p>
        </p:txBody>
      </p:sp>
      <p:sp>
        <p:nvSpPr>
          <p:cNvPr id="43" name="TextBox 42"/>
          <p:cNvSpPr txBox="1"/>
          <p:nvPr/>
        </p:nvSpPr>
        <p:spPr>
          <a:xfrm>
            <a:off x="758952" y="5166360"/>
            <a:ext cx="3154680" cy="749808"/>
          </a:xfrm>
          <a:prstGeom prst="rect">
            <a:avLst/>
          </a:prstGeom>
          <a:noFill/>
        </p:spPr>
        <p:txBody>
          <a:bodyPr wrap="square" lIns="36576" tIns="18288" rIns="36576" bIns="18288" anchor="t">
            <a:spAutoFit/>
          </a:bodyPr>
          <a:lstStyle/>
          <a:p>
            <a:pPr algn="l">
              <a:lnSpc>
                <a:spcPct val="102000"/>
              </a:lnSpc>
              <a:spcAft>
                <a:spcPts val="0"/>
              </a:spcAft>
            </a:pPr>
            <a:r>
              <a:rPr sz="819" b="0" i="0">
                <a:solidFill>
                  <a:srgbClr val="64748B"/>
                </a:solidFill>
                <a:latin typeface="Segoe UI"/>
              </a:rPr>
              <a:t>SP01 của shop A và shop B là hai sản phẩm khác nhau — automaton chỉ nạp SKU của shop phiên live.</a:t>
            </a:r>
          </a:p>
        </p:txBody>
      </p:sp>
      <p:sp>
        <p:nvSpPr>
          <p:cNvPr id="44" name="Rounded Rectangle 43"/>
          <p:cNvSpPr/>
          <p:nvPr/>
        </p:nvSpPr>
        <p:spPr>
          <a:xfrm>
            <a:off x="4251960" y="4809744"/>
            <a:ext cx="3429000" cy="118872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4251960" y="4809744"/>
            <a:ext cx="64008" cy="1188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4416552" y="4882896"/>
            <a:ext cx="3108960" cy="237744"/>
          </a:xfrm>
          <a:prstGeom prst="rect">
            <a:avLst/>
          </a:prstGeom>
          <a:noFill/>
        </p:spPr>
        <p:txBody>
          <a:bodyPr wrap="square" lIns="36576" tIns="18288" rIns="36576" bIns="18288" anchor="t">
            <a:spAutoFit/>
          </a:bodyPr>
          <a:lstStyle/>
          <a:p>
            <a:pPr algn="l">
              <a:lnSpc>
                <a:spcPct val="100000"/>
              </a:lnSpc>
              <a:spcAft>
                <a:spcPts val="0"/>
              </a:spcAft>
            </a:pPr>
            <a:r>
              <a:rPr sz="1050" b="1" i="0">
                <a:solidFill>
                  <a:srgbClr val="0F766E"/>
                </a:solidFill>
                <a:latin typeface="Segoe UI"/>
              </a:rPr>
              <a:t>Đúng kho</a:t>
            </a:r>
          </a:p>
        </p:txBody>
      </p:sp>
      <p:sp>
        <p:nvSpPr>
          <p:cNvPr id="47" name="TextBox 46"/>
          <p:cNvSpPr txBox="1"/>
          <p:nvPr/>
        </p:nvSpPr>
        <p:spPr>
          <a:xfrm>
            <a:off x="4416552" y="5166360"/>
            <a:ext cx="3154680" cy="749808"/>
          </a:xfrm>
          <a:prstGeom prst="rect">
            <a:avLst/>
          </a:prstGeom>
          <a:noFill/>
        </p:spPr>
        <p:txBody>
          <a:bodyPr wrap="square" lIns="36576" tIns="18288" rIns="36576" bIns="18288" anchor="t">
            <a:spAutoFit/>
          </a:bodyPr>
          <a:lstStyle/>
          <a:p>
            <a:pPr algn="l">
              <a:lnSpc>
                <a:spcPct val="102000"/>
              </a:lnSpc>
              <a:spcAft>
                <a:spcPts val="0"/>
              </a:spcAft>
            </a:pPr>
            <a:r>
              <a:rPr sz="819" b="0" i="0">
                <a:solidFill>
                  <a:srgbClr val="64748B"/>
                </a:solidFill>
                <a:latin typeface="Segoe UI"/>
              </a:rPr>
              <a:t>Trừ kho trong cùng transaction với tạo đơn; điều kiện stock ≥ qty nằm trong UPDATE.</a:t>
            </a:r>
          </a:p>
        </p:txBody>
      </p:sp>
      <p:sp>
        <p:nvSpPr>
          <p:cNvPr id="48" name="Rounded Rectangle 47"/>
          <p:cNvSpPr/>
          <p:nvPr/>
        </p:nvSpPr>
        <p:spPr>
          <a:xfrm>
            <a:off x="7909560" y="4809744"/>
            <a:ext cx="3429000" cy="118872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7909560" y="4809744"/>
            <a:ext cx="64008" cy="1188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8074152" y="4882896"/>
            <a:ext cx="3108960" cy="237744"/>
          </a:xfrm>
          <a:prstGeom prst="rect">
            <a:avLst/>
          </a:prstGeom>
          <a:noFill/>
        </p:spPr>
        <p:txBody>
          <a:bodyPr wrap="square" lIns="36576" tIns="18288" rIns="36576" bIns="18288" anchor="t">
            <a:spAutoFit/>
          </a:bodyPr>
          <a:lstStyle/>
          <a:p>
            <a:pPr algn="l">
              <a:lnSpc>
                <a:spcPct val="100000"/>
              </a:lnSpc>
              <a:spcAft>
                <a:spcPts val="0"/>
              </a:spcAft>
            </a:pPr>
            <a:r>
              <a:rPr sz="1050" b="1" i="0">
                <a:solidFill>
                  <a:srgbClr val="0F766E"/>
                </a:solidFill>
                <a:latin typeface="Segoe UI"/>
              </a:rPr>
              <a:t>Đúng vị trí</a:t>
            </a:r>
          </a:p>
        </p:txBody>
      </p:sp>
      <p:sp>
        <p:nvSpPr>
          <p:cNvPr id="51" name="TextBox 50"/>
          <p:cNvSpPr txBox="1"/>
          <p:nvPr/>
        </p:nvSpPr>
        <p:spPr>
          <a:xfrm>
            <a:off x="8074152" y="5166360"/>
            <a:ext cx="3154680" cy="749808"/>
          </a:xfrm>
          <a:prstGeom prst="rect">
            <a:avLst/>
          </a:prstGeom>
          <a:noFill/>
        </p:spPr>
        <p:txBody>
          <a:bodyPr wrap="square" lIns="36576" tIns="18288" rIns="36576" bIns="18288" anchor="t">
            <a:spAutoFit/>
          </a:bodyPr>
          <a:lstStyle/>
          <a:p>
            <a:pPr algn="l">
              <a:lnSpc>
                <a:spcPct val="102000"/>
              </a:lnSpc>
              <a:spcAft>
                <a:spcPts val="0"/>
              </a:spcAft>
            </a:pPr>
            <a:r>
              <a:rPr sz="819" b="0" i="0">
                <a:solidFill>
                  <a:srgbClr val="64748B"/>
                </a:solidFill>
                <a:latin typeface="Segoe UI"/>
              </a:rPr>
              <a:t>start/end là chỉ số UTF-16 trên chuỗi đã che — client cắt highlight từ chính text nhận được.</a:t>
            </a:r>
          </a:p>
        </p:txBody>
      </p:sp>
      <p:cxnSp>
        <p:nvCxnSpPr>
          <p:cNvPr id="52" name="Connector 51"/>
          <p:cNvCxnSpPr/>
          <p:nvPr/>
        </p:nvCxnSpPr>
        <p:spPr>
          <a:xfrm>
            <a:off x="594360" y="6492240"/>
            <a:ext cx="1100023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594360" y="6537960"/>
            <a:ext cx="7315200" cy="201168"/>
          </a:xfrm>
          <a:prstGeom prst="rect">
            <a:avLst/>
          </a:prstGeom>
          <a:noFill/>
        </p:spPr>
        <p:txBody>
          <a:bodyPr wrap="square" lIns="36576" tIns="18288" rIns="36576" bIns="18288" anchor="t">
            <a:spAutoFit/>
          </a:bodyPr>
          <a:lstStyle/>
          <a:p>
            <a:pPr algn="l">
              <a:lnSpc>
                <a:spcPct val="100000"/>
              </a:lnSpc>
              <a:spcAft>
                <a:spcPts val="0"/>
              </a:spcAft>
            </a:pPr>
            <a:r>
              <a:rPr sz="800" b="0" i="0">
                <a:solidFill>
                  <a:srgbClr val="94A3B8"/>
                </a:solidFill>
                <a:latin typeface="Segoe UI"/>
              </a:rPr>
              <a:t>LiveOrder · Pipeline toàn dự án · 2026</a:t>
            </a:r>
          </a:p>
        </p:txBody>
      </p:sp>
      <p:sp>
        <p:nvSpPr>
          <p:cNvPr id="54" name="TextBox 53"/>
          <p:cNvSpPr txBox="1"/>
          <p:nvPr/>
        </p:nvSpPr>
        <p:spPr>
          <a:xfrm>
            <a:off x="8229600" y="6537960"/>
            <a:ext cx="3364992" cy="201168"/>
          </a:xfrm>
          <a:prstGeom prst="rect">
            <a:avLst/>
          </a:prstGeom>
          <a:noFill/>
        </p:spPr>
        <p:txBody>
          <a:bodyPr wrap="square" lIns="36576" tIns="18288" rIns="36576" bIns="18288" anchor="t">
            <a:spAutoFit/>
          </a:bodyPr>
          <a:lstStyle/>
          <a:p>
            <a:pPr algn="r">
              <a:lnSpc>
                <a:spcPct val="100000"/>
              </a:lnSpc>
              <a:spcAft>
                <a:spcPts val="0"/>
              </a:spcAft>
            </a:pPr>
            <a:r>
              <a:rPr sz="800" b="0" i="0">
                <a:solidFill>
                  <a:srgbClr val="94A3B8"/>
                </a:solidFill>
                <a:latin typeface="Segoe UI"/>
              </a:rPr>
              <a:t>Aho-Corasick  ·  RAG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94360" y="274320"/>
            <a:ext cx="6400800" cy="228600"/>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0F766E"/>
                </a:solidFill>
                <a:latin typeface="Segoe UI"/>
              </a:rPr>
              <a:t>07 · CỐT LÕI ②</a:t>
            </a:r>
          </a:p>
        </p:txBody>
      </p:sp>
      <p:sp>
        <p:nvSpPr>
          <p:cNvPr id="4" name="TextBox 3"/>
          <p:cNvSpPr txBox="1"/>
          <p:nvPr/>
        </p:nvSpPr>
        <p:spPr>
          <a:xfrm>
            <a:off x="576072" y="493776"/>
            <a:ext cx="10424160" cy="502920"/>
          </a:xfrm>
          <a:prstGeom prst="rect">
            <a:avLst/>
          </a:prstGeom>
          <a:noFill/>
        </p:spPr>
        <p:txBody>
          <a:bodyPr wrap="square" lIns="36576" tIns="18288" rIns="36576" bIns="18288" anchor="t">
            <a:spAutoFit/>
          </a:bodyPr>
          <a:lstStyle/>
          <a:p>
            <a:pPr algn="l">
              <a:lnSpc>
                <a:spcPct val="100000"/>
              </a:lnSpc>
              <a:spcAft>
                <a:spcPts val="0"/>
              </a:spcAft>
            </a:pPr>
            <a:r>
              <a:rPr sz="2300" b="1" i="0">
                <a:solidFill>
                  <a:srgbClr val="0F172A"/>
                </a:solidFill>
                <a:latin typeface="Segoe UI"/>
              </a:rPr>
              <a:t>RAG: hai pha — nạp một lần, truy vấn mỗi tin nhắn</a:t>
            </a:r>
          </a:p>
        </p:txBody>
      </p:sp>
      <p:sp>
        <p:nvSpPr>
          <p:cNvPr id="5" name="TextBox 4"/>
          <p:cNvSpPr txBox="1"/>
          <p:nvPr/>
        </p:nvSpPr>
        <p:spPr>
          <a:xfrm>
            <a:off x="10698480" y="283464"/>
            <a:ext cx="960120" cy="228600"/>
          </a:xfrm>
          <a:prstGeom prst="rect">
            <a:avLst/>
          </a:prstGeom>
          <a:noFill/>
        </p:spPr>
        <p:txBody>
          <a:bodyPr wrap="square" lIns="36576" tIns="18288" rIns="36576" bIns="18288" anchor="t">
            <a:spAutoFit/>
          </a:bodyPr>
          <a:lstStyle/>
          <a:p>
            <a:pPr algn="r">
              <a:lnSpc>
                <a:spcPct val="100000"/>
              </a:lnSpc>
              <a:spcAft>
                <a:spcPts val="0"/>
              </a:spcAft>
            </a:pPr>
            <a:r>
              <a:rPr sz="900" b="1" i="0">
                <a:solidFill>
                  <a:srgbClr val="94A3B8"/>
                </a:solidFill>
                <a:latin typeface="Segoe UI"/>
              </a:rPr>
              <a:t>08 / 13</a:t>
            </a:r>
          </a:p>
        </p:txBody>
      </p:sp>
      <p:sp>
        <p:nvSpPr>
          <p:cNvPr id="6" name="Rounded Rectangle 5"/>
          <p:cNvSpPr/>
          <p:nvPr/>
        </p:nvSpPr>
        <p:spPr>
          <a:xfrm>
            <a:off x="594360" y="1280160"/>
            <a:ext cx="5394960" cy="4160520"/>
          </a:xfrm>
          <a:prstGeom prst="roundRect">
            <a:avLst>
              <a:gd name="adj" fmla="val 12000"/>
            </a:avLst>
          </a:prstGeom>
          <a:solidFill>
            <a:srgbClr val="FFFFFF"/>
          </a:solidFill>
          <a:ln w="1524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777240" y="1152144"/>
            <a:ext cx="3200400" cy="2743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152144"/>
            <a:ext cx="3200400" cy="274320"/>
          </a:xfrm>
          <a:prstGeom prst="rect">
            <a:avLst/>
          </a:prstGeom>
          <a:noFill/>
        </p:spPr>
        <p:txBody>
          <a:bodyPr wrap="square" lIns="36576" tIns="18288" rIns="36576" bIns="18288" anchor="ctr">
            <a:spAutoFit/>
          </a:bodyPr>
          <a:lstStyle/>
          <a:p>
            <a:pPr algn="ctr">
              <a:lnSpc>
                <a:spcPct val="100000"/>
              </a:lnSpc>
              <a:spcAft>
                <a:spcPts val="0"/>
              </a:spcAft>
            </a:pPr>
            <a:r>
              <a:rPr sz="800" b="1" i="0">
                <a:solidFill>
                  <a:srgbClr val="FFFFFF"/>
                </a:solidFill>
                <a:latin typeface="Segoe UI"/>
              </a:rPr>
              <a:t>PHA 1 · NẠP TRI THỨC (LAZY)</a:t>
            </a:r>
          </a:p>
        </p:txBody>
      </p:sp>
      <p:sp>
        <p:nvSpPr>
          <p:cNvPr id="9" name="TextBox 8"/>
          <p:cNvSpPr txBox="1"/>
          <p:nvPr/>
        </p:nvSpPr>
        <p:spPr>
          <a:xfrm>
            <a:off x="777240" y="1389888"/>
            <a:ext cx="4937760" cy="228600"/>
          </a:xfrm>
          <a:prstGeom prst="rect">
            <a:avLst/>
          </a:prstGeom>
          <a:noFill/>
        </p:spPr>
        <p:txBody>
          <a:bodyPr wrap="square" lIns="36576" tIns="18288" rIns="36576" bIns="18288" anchor="t">
            <a:spAutoFit/>
          </a:bodyPr>
          <a:lstStyle/>
          <a:p>
            <a:pPr algn="l">
              <a:lnSpc>
                <a:spcPct val="100000"/>
              </a:lnSpc>
              <a:spcAft>
                <a:spcPts val="0"/>
              </a:spcAft>
            </a:pPr>
            <a:r>
              <a:rPr sz="819" b="0" i="1">
                <a:solidFill>
                  <a:srgbClr val="64748B"/>
                </a:solidFill>
                <a:latin typeface="Segoe UI"/>
              </a:rPr>
              <a:t>mỗi shop một index — chỉ dựng khi cần</a:t>
            </a:r>
          </a:p>
        </p:txBody>
      </p:sp>
      <p:sp>
        <p:nvSpPr>
          <p:cNvPr id="10" name="Rounded Rectangle 9"/>
          <p:cNvSpPr/>
          <p:nvPr/>
        </p:nvSpPr>
        <p:spPr>
          <a:xfrm>
            <a:off x="804672" y="1737360"/>
            <a:ext cx="4956048" cy="749808"/>
          </a:xfrm>
          <a:prstGeom prst="roundRect">
            <a:avLst>
              <a:gd name="adj" fmla="val 12000"/>
            </a:avLst>
          </a:prstGeom>
          <a:solidFill>
            <a:srgbClr val="E6FFFA"/>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914400" y="1837943"/>
            <a:ext cx="256032" cy="256032"/>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i="0">
                <a:solidFill>
                  <a:srgbClr val="FFFFFF"/>
                </a:solidFill>
                <a:latin typeface="Segoe UI"/>
              </a:rPr>
              <a:t>1</a:t>
            </a:r>
          </a:p>
        </p:txBody>
      </p:sp>
      <p:sp>
        <p:nvSpPr>
          <p:cNvPr id="12" name="TextBox 11"/>
          <p:cNvSpPr txBox="1"/>
          <p:nvPr/>
        </p:nvSpPr>
        <p:spPr>
          <a:xfrm>
            <a:off x="1261872" y="1810512"/>
            <a:ext cx="4297680" cy="219456"/>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0F766E"/>
                </a:solidFill>
                <a:latin typeface="Segoe UI"/>
              </a:rPr>
              <a:t>Nguồn dữ liệu</a:t>
            </a:r>
          </a:p>
        </p:txBody>
      </p:sp>
      <p:sp>
        <p:nvSpPr>
          <p:cNvPr id="13" name="TextBox 12"/>
          <p:cNvSpPr txBox="1"/>
          <p:nvPr/>
        </p:nvSpPr>
        <p:spPr>
          <a:xfrm>
            <a:off x="1261872" y="2048255"/>
            <a:ext cx="4343400" cy="402336"/>
          </a:xfrm>
          <a:prstGeom prst="rect">
            <a:avLst/>
          </a:prstGeom>
          <a:noFill/>
        </p:spPr>
        <p:txBody>
          <a:bodyPr wrap="square" lIns="36576" tIns="18288" rIns="36576" bIns="18288" anchor="t">
            <a:spAutoFit/>
          </a:bodyPr>
          <a:lstStyle/>
          <a:p>
            <a:pPr algn="l">
              <a:lnSpc>
                <a:spcPct val="100000"/>
              </a:lnSpc>
              <a:spcAft>
                <a:spcPts val="0"/>
              </a:spcAft>
            </a:pPr>
            <a:r>
              <a:rPr sz="810" b="0" i="0">
                <a:solidFill>
                  <a:srgbClr val="1E293B"/>
                </a:solidFill>
                <a:latin typeface="Segoe UI"/>
              </a:rPr>
              <a:t>KbEntry(title, answer) + Product(name, sku)</a:t>
            </a:r>
          </a:p>
        </p:txBody>
      </p:sp>
      <p:cxnSp>
        <p:nvCxnSpPr>
          <p:cNvPr id="14" name="Connector 13"/>
          <p:cNvCxnSpPr/>
          <p:nvPr/>
        </p:nvCxnSpPr>
        <p:spPr>
          <a:xfrm>
            <a:off x="3282696" y="2487168"/>
            <a:ext cx="0" cy="128016"/>
          </a:xfrm>
          <a:prstGeom prst="line">
            <a:avLst/>
          </a:prstGeom>
          <a:ln w="1524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04672" y="2615184"/>
            <a:ext cx="4956048" cy="749808"/>
          </a:xfrm>
          <a:prstGeom prst="roundRect">
            <a:avLst>
              <a:gd name="adj" fmla="val 12000"/>
            </a:avLst>
          </a:prstGeom>
          <a:solidFill>
            <a:srgbClr val="E6FFFA"/>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14400" y="2715768"/>
            <a:ext cx="256032" cy="256032"/>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i="0">
                <a:solidFill>
                  <a:srgbClr val="FFFFFF"/>
                </a:solidFill>
                <a:latin typeface="Segoe UI"/>
              </a:rPr>
              <a:t>2</a:t>
            </a:r>
          </a:p>
        </p:txBody>
      </p:sp>
      <p:sp>
        <p:nvSpPr>
          <p:cNvPr id="17" name="TextBox 16"/>
          <p:cNvSpPr txBox="1"/>
          <p:nvPr/>
        </p:nvSpPr>
        <p:spPr>
          <a:xfrm>
            <a:off x="1261872" y="2688336"/>
            <a:ext cx="4297680" cy="219456"/>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0F766E"/>
                </a:solidFill>
                <a:latin typeface="Segoe UI"/>
              </a:rPr>
              <a:t>Ghép passage</a:t>
            </a:r>
          </a:p>
        </p:txBody>
      </p:sp>
      <p:sp>
        <p:nvSpPr>
          <p:cNvPr id="18" name="TextBox 17"/>
          <p:cNvSpPr txBox="1"/>
          <p:nvPr/>
        </p:nvSpPr>
        <p:spPr>
          <a:xfrm>
            <a:off x="1261872" y="2926079"/>
            <a:ext cx="4343400" cy="402336"/>
          </a:xfrm>
          <a:prstGeom prst="rect">
            <a:avLst/>
          </a:prstGeom>
          <a:noFill/>
        </p:spPr>
        <p:txBody>
          <a:bodyPr wrap="square" lIns="36576" tIns="18288" rIns="36576" bIns="18288" anchor="t">
            <a:spAutoFit/>
          </a:bodyPr>
          <a:lstStyle/>
          <a:p>
            <a:pPr algn="l">
              <a:lnSpc>
                <a:spcPct val="100000"/>
              </a:lnSpc>
              <a:spcAft>
                <a:spcPts val="0"/>
              </a:spcAft>
            </a:pPr>
            <a:r>
              <a:rPr sz="810" b="0" i="0">
                <a:solidFill>
                  <a:srgbClr val="1E293B"/>
                </a:solidFill>
                <a:latin typeface="Segoe UI"/>
              </a:rPr>
              <a:t>KB: title + answer</a:t>
            </a:r>
          </a:p>
          <a:p>
            <a:pPr algn="l">
              <a:lnSpc>
                <a:spcPct val="100000"/>
              </a:lnSpc>
              <a:spcAft>
                <a:spcPts val="0"/>
              </a:spcAft>
            </a:pPr>
            <a:r>
              <a:rPr sz="810" b="0" i="0">
                <a:solidFill>
                  <a:srgbClr val="1E293B"/>
                </a:solidFill>
                <a:latin typeface="Segoe UI"/>
              </a:rPr>
              <a:t>SP: "Sản phẩm {name} (mã {SKU})"</a:t>
            </a:r>
          </a:p>
        </p:txBody>
      </p:sp>
      <p:cxnSp>
        <p:nvCxnSpPr>
          <p:cNvPr id="19" name="Connector 18"/>
          <p:cNvCxnSpPr/>
          <p:nvPr/>
        </p:nvCxnSpPr>
        <p:spPr>
          <a:xfrm>
            <a:off x="3282696" y="3364991"/>
            <a:ext cx="0" cy="128017"/>
          </a:xfrm>
          <a:prstGeom prst="line">
            <a:avLst/>
          </a:prstGeom>
          <a:ln w="1524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04672" y="3493008"/>
            <a:ext cx="4956048" cy="749808"/>
          </a:xfrm>
          <a:prstGeom prst="roundRect">
            <a:avLst>
              <a:gd name="adj" fmla="val 12000"/>
            </a:avLst>
          </a:prstGeom>
          <a:solidFill>
            <a:srgbClr val="E6FFFA"/>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14400" y="3593591"/>
            <a:ext cx="256032" cy="256032"/>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i="0">
                <a:solidFill>
                  <a:srgbClr val="FFFFFF"/>
                </a:solidFill>
                <a:latin typeface="Segoe UI"/>
              </a:rPr>
              <a:t>3</a:t>
            </a:r>
          </a:p>
        </p:txBody>
      </p:sp>
      <p:sp>
        <p:nvSpPr>
          <p:cNvPr id="22" name="TextBox 21"/>
          <p:cNvSpPr txBox="1"/>
          <p:nvPr/>
        </p:nvSpPr>
        <p:spPr>
          <a:xfrm>
            <a:off x="1261872" y="3566160"/>
            <a:ext cx="4297680" cy="219456"/>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0F766E"/>
                </a:solidFill>
                <a:latin typeface="Segoe UI"/>
              </a:rPr>
              <a:t>Embed local</a:t>
            </a:r>
          </a:p>
        </p:txBody>
      </p:sp>
      <p:sp>
        <p:nvSpPr>
          <p:cNvPr id="23" name="TextBox 22"/>
          <p:cNvSpPr txBox="1"/>
          <p:nvPr/>
        </p:nvSpPr>
        <p:spPr>
          <a:xfrm>
            <a:off x="1261872" y="3803904"/>
            <a:ext cx="4343400" cy="402336"/>
          </a:xfrm>
          <a:prstGeom prst="rect">
            <a:avLst/>
          </a:prstGeom>
          <a:noFill/>
        </p:spPr>
        <p:txBody>
          <a:bodyPr wrap="square" lIns="36576" tIns="18288" rIns="36576" bIns="18288" anchor="t">
            <a:spAutoFit/>
          </a:bodyPr>
          <a:lstStyle/>
          <a:p>
            <a:pPr algn="l">
              <a:lnSpc>
                <a:spcPct val="100000"/>
              </a:lnSpc>
              <a:spcAft>
                <a:spcPts val="0"/>
              </a:spcAft>
            </a:pPr>
            <a:r>
              <a:rPr sz="810" b="0" i="0">
                <a:solidFill>
                  <a:srgbClr val="1E293B"/>
                </a:solidFill>
                <a:latin typeface="Segoe UI"/>
              </a:rPr>
              <a:t>multilingual-e5-small · q8 · 384d</a:t>
            </a:r>
          </a:p>
          <a:p>
            <a:pPr algn="l">
              <a:lnSpc>
                <a:spcPct val="100000"/>
              </a:lnSpc>
              <a:spcAft>
                <a:spcPts val="0"/>
              </a:spcAft>
            </a:pPr>
            <a:r>
              <a:rPr sz="810" b="0" i="0">
                <a:solidFill>
                  <a:srgbClr val="1E293B"/>
                </a:solidFill>
                <a:latin typeface="Segoe UI"/>
              </a:rPr>
              <a:t>prefix passage: · mean pooling · normalize</a:t>
            </a:r>
          </a:p>
        </p:txBody>
      </p:sp>
      <p:cxnSp>
        <p:nvCxnSpPr>
          <p:cNvPr id="24" name="Connector 23"/>
          <p:cNvCxnSpPr/>
          <p:nvPr/>
        </p:nvCxnSpPr>
        <p:spPr>
          <a:xfrm>
            <a:off x="3282696" y="4242816"/>
            <a:ext cx="0" cy="128015"/>
          </a:xfrm>
          <a:prstGeom prst="line">
            <a:avLst/>
          </a:prstGeom>
          <a:ln w="1524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04672" y="4370831"/>
            <a:ext cx="4956048" cy="749808"/>
          </a:xfrm>
          <a:prstGeom prst="roundRect">
            <a:avLst>
              <a:gd name="adj" fmla="val 12000"/>
            </a:avLst>
          </a:prstGeom>
          <a:solidFill>
            <a:srgbClr val="E6FFFA"/>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14400" y="4471416"/>
            <a:ext cx="256032" cy="256032"/>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i="0">
                <a:solidFill>
                  <a:srgbClr val="FFFFFF"/>
                </a:solidFill>
                <a:latin typeface="Segoe UI"/>
              </a:rPr>
              <a:t>4</a:t>
            </a:r>
          </a:p>
        </p:txBody>
      </p:sp>
      <p:sp>
        <p:nvSpPr>
          <p:cNvPr id="27" name="TextBox 26"/>
          <p:cNvSpPr txBox="1"/>
          <p:nvPr/>
        </p:nvSpPr>
        <p:spPr>
          <a:xfrm>
            <a:off x="1261872" y="4443983"/>
            <a:ext cx="4297680" cy="219456"/>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0F766E"/>
                </a:solidFill>
                <a:latin typeface="Segoe UI"/>
              </a:rPr>
              <a:t>Index RAM</a:t>
            </a:r>
          </a:p>
        </p:txBody>
      </p:sp>
      <p:sp>
        <p:nvSpPr>
          <p:cNvPr id="28" name="TextBox 27"/>
          <p:cNvSpPr txBox="1"/>
          <p:nvPr/>
        </p:nvSpPr>
        <p:spPr>
          <a:xfrm>
            <a:off x="1261872" y="4681727"/>
            <a:ext cx="4343400" cy="402336"/>
          </a:xfrm>
          <a:prstGeom prst="rect">
            <a:avLst/>
          </a:prstGeom>
          <a:noFill/>
        </p:spPr>
        <p:txBody>
          <a:bodyPr wrap="square" lIns="36576" tIns="18288" rIns="36576" bIns="18288" anchor="t">
            <a:spAutoFit/>
          </a:bodyPr>
          <a:lstStyle/>
          <a:p>
            <a:pPr algn="l">
              <a:lnSpc>
                <a:spcPct val="100000"/>
              </a:lnSpc>
              <a:spcAft>
                <a:spcPts val="0"/>
              </a:spcAft>
            </a:pPr>
            <a:r>
              <a:rPr sz="810" b="0" i="0">
                <a:solidFill>
                  <a:srgbClr val="1E293B"/>
                </a:solidFill>
                <a:latin typeface="Segoe UI"/>
              </a:rPr>
              <a:t>Map&lt;shopId&gt; → entries + vectors</a:t>
            </a:r>
          </a:p>
          <a:p>
            <a:pPr algn="l">
              <a:lnSpc>
                <a:spcPct val="100000"/>
              </a:lnSpc>
              <a:spcAft>
                <a:spcPts val="0"/>
              </a:spcAft>
            </a:pPr>
            <a:r>
              <a:rPr sz="810" b="0" i="0">
                <a:solidFill>
                  <a:srgbClr val="1E293B"/>
                </a:solidFill>
                <a:latin typeface="Segoe UI"/>
              </a:rPr>
              <a:t>vector normalize sẵn → cosine = dot</a:t>
            </a:r>
          </a:p>
        </p:txBody>
      </p:sp>
      <p:sp>
        <p:nvSpPr>
          <p:cNvPr id="29" name="Rounded Rectangle 28"/>
          <p:cNvSpPr/>
          <p:nvPr/>
        </p:nvSpPr>
        <p:spPr>
          <a:xfrm>
            <a:off x="6199632" y="1280160"/>
            <a:ext cx="5394960" cy="4160520"/>
          </a:xfrm>
          <a:prstGeom prst="roundRect">
            <a:avLst>
              <a:gd name="adj" fmla="val 12000"/>
            </a:avLst>
          </a:prstGeom>
          <a:solidFill>
            <a:srgbClr val="FFFFFF"/>
          </a:solidFill>
          <a:ln w="1524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6382512" y="1152144"/>
            <a:ext cx="3566160" cy="274320"/>
          </a:xfrm>
          <a:prstGeom prst="roundRect">
            <a:avLst>
              <a:gd name="adj" fmla="val 50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382512" y="1152144"/>
            <a:ext cx="3566160" cy="274320"/>
          </a:xfrm>
          <a:prstGeom prst="rect">
            <a:avLst/>
          </a:prstGeom>
          <a:noFill/>
        </p:spPr>
        <p:txBody>
          <a:bodyPr wrap="square" lIns="36576" tIns="18288" rIns="36576" bIns="18288" anchor="ctr">
            <a:spAutoFit/>
          </a:bodyPr>
          <a:lstStyle/>
          <a:p>
            <a:pPr algn="ctr">
              <a:lnSpc>
                <a:spcPct val="100000"/>
              </a:lnSpc>
              <a:spcAft>
                <a:spcPts val="0"/>
              </a:spcAft>
            </a:pPr>
            <a:r>
              <a:rPr sz="800" b="1" i="0">
                <a:solidFill>
                  <a:srgbClr val="FFFFFF"/>
                </a:solidFill>
                <a:latin typeface="Segoe UI"/>
              </a:rPr>
              <a:t>PHA 2 · TRUY VẤN (MỖI TIN NHẮN)</a:t>
            </a:r>
          </a:p>
        </p:txBody>
      </p:sp>
      <p:sp>
        <p:nvSpPr>
          <p:cNvPr id="32" name="TextBox 31"/>
          <p:cNvSpPr txBox="1"/>
          <p:nvPr/>
        </p:nvSpPr>
        <p:spPr>
          <a:xfrm>
            <a:off x="6382512" y="1389888"/>
            <a:ext cx="4937760" cy="228600"/>
          </a:xfrm>
          <a:prstGeom prst="rect">
            <a:avLst/>
          </a:prstGeom>
          <a:noFill/>
        </p:spPr>
        <p:txBody>
          <a:bodyPr wrap="square" lIns="36576" tIns="18288" rIns="36576" bIns="18288" anchor="t">
            <a:spAutoFit/>
          </a:bodyPr>
          <a:lstStyle/>
          <a:p>
            <a:pPr algn="l">
              <a:lnSpc>
                <a:spcPct val="100000"/>
              </a:lnSpc>
              <a:spcAft>
                <a:spcPts val="0"/>
              </a:spcAft>
            </a:pPr>
            <a:r>
              <a:rPr sz="819" b="0" i="1">
                <a:solidFill>
                  <a:srgbClr val="64748B"/>
                </a:solidFill>
                <a:latin typeface="Segoe UI"/>
              </a:rPr>
              <a:t>câu hỏi đi qua router trước khi tới RAG</a:t>
            </a:r>
          </a:p>
        </p:txBody>
      </p:sp>
      <p:sp>
        <p:nvSpPr>
          <p:cNvPr id="33" name="Rounded Rectangle 32"/>
          <p:cNvSpPr/>
          <p:nvPr/>
        </p:nvSpPr>
        <p:spPr>
          <a:xfrm>
            <a:off x="6400800" y="1737360"/>
            <a:ext cx="4956048" cy="621792"/>
          </a:xfrm>
          <a:prstGeom prst="roundRect">
            <a:avLst>
              <a:gd name="adj" fmla="val 12000"/>
            </a:avLst>
          </a:prstGeom>
          <a:solidFill>
            <a:srgbClr val="EFF6FF"/>
          </a:solidFill>
          <a:ln w="12700">
            <a:solidFill>
              <a:srgbClr val="DBEAF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6510528" y="1828800"/>
            <a:ext cx="237744" cy="237744"/>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i="0">
                <a:solidFill>
                  <a:srgbClr val="FFFFFF"/>
                </a:solidFill>
                <a:latin typeface="Segoe UI"/>
              </a:rPr>
              <a:t>1</a:t>
            </a:r>
          </a:p>
        </p:txBody>
      </p:sp>
      <p:sp>
        <p:nvSpPr>
          <p:cNvPr id="35" name="TextBox 34"/>
          <p:cNvSpPr txBox="1"/>
          <p:nvPr/>
        </p:nvSpPr>
        <p:spPr>
          <a:xfrm>
            <a:off x="6839712" y="1792224"/>
            <a:ext cx="4343400" cy="201168"/>
          </a:xfrm>
          <a:prstGeom prst="rect">
            <a:avLst/>
          </a:prstGeom>
          <a:noFill/>
        </p:spPr>
        <p:txBody>
          <a:bodyPr wrap="square" lIns="36576" tIns="18288" rIns="36576" bIns="18288" anchor="t">
            <a:spAutoFit/>
          </a:bodyPr>
          <a:lstStyle/>
          <a:p>
            <a:pPr algn="l">
              <a:lnSpc>
                <a:spcPct val="100000"/>
              </a:lnSpc>
              <a:spcAft>
                <a:spcPts val="0"/>
              </a:spcAft>
            </a:pPr>
            <a:r>
              <a:rPr sz="919" b="1" i="0">
                <a:solidFill>
                  <a:srgbClr val="1D4ED8"/>
                </a:solidFill>
                <a:latin typeface="Segoe UI"/>
              </a:rPr>
              <a:t>Câu hỏi</a:t>
            </a:r>
          </a:p>
        </p:txBody>
      </p:sp>
      <p:sp>
        <p:nvSpPr>
          <p:cNvPr id="36" name="TextBox 35"/>
          <p:cNvSpPr txBox="1"/>
          <p:nvPr/>
        </p:nvSpPr>
        <p:spPr>
          <a:xfrm>
            <a:off x="6839712" y="2002536"/>
            <a:ext cx="4389120" cy="329184"/>
          </a:xfrm>
          <a:prstGeom prst="rect">
            <a:avLst/>
          </a:prstGeom>
          <a:noFill/>
        </p:spPr>
        <p:txBody>
          <a:bodyPr wrap="square" lIns="36576" tIns="18288" rIns="36576" bIns="18288" anchor="t">
            <a:spAutoFit/>
          </a:bodyPr>
          <a:lstStyle/>
          <a:p>
            <a:pPr algn="l">
              <a:lnSpc>
                <a:spcPct val="98000"/>
              </a:lnSpc>
              <a:spcAft>
                <a:spcPts val="0"/>
              </a:spcAft>
            </a:pPr>
            <a:r>
              <a:rPr sz="800" b="0" i="0">
                <a:solidFill>
                  <a:srgbClr val="1E293B"/>
                </a:solidFill>
                <a:latin typeface="Segoe UI"/>
              </a:rPr>
              <a:t>buyer gửi qua socket /inbox · JWT</a:t>
            </a:r>
          </a:p>
        </p:txBody>
      </p:sp>
      <p:cxnSp>
        <p:nvCxnSpPr>
          <p:cNvPr id="37" name="Connector 36"/>
          <p:cNvCxnSpPr/>
          <p:nvPr/>
        </p:nvCxnSpPr>
        <p:spPr>
          <a:xfrm>
            <a:off x="8878824" y="2359152"/>
            <a:ext cx="0" cy="118872"/>
          </a:xfrm>
          <a:prstGeom prst="line">
            <a:avLst/>
          </a:prstGeom>
          <a:ln w="15240">
            <a:solidFill>
              <a:srgbClr val="1D4E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400800" y="2478024"/>
            <a:ext cx="4956048" cy="621792"/>
          </a:xfrm>
          <a:prstGeom prst="roundRect">
            <a:avLst>
              <a:gd name="adj" fmla="val 12000"/>
            </a:avLst>
          </a:prstGeom>
          <a:solidFill>
            <a:srgbClr val="EFF6FF"/>
          </a:solidFill>
          <a:ln w="12700">
            <a:solidFill>
              <a:srgbClr val="DBEAF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6510528" y="2569464"/>
            <a:ext cx="237744" cy="237744"/>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i="0">
                <a:solidFill>
                  <a:srgbClr val="FFFFFF"/>
                </a:solidFill>
                <a:latin typeface="Segoe UI"/>
              </a:rPr>
              <a:t>2</a:t>
            </a:r>
          </a:p>
        </p:txBody>
      </p:sp>
      <p:sp>
        <p:nvSpPr>
          <p:cNvPr id="40" name="TextBox 39"/>
          <p:cNvSpPr txBox="1"/>
          <p:nvPr/>
        </p:nvSpPr>
        <p:spPr>
          <a:xfrm>
            <a:off x="6839712" y="2532888"/>
            <a:ext cx="4343400" cy="201168"/>
          </a:xfrm>
          <a:prstGeom prst="rect">
            <a:avLst/>
          </a:prstGeom>
          <a:noFill/>
        </p:spPr>
        <p:txBody>
          <a:bodyPr wrap="square" lIns="36576" tIns="18288" rIns="36576" bIns="18288" anchor="t">
            <a:spAutoFit/>
          </a:bodyPr>
          <a:lstStyle/>
          <a:p>
            <a:pPr algn="l">
              <a:lnSpc>
                <a:spcPct val="100000"/>
              </a:lnSpc>
              <a:spcAft>
                <a:spcPts val="0"/>
              </a:spcAft>
            </a:pPr>
            <a:r>
              <a:rPr sz="919" b="1" i="0">
                <a:solidFill>
                  <a:srgbClr val="1D4ED8"/>
                </a:solidFill>
                <a:latin typeface="Segoe UI"/>
              </a:rPr>
              <a:t>Embed query</a:t>
            </a:r>
          </a:p>
        </p:txBody>
      </p:sp>
      <p:sp>
        <p:nvSpPr>
          <p:cNvPr id="41" name="TextBox 40"/>
          <p:cNvSpPr txBox="1"/>
          <p:nvPr/>
        </p:nvSpPr>
        <p:spPr>
          <a:xfrm>
            <a:off x="6839712" y="2743200"/>
            <a:ext cx="4389120" cy="329184"/>
          </a:xfrm>
          <a:prstGeom prst="rect">
            <a:avLst/>
          </a:prstGeom>
          <a:noFill/>
        </p:spPr>
        <p:txBody>
          <a:bodyPr wrap="square" lIns="36576" tIns="18288" rIns="36576" bIns="18288" anchor="t">
            <a:spAutoFit/>
          </a:bodyPr>
          <a:lstStyle/>
          <a:p>
            <a:pPr algn="l">
              <a:lnSpc>
                <a:spcPct val="98000"/>
              </a:lnSpc>
              <a:spcAft>
                <a:spcPts val="0"/>
              </a:spcAft>
            </a:pPr>
            <a:r>
              <a:rPr sz="800" b="0" i="0">
                <a:solidFill>
                  <a:srgbClr val="1E293B"/>
                </a:solidFill>
                <a:latin typeface="Segoe UI"/>
              </a:rPr>
              <a:t>cùng model · prefix query:</a:t>
            </a:r>
          </a:p>
        </p:txBody>
      </p:sp>
      <p:cxnSp>
        <p:nvCxnSpPr>
          <p:cNvPr id="42" name="Connector 41"/>
          <p:cNvCxnSpPr/>
          <p:nvPr/>
        </p:nvCxnSpPr>
        <p:spPr>
          <a:xfrm>
            <a:off x="8878824" y="3099816"/>
            <a:ext cx="0" cy="118872"/>
          </a:xfrm>
          <a:prstGeom prst="line">
            <a:avLst/>
          </a:prstGeom>
          <a:ln w="15240">
            <a:solidFill>
              <a:srgbClr val="1D4E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6400800" y="3218688"/>
            <a:ext cx="4956048" cy="621792"/>
          </a:xfrm>
          <a:prstGeom prst="roundRect">
            <a:avLst>
              <a:gd name="adj" fmla="val 12000"/>
            </a:avLst>
          </a:prstGeom>
          <a:solidFill>
            <a:srgbClr val="EFF6FF"/>
          </a:solidFill>
          <a:ln w="12700">
            <a:solidFill>
              <a:srgbClr val="DBEAF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6510528" y="3310128"/>
            <a:ext cx="237744" cy="237744"/>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i="0">
                <a:solidFill>
                  <a:srgbClr val="FFFFFF"/>
                </a:solidFill>
                <a:latin typeface="Segoe UI"/>
              </a:rPr>
              <a:t>3</a:t>
            </a:r>
          </a:p>
        </p:txBody>
      </p:sp>
      <p:sp>
        <p:nvSpPr>
          <p:cNvPr id="45" name="TextBox 44"/>
          <p:cNvSpPr txBox="1"/>
          <p:nvPr/>
        </p:nvSpPr>
        <p:spPr>
          <a:xfrm>
            <a:off x="6839712" y="3273552"/>
            <a:ext cx="4343400" cy="201168"/>
          </a:xfrm>
          <a:prstGeom prst="rect">
            <a:avLst/>
          </a:prstGeom>
          <a:noFill/>
        </p:spPr>
        <p:txBody>
          <a:bodyPr wrap="square" lIns="36576" tIns="18288" rIns="36576" bIns="18288" anchor="t">
            <a:spAutoFit/>
          </a:bodyPr>
          <a:lstStyle/>
          <a:p>
            <a:pPr algn="l">
              <a:lnSpc>
                <a:spcPct val="100000"/>
              </a:lnSpc>
              <a:spcAft>
                <a:spcPts val="0"/>
              </a:spcAft>
            </a:pPr>
            <a:r>
              <a:rPr sz="919" b="1" i="0">
                <a:solidFill>
                  <a:srgbClr val="1D4ED8"/>
                </a:solidFill>
                <a:latin typeface="Segoe UI"/>
              </a:rPr>
              <a:t>Top-5</a:t>
            </a:r>
          </a:p>
        </p:txBody>
      </p:sp>
      <p:sp>
        <p:nvSpPr>
          <p:cNvPr id="46" name="TextBox 45"/>
          <p:cNvSpPr txBox="1"/>
          <p:nvPr/>
        </p:nvSpPr>
        <p:spPr>
          <a:xfrm>
            <a:off x="6839712" y="3483864"/>
            <a:ext cx="4389120" cy="329184"/>
          </a:xfrm>
          <a:prstGeom prst="rect">
            <a:avLst/>
          </a:prstGeom>
          <a:noFill/>
        </p:spPr>
        <p:txBody>
          <a:bodyPr wrap="square" lIns="36576" tIns="18288" rIns="36576" bIns="18288" anchor="t">
            <a:spAutoFit/>
          </a:bodyPr>
          <a:lstStyle/>
          <a:p>
            <a:pPr algn="l">
              <a:lnSpc>
                <a:spcPct val="98000"/>
              </a:lnSpc>
              <a:spcAft>
                <a:spcPts val="0"/>
              </a:spcAft>
            </a:pPr>
            <a:r>
              <a:rPr sz="800" b="0" i="0">
                <a:solidFill>
                  <a:srgbClr val="1E293B"/>
                </a:solidFill>
                <a:latin typeface="Segoe UI"/>
              </a:rPr>
              <a:t>dot với vector của ĐÚNG shop → sort giảm dần</a:t>
            </a:r>
          </a:p>
        </p:txBody>
      </p:sp>
      <p:cxnSp>
        <p:nvCxnSpPr>
          <p:cNvPr id="47" name="Connector 46"/>
          <p:cNvCxnSpPr/>
          <p:nvPr/>
        </p:nvCxnSpPr>
        <p:spPr>
          <a:xfrm>
            <a:off x="8878824" y="3840480"/>
            <a:ext cx="0" cy="118872"/>
          </a:xfrm>
          <a:prstGeom prst="line">
            <a:avLst/>
          </a:prstGeom>
          <a:ln w="15240">
            <a:solidFill>
              <a:srgbClr val="1D4E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6400800" y="3959352"/>
            <a:ext cx="4956048" cy="621792"/>
          </a:xfrm>
          <a:prstGeom prst="roundRect">
            <a:avLst>
              <a:gd name="adj" fmla="val 12000"/>
            </a:avLst>
          </a:prstGeom>
          <a:solidFill>
            <a:srgbClr val="EFF6FF"/>
          </a:solidFill>
          <a:ln w="12700">
            <a:solidFill>
              <a:srgbClr val="DBEAF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Oval 48"/>
          <p:cNvSpPr/>
          <p:nvPr/>
        </p:nvSpPr>
        <p:spPr>
          <a:xfrm>
            <a:off x="6510528" y="4050791"/>
            <a:ext cx="237744" cy="237744"/>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i="0">
                <a:solidFill>
                  <a:srgbClr val="FFFFFF"/>
                </a:solidFill>
                <a:latin typeface="Segoe UI"/>
              </a:rPr>
              <a:t>4</a:t>
            </a:r>
          </a:p>
        </p:txBody>
      </p:sp>
      <p:sp>
        <p:nvSpPr>
          <p:cNvPr id="50" name="TextBox 49"/>
          <p:cNvSpPr txBox="1"/>
          <p:nvPr/>
        </p:nvSpPr>
        <p:spPr>
          <a:xfrm>
            <a:off x="6839712" y="4014215"/>
            <a:ext cx="4343400" cy="201168"/>
          </a:xfrm>
          <a:prstGeom prst="rect">
            <a:avLst/>
          </a:prstGeom>
          <a:noFill/>
        </p:spPr>
        <p:txBody>
          <a:bodyPr wrap="square" lIns="36576" tIns="18288" rIns="36576" bIns="18288" anchor="t">
            <a:spAutoFit/>
          </a:bodyPr>
          <a:lstStyle/>
          <a:p>
            <a:pPr algn="l">
              <a:lnSpc>
                <a:spcPct val="100000"/>
              </a:lnSpc>
              <a:spcAft>
                <a:spcPts val="0"/>
              </a:spcAft>
            </a:pPr>
            <a:r>
              <a:rPr sz="919" b="1" i="0">
                <a:solidFill>
                  <a:srgbClr val="1D4ED8"/>
                </a:solidFill>
                <a:latin typeface="Segoe UI"/>
              </a:rPr>
              <a:t>Dựng context</a:t>
            </a:r>
          </a:p>
        </p:txBody>
      </p:sp>
      <p:sp>
        <p:nvSpPr>
          <p:cNvPr id="51" name="TextBox 50"/>
          <p:cNvSpPr txBox="1"/>
          <p:nvPr/>
        </p:nvSpPr>
        <p:spPr>
          <a:xfrm>
            <a:off x="6839712" y="4224528"/>
            <a:ext cx="4389120" cy="329184"/>
          </a:xfrm>
          <a:prstGeom prst="rect">
            <a:avLst/>
          </a:prstGeom>
          <a:noFill/>
        </p:spPr>
        <p:txBody>
          <a:bodyPr wrap="square" lIns="36576" tIns="18288" rIns="36576" bIns="18288" anchor="t">
            <a:spAutoFit/>
          </a:bodyPr>
          <a:lstStyle/>
          <a:p>
            <a:pPr algn="l">
              <a:lnSpc>
                <a:spcPct val="98000"/>
              </a:lnSpc>
              <a:spcAft>
                <a:spcPts val="0"/>
              </a:spcAft>
            </a:pPr>
            <a:r>
              <a:rPr sz="800" b="0" i="0">
                <a:solidFill>
                  <a:srgbClr val="1E293B"/>
                </a:solidFill>
                <a:latin typeface="Segoe UI"/>
              </a:rPr>
              <a:t>KB top-5 + toàn bộ SP giá/kho tươi</a:t>
            </a:r>
          </a:p>
          <a:p>
            <a:pPr algn="l">
              <a:lnSpc>
                <a:spcPct val="98000"/>
              </a:lnSpc>
              <a:spcAft>
                <a:spcPts val="0"/>
              </a:spcAft>
            </a:pPr>
            <a:r>
              <a:rPr sz="800" b="0" i="0">
                <a:solidFill>
                  <a:srgbClr val="1E293B"/>
                </a:solidFill>
                <a:latin typeface="Segoe UI"/>
              </a:rPr>
              <a:t>+ SKU exact + live đang mở + 20 tin</a:t>
            </a:r>
          </a:p>
        </p:txBody>
      </p:sp>
      <p:cxnSp>
        <p:nvCxnSpPr>
          <p:cNvPr id="52" name="Connector 51"/>
          <p:cNvCxnSpPr/>
          <p:nvPr/>
        </p:nvCxnSpPr>
        <p:spPr>
          <a:xfrm>
            <a:off x="8878824" y="4581144"/>
            <a:ext cx="0" cy="118872"/>
          </a:xfrm>
          <a:prstGeom prst="line">
            <a:avLst/>
          </a:prstGeom>
          <a:ln w="15240">
            <a:solidFill>
              <a:srgbClr val="1D4E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6400800" y="4700016"/>
            <a:ext cx="4956048" cy="621792"/>
          </a:xfrm>
          <a:prstGeom prst="roundRect">
            <a:avLst>
              <a:gd name="adj" fmla="val 12000"/>
            </a:avLst>
          </a:prstGeom>
          <a:solidFill>
            <a:srgbClr val="EFF6FF"/>
          </a:solidFill>
          <a:ln w="12700">
            <a:solidFill>
              <a:srgbClr val="DBEAF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Oval 53"/>
          <p:cNvSpPr/>
          <p:nvPr/>
        </p:nvSpPr>
        <p:spPr>
          <a:xfrm>
            <a:off x="6510528" y="4791456"/>
            <a:ext cx="237744" cy="237744"/>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i="0">
                <a:solidFill>
                  <a:srgbClr val="FFFFFF"/>
                </a:solidFill>
                <a:latin typeface="Segoe UI"/>
              </a:rPr>
              <a:t>5</a:t>
            </a:r>
          </a:p>
        </p:txBody>
      </p:sp>
      <p:sp>
        <p:nvSpPr>
          <p:cNvPr id="55" name="TextBox 54"/>
          <p:cNvSpPr txBox="1"/>
          <p:nvPr/>
        </p:nvSpPr>
        <p:spPr>
          <a:xfrm>
            <a:off x="6839712" y="4754880"/>
            <a:ext cx="4343400" cy="201168"/>
          </a:xfrm>
          <a:prstGeom prst="rect">
            <a:avLst/>
          </a:prstGeom>
          <a:noFill/>
        </p:spPr>
        <p:txBody>
          <a:bodyPr wrap="square" lIns="36576" tIns="18288" rIns="36576" bIns="18288" anchor="t">
            <a:spAutoFit/>
          </a:bodyPr>
          <a:lstStyle/>
          <a:p>
            <a:pPr algn="l">
              <a:lnSpc>
                <a:spcPct val="100000"/>
              </a:lnSpc>
              <a:spcAft>
                <a:spcPts val="0"/>
              </a:spcAft>
            </a:pPr>
            <a:r>
              <a:rPr sz="919" b="1" i="0">
                <a:solidFill>
                  <a:srgbClr val="1D4ED8"/>
                </a:solidFill>
                <a:latin typeface="Segoe UI"/>
              </a:rPr>
              <a:t>Groq</a:t>
            </a:r>
          </a:p>
        </p:txBody>
      </p:sp>
      <p:sp>
        <p:nvSpPr>
          <p:cNvPr id="56" name="TextBox 55"/>
          <p:cNvSpPr txBox="1"/>
          <p:nvPr/>
        </p:nvSpPr>
        <p:spPr>
          <a:xfrm>
            <a:off x="6839712" y="4965192"/>
            <a:ext cx="4389120" cy="329184"/>
          </a:xfrm>
          <a:prstGeom prst="rect">
            <a:avLst/>
          </a:prstGeom>
          <a:noFill/>
        </p:spPr>
        <p:txBody>
          <a:bodyPr wrap="square" lIns="36576" tIns="18288" rIns="36576" bIns="18288" anchor="t">
            <a:spAutoFit/>
          </a:bodyPr>
          <a:lstStyle/>
          <a:p>
            <a:pPr algn="l">
              <a:lnSpc>
                <a:spcPct val="98000"/>
              </a:lnSpc>
              <a:spcAft>
                <a:spcPts val="0"/>
              </a:spcAft>
            </a:pPr>
            <a:r>
              <a:rPr sz="800" b="0" i="0">
                <a:solidFill>
                  <a:srgbClr val="1E293B"/>
                </a:solidFill>
                <a:latin typeface="Segoe UI"/>
              </a:rPr>
              <a:t>qwen3.8-27b · timeout 20s → answer + trace</a:t>
            </a:r>
          </a:p>
        </p:txBody>
      </p:sp>
      <p:sp>
        <p:nvSpPr>
          <p:cNvPr id="57" name="Rounded Rectangle 56"/>
          <p:cNvSpPr/>
          <p:nvPr/>
        </p:nvSpPr>
        <p:spPr>
          <a:xfrm>
            <a:off x="594360" y="5623560"/>
            <a:ext cx="11000232" cy="566928"/>
          </a:xfrm>
          <a:prstGeom prst="roundRect">
            <a:avLst>
              <a:gd name="adj" fmla="val 18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777240" y="5678424"/>
            <a:ext cx="10698480" cy="201168"/>
          </a:xfrm>
          <a:prstGeom prst="rect">
            <a:avLst/>
          </a:prstGeom>
          <a:noFill/>
        </p:spPr>
        <p:txBody>
          <a:bodyPr wrap="square" lIns="36576" tIns="18288" rIns="36576" bIns="18288" anchor="t">
            <a:spAutoFit/>
          </a:bodyPr>
          <a:lstStyle/>
          <a:p>
            <a:pPr algn="l">
              <a:lnSpc>
                <a:spcPct val="100000"/>
              </a:lnSpc>
              <a:spcAft>
                <a:spcPts val="0"/>
              </a:spcAft>
            </a:pPr>
            <a:r>
              <a:rPr sz="900" b="1" i="0">
                <a:solidFill>
                  <a:srgbClr val="FDE68A"/>
                </a:solidFill>
                <a:latin typeface="Segoe UI"/>
              </a:rPr>
              <a:t>Giá/kho KHÔNG nằm trong vector — đọc tươi từ DB mỗi lần dựng prompt.</a:t>
            </a:r>
          </a:p>
        </p:txBody>
      </p:sp>
      <p:sp>
        <p:nvSpPr>
          <p:cNvPr id="59" name="TextBox 58"/>
          <p:cNvSpPr txBox="1"/>
          <p:nvPr/>
        </p:nvSpPr>
        <p:spPr>
          <a:xfrm>
            <a:off x="777240" y="5888736"/>
            <a:ext cx="10698480" cy="201168"/>
          </a:xfrm>
          <a:prstGeom prst="rect">
            <a:avLst/>
          </a:prstGeom>
          <a:noFill/>
        </p:spPr>
        <p:txBody>
          <a:bodyPr wrap="square" lIns="36576" tIns="18288" rIns="36576" bIns="18288" anchor="t">
            <a:spAutoFit/>
          </a:bodyPr>
          <a:lstStyle/>
          <a:p>
            <a:pPr algn="l">
              <a:lnSpc>
                <a:spcPct val="100000"/>
              </a:lnSpc>
              <a:spcAft>
                <a:spcPts val="0"/>
              </a:spcAft>
            </a:pPr>
            <a:r>
              <a:rPr sz="819" b="0" i="0">
                <a:solidFill>
                  <a:srgbClr val="CBD5E1"/>
                </a:solidFill>
                <a:latin typeface="Segoe UI"/>
              </a:rPr>
              <a:t>Sửa KB hoặc tên/SKU sản phẩm → invalidateShopIndex(shopId) → lần truy vấn kế tiếp dựng lại.</a:t>
            </a:r>
          </a:p>
        </p:txBody>
      </p:sp>
      <p:cxnSp>
        <p:nvCxnSpPr>
          <p:cNvPr id="60" name="Connector 59"/>
          <p:cNvCxnSpPr/>
          <p:nvPr/>
        </p:nvCxnSpPr>
        <p:spPr>
          <a:xfrm>
            <a:off x="594360" y="6492240"/>
            <a:ext cx="1100023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94360" y="6537960"/>
            <a:ext cx="7315200" cy="201168"/>
          </a:xfrm>
          <a:prstGeom prst="rect">
            <a:avLst/>
          </a:prstGeom>
          <a:noFill/>
        </p:spPr>
        <p:txBody>
          <a:bodyPr wrap="square" lIns="36576" tIns="18288" rIns="36576" bIns="18288" anchor="t">
            <a:spAutoFit/>
          </a:bodyPr>
          <a:lstStyle/>
          <a:p>
            <a:pPr algn="l">
              <a:lnSpc>
                <a:spcPct val="100000"/>
              </a:lnSpc>
              <a:spcAft>
                <a:spcPts val="0"/>
              </a:spcAft>
            </a:pPr>
            <a:r>
              <a:rPr sz="800" b="0" i="0">
                <a:solidFill>
                  <a:srgbClr val="94A3B8"/>
                </a:solidFill>
                <a:latin typeface="Segoe UI"/>
              </a:rPr>
              <a:t>LiveOrder · Pipeline toàn dự án · 2026</a:t>
            </a:r>
          </a:p>
        </p:txBody>
      </p:sp>
      <p:sp>
        <p:nvSpPr>
          <p:cNvPr id="62" name="TextBox 61"/>
          <p:cNvSpPr txBox="1"/>
          <p:nvPr/>
        </p:nvSpPr>
        <p:spPr>
          <a:xfrm>
            <a:off x="8229600" y="6537960"/>
            <a:ext cx="3364992" cy="201168"/>
          </a:xfrm>
          <a:prstGeom prst="rect">
            <a:avLst/>
          </a:prstGeom>
          <a:noFill/>
        </p:spPr>
        <p:txBody>
          <a:bodyPr wrap="square" lIns="36576" tIns="18288" rIns="36576" bIns="18288" anchor="t">
            <a:spAutoFit/>
          </a:bodyPr>
          <a:lstStyle/>
          <a:p>
            <a:pPr algn="r">
              <a:lnSpc>
                <a:spcPct val="100000"/>
              </a:lnSpc>
              <a:spcAft>
                <a:spcPts val="0"/>
              </a:spcAft>
            </a:pPr>
            <a:r>
              <a:rPr sz="800" b="0" i="0">
                <a:solidFill>
                  <a:srgbClr val="94A3B8"/>
                </a:solidFill>
                <a:latin typeface="Segoe UI"/>
              </a:rPr>
              <a:t>Aho-Corasick  ·  RAG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94360" y="274320"/>
            <a:ext cx="6400800" cy="228600"/>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0F766E"/>
                </a:solidFill>
                <a:latin typeface="Segoe UI"/>
              </a:rPr>
              <a:t>08 · CỐT LÕI ②</a:t>
            </a:r>
          </a:p>
        </p:txBody>
      </p:sp>
      <p:sp>
        <p:nvSpPr>
          <p:cNvPr id="4" name="TextBox 3"/>
          <p:cNvSpPr txBox="1"/>
          <p:nvPr/>
        </p:nvSpPr>
        <p:spPr>
          <a:xfrm>
            <a:off x="576072" y="493776"/>
            <a:ext cx="10424160" cy="502920"/>
          </a:xfrm>
          <a:prstGeom prst="rect">
            <a:avLst/>
          </a:prstGeom>
          <a:noFill/>
        </p:spPr>
        <p:txBody>
          <a:bodyPr wrap="square" lIns="36576" tIns="18288" rIns="36576" bIns="18288" anchor="t">
            <a:spAutoFit/>
          </a:bodyPr>
          <a:lstStyle/>
          <a:p>
            <a:pPr algn="l">
              <a:lnSpc>
                <a:spcPct val="100000"/>
              </a:lnSpc>
              <a:spcAft>
                <a:spcPts val="0"/>
              </a:spcAft>
            </a:pPr>
            <a:r>
              <a:rPr sz="2300" b="1" i="0">
                <a:solidFill>
                  <a:srgbClr val="0F172A"/>
                </a:solidFill>
                <a:latin typeface="Segoe UI"/>
              </a:rPr>
              <a:t>Pha nạp: index theo shop, lazy, không vector DB</a:t>
            </a:r>
          </a:p>
        </p:txBody>
      </p:sp>
      <p:sp>
        <p:nvSpPr>
          <p:cNvPr id="5" name="TextBox 4"/>
          <p:cNvSpPr txBox="1"/>
          <p:nvPr/>
        </p:nvSpPr>
        <p:spPr>
          <a:xfrm>
            <a:off x="10698480" y="283464"/>
            <a:ext cx="960120" cy="228600"/>
          </a:xfrm>
          <a:prstGeom prst="rect">
            <a:avLst/>
          </a:prstGeom>
          <a:noFill/>
        </p:spPr>
        <p:txBody>
          <a:bodyPr wrap="square" lIns="36576" tIns="18288" rIns="36576" bIns="18288" anchor="t">
            <a:spAutoFit/>
          </a:bodyPr>
          <a:lstStyle/>
          <a:p>
            <a:pPr algn="r">
              <a:lnSpc>
                <a:spcPct val="100000"/>
              </a:lnSpc>
              <a:spcAft>
                <a:spcPts val="0"/>
              </a:spcAft>
            </a:pPr>
            <a:r>
              <a:rPr sz="900" b="1" i="0">
                <a:solidFill>
                  <a:srgbClr val="94A3B8"/>
                </a:solidFill>
                <a:latin typeface="Segoe UI"/>
              </a:rPr>
              <a:t>09 / 13</a:t>
            </a:r>
          </a:p>
        </p:txBody>
      </p:sp>
      <p:sp>
        <p:nvSpPr>
          <p:cNvPr id="6" name="Rounded Rectangle 5"/>
          <p:cNvSpPr/>
          <p:nvPr/>
        </p:nvSpPr>
        <p:spPr>
          <a:xfrm>
            <a:off x="594360" y="1298448"/>
            <a:ext cx="1700784" cy="1874519"/>
          </a:xfrm>
          <a:prstGeom prst="roundRect">
            <a:avLst>
              <a:gd name="adj" fmla="val 12000"/>
            </a:avLst>
          </a:prstGeom>
          <a:solidFill>
            <a:srgbClr val="FFFFFF"/>
          </a:solidFill>
          <a:ln w="1397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13232" y="1417319"/>
            <a:ext cx="274320" cy="27432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Segoe UI"/>
              </a:rPr>
              <a:t>1</a:t>
            </a:r>
          </a:p>
        </p:txBody>
      </p:sp>
      <p:sp>
        <p:nvSpPr>
          <p:cNvPr id="8" name="TextBox 7"/>
          <p:cNvSpPr txBox="1"/>
          <p:nvPr/>
        </p:nvSpPr>
        <p:spPr>
          <a:xfrm>
            <a:off x="1051560" y="1389888"/>
            <a:ext cx="1170432" cy="347472"/>
          </a:xfrm>
          <a:prstGeom prst="rect">
            <a:avLst/>
          </a:prstGeom>
          <a:noFill/>
        </p:spPr>
        <p:txBody>
          <a:bodyPr wrap="square" lIns="36576" tIns="18288" rIns="36576" bIns="18288" anchor="t">
            <a:spAutoFit/>
          </a:bodyPr>
          <a:lstStyle/>
          <a:p>
            <a:pPr algn="l">
              <a:lnSpc>
                <a:spcPct val="92000"/>
              </a:lnSpc>
              <a:spcAft>
                <a:spcPts val="0"/>
              </a:spcAft>
            </a:pPr>
            <a:r>
              <a:rPr sz="980" b="1" i="0">
                <a:solidFill>
                  <a:srgbClr val="0F172A"/>
                </a:solidFill>
                <a:latin typeface="Segoe UI"/>
              </a:rPr>
              <a:t>Dữ liệu shop</a:t>
            </a:r>
          </a:p>
        </p:txBody>
      </p:sp>
      <p:sp>
        <p:nvSpPr>
          <p:cNvPr id="9" name="TextBox 8"/>
          <p:cNvSpPr txBox="1"/>
          <p:nvPr/>
        </p:nvSpPr>
        <p:spPr>
          <a:xfrm>
            <a:off x="713232" y="1801368"/>
            <a:ext cx="1463040" cy="1325879"/>
          </a:xfrm>
          <a:prstGeom prst="rect">
            <a:avLst/>
          </a:prstGeom>
          <a:noFill/>
        </p:spPr>
        <p:txBody>
          <a:bodyPr wrap="square" lIns="36576" tIns="18288" rIns="36576" bIns="18288" anchor="t">
            <a:spAutoFit/>
          </a:bodyPr>
          <a:lstStyle/>
          <a:p>
            <a:pPr algn="l">
              <a:lnSpc>
                <a:spcPct val="102000"/>
              </a:lnSpc>
              <a:spcAft>
                <a:spcPts val="0"/>
              </a:spcAft>
            </a:pPr>
            <a:r>
              <a:rPr sz="800" b="0" i="0">
                <a:solidFill>
                  <a:srgbClr val="64748B"/>
                </a:solidFill>
                <a:latin typeface="Segoe UI"/>
              </a:rPr>
              <a:t>SELECT KbEntry + Product</a:t>
            </a:r>
          </a:p>
          <a:p>
            <a:pPr algn="l">
              <a:lnSpc>
                <a:spcPct val="102000"/>
              </a:lnSpc>
              <a:spcAft>
                <a:spcPts val="0"/>
              </a:spcAft>
            </a:pPr>
            <a:r>
              <a:rPr sz="800" b="0" i="0">
                <a:solidFill>
                  <a:srgbClr val="64748B"/>
                </a:solidFill>
                <a:latin typeface="Segoe UI"/>
              </a:rPr>
              <a:t>WHERE shopId = phiên chat</a:t>
            </a:r>
          </a:p>
        </p:txBody>
      </p:sp>
      <p:cxnSp>
        <p:nvCxnSpPr>
          <p:cNvPr id="10" name="Connector 9"/>
          <p:cNvCxnSpPr/>
          <p:nvPr/>
        </p:nvCxnSpPr>
        <p:spPr>
          <a:xfrm>
            <a:off x="722376" y="2743200"/>
            <a:ext cx="1444752" cy="0"/>
          </a:xfrm>
          <a:prstGeom prst="line">
            <a:avLst/>
          </a:prstGeom>
          <a:ln w="9525">
            <a:solidFill>
              <a:srgbClr val="0F766E"/>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13232" y="2807208"/>
            <a:ext cx="1463040" cy="256032"/>
          </a:xfrm>
          <a:prstGeom prst="rect">
            <a:avLst/>
          </a:prstGeom>
          <a:noFill/>
        </p:spPr>
        <p:txBody>
          <a:bodyPr wrap="square" lIns="36576" tIns="18288" rIns="36576" bIns="18288" anchor="t">
            <a:spAutoFit/>
          </a:bodyPr>
          <a:lstStyle/>
          <a:p>
            <a:pPr algn="l">
              <a:lnSpc>
                <a:spcPct val="100000"/>
              </a:lnSpc>
              <a:spcAft>
                <a:spcPts val="0"/>
              </a:spcAft>
            </a:pPr>
            <a:r>
              <a:rPr sz="740" b="1" i="0">
                <a:solidFill>
                  <a:srgbClr val="0F766E"/>
                </a:solidFill>
                <a:latin typeface="Segoe UI"/>
              </a:rPr>
              <a:t>→ KB + Product</a:t>
            </a:r>
          </a:p>
        </p:txBody>
      </p:sp>
      <p:sp>
        <p:nvSpPr>
          <p:cNvPr id="12" name="Right Arrow 11"/>
          <p:cNvSpPr/>
          <p:nvPr/>
        </p:nvSpPr>
        <p:spPr>
          <a:xfrm>
            <a:off x="2304288" y="2139696"/>
            <a:ext cx="128016" cy="201168"/>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450591" y="1298448"/>
            <a:ext cx="1700784" cy="1874519"/>
          </a:xfrm>
          <a:prstGeom prst="roundRect">
            <a:avLst>
              <a:gd name="adj" fmla="val 12000"/>
            </a:avLst>
          </a:prstGeom>
          <a:solidFill>
            <a:srgbClr val="FFFFFF"/>
          </a:solidFill>
          <a:ln w="1397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569463" y="1417319"/>
            <a:ext cx="274320" cy="27432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Segoe UI"/>
              </a:rPr>
              <a:t>2</a:t>
            </a:r>
          </a:p>
        </p:txBody>
      </p:sp>
      <p:sp>
        <p:nvSpPr>
          <p:cNvPr id="15" name="TextBox 14"/>
          <p:cNvSpPr txBox="1"/>
          <p:nvPr/>
        </p:nvSpPr>
        <p:spPr>
          <a:xfrm>
            <a:off x="2907791" y="1389888"/>
            <a:ext cx="1170432" cy="347472"/>
          </a:xfrm>
          <a:prstGeom prst="rect">
            <a:avLst/>
          </a:prstGeom>
          <a:noFill/>
        </p:spPr>
        <p:txBody>
          <a:bodyPr wrap="square" lIns="36576" tIns="18288" rIns="36576" bIns="18288" anchor="t">
            <a:spAutoFit/>
          </a:bodyPr>
          <a:lstStyle/>
          <a:p>
            <a:pPr algn="l">
              <a:lnSpc>
                <a:spcPct val="92000"/>
              </a:lnSpc>
              <a:spcAft>
                <a:spcPts val="0"/>
              </a:spcAft>
            </a:pPr>
            <a:r>
              <a:rPr sz="980" b="1" i="0">
                <a:solidFill>
                  <a:srgbClr val="0F172A"/>
                </a:solidFill>
                <a:latin typeface="Segoe UI"/>
              </a:rPr>
              <a:t>Kích hoạt</a:t>
            </a:r>
          </a:p>
        </p:txBody>
      </p:sp>
      <p:sp>
        <p:nvSpPr>
          <p:cNvPr id="16" name="TextBox 15"/>
          <p:cNvSpPr txBox="1"/>
          <p:nvPr/>
        </p:nvSpPr>
        <p:spPr>
          <a:xfrm>
            <a:off x="2569463" y="1801368"/>
            <a:ext cx="1463040" cy="1325879"/>
          </a:xfrm>
          <a:prstGeom prst="rect">
            <a:avLst/>
          </a:prstGeom>
          <a:noFill/>
        </p:spPr>
        <p:txBody>
          <a:bodyPr wrap="square" lIns="36576" tIns="18288" rIns="36576" bIns="18288" anchor="t">
            <a:spAutoFit/>
          </a:bodyPr>
          <a:lstStyle/>
          <a:p>
            <a:pPr algn="l">
              <a:lnSpc>
                <a:spcPct val="102000"/>
              </a:lnSpc>
              <a:spcAft>
                <a:spcPts val="0"/>
              </a:spcAft>
            </a:pPr>
            <a:r>
              <a:rPr sz="800" b="0" i="0">
                <a:solidFill>
                  <a:srgbClr val="64748B"/>
                </a:solidFill>
                <a:latin typeface="Segoe UI"/>
              </a:rPr>
              <a:t>retrieve lần đầu của shop</a:t>
            </a:r>
          </a:p>
          <a:p>
            <a:pPr algn="l">
              <a:lnSpc>
                <a:spcPct val="102000"/>
              </a:lnSpc>
              <a:spcAft>
                <a:spcPts val="0"/>
              </a:spcAft>
            </a:pPr>
            <a:r>
              <a:rPr sz="800" b="0" i="0">
                <a:solidFill>
                  <a:srgbClr val="64748B"/>
                </a:solidFill>
                <a:latin typeface="Segoe UI"/>
              </a:rPr>
              <a:t>hoặc sau invalidate</a:t>
            </a:r>
          </a:p>
        </p:txBody>
      </p:sp>
      <p:cxnSp>
        <p:nvCxnSpPr>
          <p:cNvPr id="17" name="Connector 16"/>
          <p:cNvCxnSpPr/>
          <p:nvPr/>
        </p:nvCxnSpPr>
        <p:spPr>
          <a:xfrm>
            <a:off x="2578608" y="2743200"/>
            <a:ext cx="1444752" cy="0"/>
          </a:xfrm>
          <a:prstGeom prst="line">
            <a:avLst/>
          </a:prstGeom>
          <a:ln w="9525">
            <a:solidFill>
              <a:srgbClr val="0F766E"/>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569463" y="2807208"/>
            <a:ext cx="1463040" cy="256032"/>
          </a:xfrm>
          <a:prstGeom prst="rect">
            <a:avLst/>
          </a:prstGeom>
          <a:noFill/>
        </p:spPr>
        <p:txBody>
          <a:bodyPr wrap="square" lIns="36576" tIns="18288" rIns="36576" bIns="18288" anchor="t">
            <a:spAutoFit/>
          </a:bodyPr>
          <a:lstStyle/>
          <a:p>
            <a:pPr algn="l">
              <a:lnSpc>
                <a:spcPct val="100000"/>
              </a:lnSpc>
              <a:spcAft>
                <a:spcPts val="0"/>
              </a:spcAft>
            </a:pPr>
            <a:r>
              <a:rPr sz="740" b="1" i="0">
                <a:solidFill>
                  <a:srgbClr val="0F766E"/>
                </a:solidFill>
                <a:latin typeface="Segoe UI"/>
              </a:rPr>
              <a:t>→ buildIndex()</a:t>
            </a:r>
          </a:p>
        </p:txBody>
      </p:sp>
      <p:sp>
        <p:nvSpPr>
          <p:cNvPr id="19" name="Right Arrow 18"/>
          <p:cNvSpPr/>
          <p:nvPr/>
        </p:nvSpPr>
        <p:spPr>
          <a:xfrm>
            <a:off x="4160520" y="2139696"/>
            <a:ext cx="128016" cy="201168"/>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306824" y="1298448"/>
            <a:ext cx="1700784" cy="1874519"/>
          </a:xfrm>
          <a:prstGeom prst="roundRect">
            <a:avLst>
              <a:gd name="adj" fmla="val 12000"/>
            </a:avLst>
          </a:prstGeom>
          <a:solidFill>
            <a:srgbClr val="FFFFFF"/>
          </a:solidFill>
          <a:ln w="1397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4425696" y="1417319"/>
            <a:ext cx="274320" cy="27432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Segoe UI"/>
              </a:rPr>
              <a:t>3</a:t>
            </a:r>
          </a:p>
        </p:txBody>
      </p:sp>
      <p:sp>
        <p:nvSpPr>
          <p:cNvPr id="22" name="TextBox 21"/>
          <p:cNvSpPr txBox="1"/>
          <p:nvPr/>
        </p:nvSpPr>
        <p:spPr>
          <a:xfrm>
            <a:off x="4764024" y="1389888"/>
            <a:ext cx="1170432" cy="347472"/>
          </a:xfrm>
          <a:prstGeom prst="rect">
            <a:avLst/>
          </a:prstGeom>
          <a:noFill/>
        </p:spPr>
        <p:txBody>
          <a:bodyPr wrap="square" lIns="36576" tIns="18288" rIns="36576" bIns="18288" anchor="t">
            <a:spAutoFit/>
          </a:bodyPr>
          <a:lstStyle/>
          <a:p>
            <a:pPr algn="l">
              <a:lnSpc>
                <a:spcPct val="92000"/>
              </a:lnSpc>
              <a:spcAft>
                <a:spcPts val="0"/>
              </a:spcAft>
            </a:pPr>
            <a:r>
              <a:rPr sz="980" b="1" i="0">
                <a:solidFill>
                  <a:srgbClr val="0F172A"/>
                </a:solidFill>
                <a:latin typeface="Segoe UI"/>
              </a:rPr>
              <a:t>Ghép passage</a:t>
            </a:r>
          </a:p>
        </p:txBody>
      </p:sp>
      <p:sp>
        <p:nvSpPr>
          <p:cNvPr id="23" name="TextBox 22"/>
          <p:cNvSpPr txBox="1"/>
          <p:nvPr/>
        </p:nvSpPr>
        <p:spPr>
          <a:xfrm>
            <a:off x="4425696" y="1801368"/>
            <a:ext cx="1463040" cy="1325879"/>
          </a:xfrm>
          <a:prstGeom prst="rect">
            <a:avLst/>
          </a:prstGeom>
          <a:noFill/>
        </p:spPr>
        <p:txBody>
          <a:bodyPr wrap="square" lIns="36576" tIns="18288" rIns="36576" bIns="18288" anchor="t">
            <a:spAutoFit/>
          </a:bodyPr>
          <a:lstStyle/>
          <a:p>
            <a:pPr algn="l">
              <a:lnSpc>
                <a:spcPct val="102000"/>
              </a:lnSpc>
              <a:spcAft>
                <a:spcPts val="0"/>
              </a:spcAft>
            </a:pPr>
            <a:r>
              <a:rPr sz="800" b="0" i="0">
                <a:solidFill>
                  <a:srgbClr val="64748B"/>
                </a:solidFill>
                <a:latin typeface="Segoe UI"/>
              </a:rPr>
              <a:t>KB: title + answer</a:t>
            </a:r>
          </a:p>
          <a:p>
            <a:pPr algn="l">
              <a:lnSpc>
                <a:spcPct val="102000"/>
              </a:lnSpc>
              <a:spcAft>
                <a:spcPts val="0"/>
              </a:spcAft>
            </a:pPr>
            <a:r>
              <a:rPr sz="800" b="0" i="0">
                <a:solidFill>
                  <a:srgbClr val="64748B"/>
                </a:solidFill>
                <a:latin typeface="Segoe UI"/>
              </a:rPr>
              <a:t>SP: tên + mã SKU</a:t>
            </a:r>
          </a:p>
        </p:txBody>
      </p:sp>
      <p:cxnSp>
        <p:nvCxnSpPr>
          <p:cNvPr id="24" name="Connector 23"/>
          <p:cNvCxnSpPr/>
          <p:nvPr/>
        </p:nvCxnSpPr>
        <p:spPr>
          <a:xfrm>
            <a:off x="4434840" y="2743200"/>
            <a:ext cx="1444752" cy="0"/>
          </a:xfrm>
          <a:prstGeom prst="line">
            <a:avLst/>
          </a:prstGeom>
          <a:ln w="9525">
            <a:solidFill>
              <a:srgbClr val="1D4ED8"/>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425696" y="2807208"/>
            <a:ext cx="1463040" cy="256032"/>
          </a:xfrm>
          <a:prstGeom prst="rect">
            <a:avLst/>
          </a:prstGeom>
          <a:noFill/>
        </p:spPr>
        <p:txBody>
          <a:bodyPr wrap="square" lIns="36576" tIns="18288" rIns="36576" bIns="18288" anchor="t">
            <a:spAutoFit/>
          </a:bodyPr>
          <a:lstStyle/>
          <a:p>
            <a:pPr algn="l">
              <a:lnSpc>
                <a:spcPct val="100000"/>
              </a:lnSpc>
              <a:spcAft>
                <a:spcPts val="0"/>
              </a:spcAft>
            </a:pPr>
            <a:r>
              <a:rPr sz="740" b="1" i="0">
                <a:solidFill>
                  <a:srgbClr val="1D4ED8"/>
                </a:solidFill>
                <a:latin typeface="Segoe UI"/>
              </a:rPr>
              <a:t>→ passages</a:t>
            </a:r>
          </a:p>
        </p:txBody>
      </p:sp>
      <p:sp>
        <p:nvSpPr>
          <p:cNvPr id="26" name="Right Arrow 25"/>
          <p:cNvSpPr/>
          <p:nvPr/>
        </p:nvSpPr>
        <p:spPr>
          <a:xfrm>
            <a:off x="6016752" y="2139696"/>
            <a:ext cx="128016" cy="201168"/>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163056" y="1298448"/>
            <a:ext cx="1700784" cy="1874519"/>
          </a:xfrm>
          <a:prstGeom prst="roundRect">
            <a:avLst>
              <a:gd name="adj" fmla="val 12000"/>
            </a:avLst>
          </a:prstGeom>
          <a:solidFill>
            <a:srgbClr val="FFFFFF"/>
          </a:solidFill>
          <a:ln w="1397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6281928" y="1417319"/>
            <a:ext cx="274320" cy="27432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Segoe UI"/>
              </a:rPr>
              <a:t>4</a:t>
            </a:r>
          </a:p>
        </p:txBody>
      </p:sp>
      <p:sp>
        <p:nvSpPr>
          <p:cNvPr id="29" name="TextBox 28"/>
          <p:cNvSpPr txBox="1"/>
          <p:nvPr/>
        </p:nvSpPr>
        <p:spPr>
          <a:xfrm>
            <a:off x="6620256" y="1389888"/>
            <a:ext cx="1170432" cy="347472"/>
          </a:xfrm>
          <a:prstGeom prst="rect">
            <a:avLst/>
          </a:prstGeom>
          <a:noFill/>
        </p:spPr>
        <p:txBody>
          <a:bodyPr wrap="square" lIns="36576" tIns="18288" rIns="36576" bIns="18288" anchor="t">
            <a:spAutoFit/>
          </a:bodyPr>
          <a:lstStyle/>
          <a:p>
            <a:pPr algn="l">
              <a:lnSpc>
                <a:spcPct val="92000"/>
              </a:lnSpc>
              <a:spcAft>
                <a:spcPts val="0"/>
              </a:spcAft>
            </a:pPr>
            <a:r>
              <a:rPr sz="980" b="1" i="0">
                <a:solidFill>
                  <a:srgbClr val="0F172A"/>
                </a:solidFill>
                <a:latin typeface="Segoe UI"/>
              </a:rPr>
              <a:t>Embed local</a:t>
            </a:r>
          </a:p>
        </p:txBody>
      </p:sp>
      <p:sp>
        <p:nvSpPr>
          <p:cNvPr id="30" name="TextBox 29"/>
          <p:cNvSpPr txBox="1"/>
          <p:nvPr/>
        </p:nvSpPr>
        <p:spPr>
          <a:xfrm>
            <a:off x="6281928" y="1801368"/>
            <a:ext cx="1463040" cy="1325879"/>
          </a:xfrm>
          <a:prstGeom prst="rect">
            <a:avLst/>
          </a:prstGeom>
          <a:noFill/>
        </p:spPr>
        <p:txBody>
          <a:bodyPr wrap="square" lIns="36576" tIns="18288" rIns="36576" bIns="18288" anchor="t">
            <a:spAutoFit/>
          </a:bodyPr>
          <a:lstStyle/>
          <a:p>
            <a:pPr algn="l">
              <a:lnSpc>
                <a:spcPct val="102000"/>
              </a:lnSpc>
              <a:spcAft>
                <a:spcPts val="0"/>
              </a:spcAft>
            </a:pPr>
            <a:r>
              <a:rPr sz="800" b="0" i="0">
                <a:solidFill>
                  <a:srgbClr val="64748B"/>
                </a:solidFill>
                <a:latin typeface="Segoe UI"/>
              </a:rPr>
              <a:t>e5-small q8 · 384d</a:t>
            </a:r>
          </a:p>
          <a:p>
            <a:pPr algn="l">
              <a:lnSpc>
                <a:spcPct val="102000"/>
              </a:lnSpc>
              <a:spcAft>
                <a:spcPts val="0"/>
              </a:spcAft>
            </a:pPr>
            <a:r>
              <a:rPr sz="800" b="0" i="0">
                <a:solidFill>
                  <a:srgbClr val="64748B"/>
                </a:solidFill>
                <a:latin typeface="Segoe UI"/>
              </a:rPr>
              <a:t>mean pooling · normalize</a:t>
            </a:r>
          </a:p>
        </p:txBody>
      </p:sp>
      <p:cxnSp>
        <p:nvCxnSpPr>
          <p:cNvPr id="31" name="Connector 30"/>
          <p:cNvCxnSpPr/>
          <p:nvPr/>
        </p:nvCxnSpPr>
        <p:spPr>
          <a:xfrm>
            <a:off x="6291072" y="2743200"/>
            <a:ext cx="1444751" cy="0"/>
          </a:xfrm>
          <a:prstGeom prst="line">
            <a:avLst/>
          </a:prstGeom>
          <a:ln w="9525">
            <a:solidFill>
              <a:srgbClr val="1D4ED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281928" y="2807208"/>
            <a:ext cx="1463040" cy="256032"/>
          </a:xfrm>
          <a:prstGeom prst="rect">
            <a:avLst/>
          </a:prstGeom>
          <a:noFill/>
        </p:spPr>
        <p:txBody>
          <a:bodyPr wrap="square" lIns="36576" tIns="18288" rIns="36576" bIns="18288" anchor="t">
            <a:spAutoFit/>
          </a:bodyPr>
          <a:lstStyle/>
          <a:p>
            <a:pPr algn="l">
              <a:lnSpc>
                <a:spcPct val="100000"/>
              </a:lnSpc>
              <a:spcAft>
                <a:spcPts val="0"/>
              </a:spcAft>
            </a:pPr>
            <a:r>
              <a:rPr sz="740" b="1" i="0">
                <a:solidFill>
                  <a:srgbClr val="1D4ED8"/>
                </a:solidFill>
                <a:latin typeface="Segoe UI"/>
              </a:rPr>
              <a:t>→ 384 chiều</a:t>
            </a:r>
          </a:p>
        </p:txBody>
      </p:sp>
      <p:sp>
        <p:nvSpPr>
          <p:cNvPr id="33" name="Right Arrow 32"/>
          <p:cNvSpPr/>
          <p:nvPr/>
        </p:nvSpPr>
        <p:spPr>
          <a:xfrm>
            <a:off x="7872983" y="2139696"/>
            <a:ext cx="128016" cy="201168"/>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019288" y="1298448"/>
            <a:ext cx="1700784" cy="1874519"/>
          </a:xfrm>
          <a:prstGeom prst="roundRect">
            <a:avLst>
              <a:gd name="adj" fmla="val 12000"/>
            </a:avLst>
          </a:prstGeom>
          <a:solidFill>
            <a:srgbClr val="FFFFFF"/>
          </a:solidFill>
          <a:ln w="1397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138160" y="1417319"/>
            <a:ext cx="274320" cy="27432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Segoe UI"/>
              </a:rPr>
              <a:t>5</a:t>
            </a:r>
          </a:p>
        </p:txBody>
      </p:sp>
      <p:sp>
        <p:nvSpPr>
          <p:cNvPr id="36" name="TextBox 35"/>
          <p:cNvSpPr txBox="1"/>
          <p:nvPr/>
        </p:nvSpPr>
        <p:spPr>
          <a:xfrm>
            <a:off x="8476488" y="1389888"/>
            <a:ext cx="1170432" cy="347472"/>
          </a:xfrm>
          <a:prstGeom prst="rect">
            <a:avLst/>
          </a:prstGeom>
          <a:noFill/>
        </p:spPr>
        <p:txBody>
          <a:bodyPr wrap="square" lIns="36576" tIns="18288" rIns="36576" bIns="18288" anchor="t">
            <a:spAutoFit/>
          </a:bodyPr>
          <a:lstStyle/>
          <a:p>
            <a:pPr algn="l">
              <a:lnSpc>
                <a:spcPct val="92000"/>
              </a:lnSpc>
              <a:spcAft>
                <a:spcPts val="0"/>
              </a:spcAft>
            </a:pPr>
            <a:r>
              <a:rPr sz="980" b="1" i="0">
                <a:solidFill>
                  <a:srgbClr val="0F172A"/>
                </a:solidFill>
                <a:latin typeface="Segoe UI"/>
              </a:rPr>
              <a:t>Lưu RAM</a:t>
            </a:r>
          </a:p>
        </p:txBody>
      </p:sp>
      <p:sp>
        <p:nvSpPr>
          <p:cNvPr id="37" name="TextBox 36"/>
          <p:cNvSpPr txBox="1"/>
          <p:nvPr/>
        </p:nvSpPr>
        <p:spPr>
          <a:xfrm>
            <a:off x="8138160" y="1801368"/>
            <a:ext cx="1463040" cy="1325879"/>
          </a:xfrm>
          <a:prstGeom prst="rect">
            <a:avLst/>
          </a:prstGeom>
          <a:noFill/>
        </p:spPr>
        <p:txBody>
          <a:bodyPr wrap="square" lIns="36576" tIns="18288" rIns="36576" bIns="18288" anchor="t">
            <a:spAutoFit/>
          </a:bodyPr>
          <a:lstStyle/>
          <a:p>
            <a:pPr algn="l">
              <a:lnSpc>
                <a:spcPct val="102000"/>
              </a:lnSpc>
              <a:spcAft>
                <a:spcPts val="0"/>
              </a:spcAft>
            </a:pPr>
            <a:r>
              <a:rPr sz="800" b="0" i="0">
                <a:solidFill>
                  <a:srgbClr val="64748B"/>
                </a:solidFill>
                <a:latin typeface="Segoe UI"/>
              </a:rPr>
              <a:t>globalThis Map&lt;shopId&gt;</a:t>
            </a:r>
          </a:p>
          <a:p>
            <a:pPr algn="l">
              <a:lnSpc>
                <a:spcPct val="102000"/>
              </a:lnSpc>
              <a:spcAft>
                <a:spcPts val="0"/>
              </a:spcAft>
            </a:pPr>
            <a:r>
              <a:rPr sz="800" b="0" i="0">
                <a:solidFill>
                  <a:srgbClr val="64748B"/>
                </a:solidFill>
                <a:latin typeface="Segoe UI"/>
              </a:rPr>
              <a:t>entries + vectors + meta</a:t>
            </a:r>
          </a:p>
        </p:txBody>
      </p:sp>
      <p:cxnSp>
        <p:nvCxnSpPr>
          <p:cNvPr id="38" name="Connector 37"/>
          <p:cNvCxnSpPr/>
          <p:nvPr/>
        </p:nvCxnSpPr>
        <p:spPr>
          <a:xfrm>
            <a:off x="8147304" y="2743200"/>
            <a:ext cx="1444751" cy="0"/>
          </a:xfrm>
          <a:prstGeom prst="line">
            <a:avLst/>
          </a:prstGeom>
          <a:ln w="9525">
            <a:solidFill>
              <a:srgbClr val="6D28D9"/>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8138160" y="2807208"/>
            <a:ext cx="1463040" cy="256032"/>
          </a:xfrm>
          <a:prstGeom prst="rect">
            <a:avLst/>
          </a:prstGeom>
          <a:noFill/>
        </p:spPr>
        <p:txBody>
          <a:bodyPr wrap="square" lIns="36576" tIns="18288" rIns="36576" bIns="18288" anchor="t">
            <a:spAutoFit/>
          </a:bodyPr>
          <a:lstStyle/>
          <a:p>
            <a:pPr algn="l">
              <a:lnSpc>
                <a:spcPct val="100000"/>
              </a:lnSpc>
              <a:spcAft>
                <a:spcPts val="0"/>
              </a:spcAft>
            </a:pPr>
            <a:r>
              <a:rPr sz="740" b="1" i="0">
                <a:solidFill>
                  <a:srgbClr val="6D28D9"/>
                </a:solidFill>
                <a:latin typeface="Segoe UI"/>
              </a:rPr>
              <a:t>→ Map&lt;shopId&gt;</a:t>
            </a:r>
          </a:p>
        </p:txBody>
      </p:sp>
      <p:sp>
        <p:nvSpPr>
          <p:cNvPr id="40" name="Right Arrow 39"/>
          <p:cNvSpPr/>
          <p:nvPr/>
        </p:nvSpPr>
        <p:spPr>
          <a:xfrm>
            <a:off x="9729216" y="2139696"/>
            <a:ext cx="128016" cy="201168"/>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9875519" y="1298448"/>
            <a:ext cx="1700784" cy="1874519"/>
          </a:xfrm>
          <a:prstGeom prst="roundRect">
            <a:avLst>
              <a:gd name="adj" fmla="val 12000"/>
            </a:avLst>
          </a:prstGeom>
          <a:solidFill>
            <a:srgbClr val="FFFFFF"/>
          </a:solidFill>
          <a:ln w="1397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9994392" y="1417319"/>
            <a:ext cx="274320" cy="27432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Segoe UI"/>
              </a:rPr>
              <a:t>6</a:t>
            </a:r>
          </a:p>
        </p:txBody>
      </p:sp>
      <p:sp>
        <p:nvSpPr>
          <p:cNvPr id="43" name="TextBox 42"/>
          <p:cNvSpPr txBox="1"/>
          <p:nvPr/>
        </p:nvSpPr>
        <p:spPr>
          <a:xfrm>
            <a:off x="10332719" y="1389888"/>
            <a:ext cx="1170432" cy="347472"/>
          </a:xfrm>
          <a:prstGeom prst="rect">
            <a:avLst/>
          </a:prstGeom>
          <a:noFill/>
        </p:spPr>
        <p:txBody>
          <a:bodyPr wrap="square" lIns="36576" tIns="18288" rIns="36576" bIns="18288" anchor="t">
            <a:spAutoFit/>
          </a:bodyPr>
          <a:lstStyle/>
          <a:p>
            <a:pPr algn="l">
              <a:lnSpc>
                <a:spcPct val="92000"/>
              </a:lnSpc>
              <a:spcAft>
                <a:spcPts val="0"/>
              </a:spcAft>
            </a:pPr>
            <a:r>
              <a:rPr sz="980" b="1" i="0">
                <a:solidFill>
                  <a:srgbClr val="0F172A"/>
                </a:solidFill>
                <a:latin typeface="Segoe UI"/>
              </a:rPr>
              <a:t>Vô hiệu</a:t>
            </a:r>
          </a:p>
        </p:txBody>
      </p:sp>
      <p:sp>
        <p:nvSpPr>
          <p:cNvPr id="44" name="TextBox 43"/>
          <p:cNvSpPr txBox="1"/>
          <p:nvPr/>
        </p:nvSpPr>
        <p:spPr>
          <a:xfrm>
            <a:off x="9994392" y="1801368"/>
            <a:ext cx="1463040" cy="1325879"/>
          </a:xfrm>
          <a:prstGeom prst="rect">
            <a:avLst/>
          </a:prstGeom>
          <a:noFill/>
        </p:spPr>
        <p:txBody>
          <a:bodyPr wrap="square" lIns="36576" tIns="18288" rIns="36576" bIns="18288" anchor="t">
            <a:spAutoFit/>
          </a:bodyPr>
          <a:lstStyle/>
          <a:p>
            <a:pPr algn="l">
              <a:lnSpc>
                <a:spcPct val="102000"/>
              </a:lnSpc>
              <a:spcAft>
                <a:spcPts val="0"/>
              </a:spcAft>
            </a:pPr>
            <a:r>
              <a:rPr sz="800" b="0" i="0">
                <a:solidFill>
                  <a:srgbClr val="64748B"/>
                </a:solidFill>
                <a:latin typeface="Segoe UI"/>
              </a:rPr>
              <a:t>KB/tên/SKU đổi</a:t>
            </a:r>
          </a:p>
          <a:p>
            <a:pPr algn="l">
              <a:lnSpc>
                <a:spcPct val="102000"/>
              </a:lnSpc>
              <a:spcAft>
                <a:spcPts val="0"/>
              </a:spcAft>
            </a:pPr>
            <a:r>
              <a:rPr sz="800" b="0" i="0">
                <a:solidFill>
                  <a:srgbClr val="64748B"/>
                </a:solidFill>
                <a:latin typeface="Segoe UI"/>
              </a:rPr>
              <a:t>invalidateShopIndex(shopId)</a:t>
            </a:r>
          </a:p>
        </p:txBody>
      </p:sp>
      <p:cxnSp>
        <p:nvCxnSpPr>
          <p:cNvPr id="45" name="Connector 44"/>
          <p:cNvCxnSpPr/>
          <p:nvPr/>
        </p:nvCxnSpPr>
        <p:spPr>
          <a:xfrm>
            <a:off x="10003536" y="2743200"/>
            <a:ext cx="1444751" cy="0"/>
          </a:xfrm>
          <a:prstGeom prst="line">
            <a:avLst/>
          </a:prstGeom>
          <a:ln w="9525">
            <a:solidFill>
              <a:srgbClr val="B45309"/>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9994392" y="2807208"/>
            <a:ext cx="1463040" cy="256032"/>
          </a:xfrm>
          <a:prstGeom prst="rect">
            <a:avLst/>
          </a:prstGeom>
          <a:noFill/>
        </p:spPr>
        <p:txBody>
          <a:bodyPr wrap="square" lIns="36576" tIns="18288" rIns="36576" bIns="18288" anchor="t">
            <a:spAutoFit/>
          </a:bodyPr>
          <a:lstStyle/>
          <a:p>
            <a:pPr algn="l">
              <a:lnSpc>
                <a:spcPct val="100000"/>
              </a:lnSpc>
              <a:spcAft>
                <a:spcPts val="0"/>
              </a:spcAft>
            </a:pPr>
            <a:r>
              <a:rPr sz="740" b="1" i="0">
                <a:solidFill>
                  <a:srgbClr val="B45309"/>
                </a:solidFill>
                <a:latin typeface="Segoe UI"/>
              </a:rPr>
              <a:t>→ rebuild lần sau</a:t>
            </a:r>
          </a:p>
        </p:txBody>
      </p:sp>
      <p:sp>
        <p:nvSpPr>
          <p:cNvPr id="47" name="Rounded Rectangle 46"/>
          <p:cNvSpPr/>
          <p:nvPr/>
        </p:nvSpPr>
        <p:spPr>
          <a:xfrm>
            <a:off x="594360" y="3456432"/>
            <a:ext cx="2633472" cy="12344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594360" y="3456432"/>
            <a:ext cx="64008" cy="123444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758952" y="3529584"/>
            <a:ext cx="2331720" cy="228600"/>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15803D"/>
                </a:solidFill>
                <a:latin typeface="Segoe UI"/>
              </a:rPr>
              <a:t>1 model / process</a:t>
            </a:r>
          </a:p>
        </p:txBody>
      </p:sp>
      <p:sp>
        <p:nvSpPr>
          <p:cNvPr id="50" name="TextBox 49"/>
          <p:cNvSpPr txBox="1"/>
          <p:nvPr/>
        </p:nvSpPr>
        <p:spPr>
          <a:xfrm>
            <a:off x="758952" y="3803904"/>
            <a:ext cx="2359152" cy="804672"/>
          </a:xfrm>
          <a:prstGeom prst="rect">
            <a:avLst/>
          </a:prstGeom>
          <a:noFill/>
        </p:spPr>
        <p:txBody>
          <a:bodyPr wrap="square" lIns="36576" tIns="18288" rIns="36576" bIns="18288" anchor="t">
            <a:spAutoFit/>
          </a:bodyPr>
          <a:lstStyle/>
          <a:p>
            <a:pPr algn="l">
              <a:lnSpc>
                <a:spcPct val="102000"/>
              </a:lnSpc>
              <a:spcAft>
                <a:spcPts val="0"/>
              </a:spcAft>
            </a:pPr>
            <a:r>
              <a:rPr sz="780" b="0" i="0">
                <a:solidFill>
                  <a:srgbClr val="64748B"/>
                </a:solidFill>
                <a:latin typeface="Segoe UI"/>
              </a:rPr>
              <a:t>Singleton globalThis; cache .cache/transformers ~113 MB.</a:t>
            </a:r>
          </a:p>
          <a:p>
            <a:pPr algn="l">
              <a:lnSpc>
                <a:spcPct val="102000"/>
              </a:lnSpc>
              <a:spcAft>
                <a:spcPts val="0"/>
              </a:spcAft>
            </a:pPr>
            <a:r>
              <a:rPr sz="780" b="0" i="0">
                <a:solidFill>
                  <a:srgbClr val="64748B"/>
                </a:solidFill>
                <a:latin typeface="Segoe UI"/>
              </a:rPr>
              <a:t>Lần đầu chậm, các lần sau local.</a:t>
            </a:r>
          </a:p>
        </p:txBody>
      </p:sp>
      <p:sp>
        <p:nvSpPr>
          <p:cNvPr id="51" name="Rounded Rectangle 50"/>
          <p:cNvSpPr/>
          <p:nvPr/>
        </p:nvSpPr>
        <p:spPr>
          <a:xfrm>
            <a:off x="3337560" y="3456432"/>
            <a:ext cx="2633472" cy="12344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3337560" y="3456432"/>
            <a:ext cx="64008" cy="12344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3502152" y="3529584"/>
            <a:ext cx="2331720" cy="228600"/>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1D4ED8"/>
                </a:solidFill>
                <a:latin typeface="Segoe UI"/>
              </a:rPr>
              <a:t>Dot = cosine</a:t>
            </a:r>
          </a:p>
        </p:txBody>
      </p:sp>
      <p:sp>
        <p:nvSpPr>
          <p:cNvPr id="54" name="TextBox 53"/>
          <p:cNvSpPr txBox="1"/>
          <p:nvPr/>
        </p:nvSpPr>
        <p:spPr>
          <a:xfrm>
            <a:off x="3502152" y="3803904"/>
            <a:ext cx="2359152" cy="804672"/>
          </a:xfrm>
          <a:prstGeom prst="rect">
            <a:avLst/>
          </a:prstGeom>
          <a:noFill/>
        </p:spPr>
        <p:txBody>
          <a:bodyPr wrap="square" lIns="36576" tIns="18288" rIns="36576" bIns="18288" anchor="t">
            <a:spAutoFit/>
          </a:bodyPr>
          <a:lstStyle/>
          <a:p>
            <a:pPr algn="l">
              <a:lnSpc>
                <a:spcPct val="102000"/>
              </a:lnSpc>
              <a:spcAft>
                <a:spcPts val="0"/>
              </a:spcAft>
            </a:pPr>
            <a:r>
              <a:rPr sz="780" b="0" i="0">
                <a:solidFill>
                  <a:srgbClr val="64748B"/>
                </a:solidFill>
                <a:latin typeface="Segoe UI"/>
              </a:rPr>
              <a:t>Vector đã normalize sẵn; topK mặc định = 5.</a:t>
            </a:r>
          </a:p>
          <a:p>
            <a:pPr algn="l">
              <a:lnSpc>
                <a:spcPct val="102000"/>
              </a:lnSpc>
              <a:spcAft>
                <a:spcPts val="0"/>
              </a:spcAft>
            </a:pPr>
            <a:r>
              <a:rPr sz="780" b="0" i="0">
                <a:solidFill>
                  <a:srgbClr val="64748B"/>
                </a:solidFill>
                <a:latin typeface="Segoe UI"/>
              </a:rPr>
              <a:t>Không cần thư viện vector DB.</a:t>
            </a:r>
          </a:p>
        </p:txBody>
      </p:sp>
      <p:sp>
        <p:nvSpPr>
          <p:cNvPr id="55" name="Rounded Rectangle 54"/>
          <p:cNvSpPr/>
          <p:nvPr/>
        </p:nvSpPr>
        <p:spPr>
          <a:xfrm>
            <a:off x="6080760" y="3456432"/>
            <a:ext cx="2633472" cy="12344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6080760" y="3456432"/>
            <a:ext cx="64008" cy="123444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6245352" y="3529584"/>
            <a:ext cx="2331720" cy="228600"/>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0F766E"/>
                </a:solidFill>
                <a:latin typeface="Segoe UI"/>
              </a:rPr>
              <a:t>Cô lập shop</a:t>
            </a:r>
          </a:p>
        </p:txBody>
      </p:sp>
      <p:sp>
        <p:nvSpPr>
          <p:cNvPr id="58" name="TextBox 57"/>
          <p:cNvSpPr txBox="1"/>
          <p:nvPr/>
        </p:nvSpPr>
        <p:spPr>
          <a:xfrm>
            <a:off x="6245352" y="3803904"/>
            <a:ext cx="2359152" cy="804672"/>
          </a:xfrm>
          <a:prstGeom prst="rect">
            <a:avLst/>
          </a:prstGeom>
          <a:noFill/>
        </p:spPr>
        <p:txBody>
          <a:bodyPr wrap="square" lIns="36576" tIns="18288" rIns="36576" bIns="18288" anchor="t">
            <a:spAutoFit/>
          </a:bodyPr>
          <a:lstStyle/>
          <a:p>
            <a:pPr algn="l">
              <a:lnSpc>
                <a:spcPct val="102000"/>
              </a:lnSpc>
              <a:spcAft>
                <a:spcPts val="0"/>
              </a:spcAft>
            </a:pPr>
            <a:r>
              <a:rPr sz="780" b="0" i="0">
                <a:solidFill>
                  <a:srgbClr val="64748B"/>
                </a:solidFill>
                <a:latin typeface="Segoe UI"/>
              </a:rPr>
              <a:t>Index riêng theo shopId. SP01 shop A ≠ SP01 shop B.</a:t>
            </a:r>
          </a:p>
          <a:p>
            <a:pPr algn="l">
              <a:lnSpc>
                <a:spcPct val="102000"/>
              </a:lnSpc>
              <a:spcAft>
                <a:spcPts val="0"/>
              </a:spcAft>
            </a:pPr>
            <a:r>
              <a:rPr sz="780" b="0" i="0">
                <a:solidFill>
                  <a:srgbClr val="64748B"/>
                </a:solidFill>
                <a:latin typeface="Segoe UI"/>
              </a:rPr>
              <a:t>Không lẫn tri thức.</a:t>
            </a:r>
          </a:p>
        </p:txBody>
      </p:sp>
      <p:sp>
        <p:nvSpPr>
          <p:cNvPr id="59" name="Rounded Rectangle 58"/>
          <p:cNvSpPr/>
          <p:nvPr/>
        </p:nvSpPr>
        <p:spPr>
          <a:xfrm>
            <a:off x="8823960" y="3456432"/>
            <a:ext cx="2633472" cy="12344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ectangle 59"/>
          <p:cNvSpPr/>
          <p:nvPr/>
        </p:nvSpPr>
        <p:spPr>
          <a:xfrm>
            <a:off x="8823960" y="3456432"/>
            <a:ext cx="64008" cy="123444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8988552" y="3529584"/>
            <a:ext cx="2331720" cy="228600"/>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B45309"/>
                </a:solidFill>
                <a:latin typeface="Segoe UI"/>
              </a:rPr>
              <a:t>Không bền</a:t>
            </a:r>
          </a:p>
        </p:txBody>
      </p:sp>
      <p:sp>
        <p:nvSpPr>
          <p:cNvPr id="62" name="TextBox 61"/>
          <p:cNvSpPr txBox="1"/>
          <p:nvPr/>
        </p:nvSpPr>
        <p:spPr>
          <a:xfrm>
            <a:off x="8988552" y="3803904"/>
            <a:ext cx="2359152" cy="804672"/>
          </a:xfrm>
          <a:prstGeom prst="rect">
            <a:avLst/>
          </a:prstGeom>
          <a:noFill/>
        </p:spPr>
        <p:txBody>
          <a:bodyPr wrap="square" lIns="36576" tIns="18288" rIns="36576" bIns="18288" anchor="t">
            <a:spAutoFit/>
          </a:bodyPr>
          <a:lstStyle/>
          <a:p>
            <a:pPr algn="l">
              <a:lnSpc>
                <a:spcPct val="102000"/>
              </a:lnSpc>
              <a:spcAft>
                <a:spcPts val="0"/>
              </a:spcAft>
            </a:pPr>
            <a:r>
              <a:rPr sz="780" b="0" i="0">
                <a:solidFill>
                  <a:srgbClr val="64748B"/>
                </a:solidFill>
                <a:latin typeface="Segoe UI"/>
              </a:rPr>
              <a:t>Restart → dựng lại. Đổi giá/kho KHÔNG invalidate</a:t>
            </a:r>
          </a:p>
          <a:p>
            <a:pPr algn="l">
              <a:lnSpc>
                <a:spcPct val="102000"/>
              </a:lnSpc>
              <a:spcAft>
                <a:spcPts val="0"/>
              </a:spcAft>
            </a:pPr>
            <a:r>
              <a:rPr sz="780" b="0" i="0">
                <a:solidFill>
                  <a:srgbClr val="64748B"/>
                </a:solidFill>
                <a:latin typeface="Segoe UI"/>
              </a:rPr>
              <a:t>vì giá/kho không nằm trong vector.</a:t>
            </a:r>
          </a:p>
        </p:txBody>
      </p:sp>
      <p:sp>
        <p:nvSpPr>
          <p:cNvPr id="63" name="Rounded Rectangle 62"/>
          <p:cNvSpPr/>
          <p:nvPr/>
        </p:nvSpPr>
        <p:spPr>
          <a:xfrm>
            <a:off x="594360" y="4892040"/>
            <a:ext cx="11000232" cy="1078992"/>
          </a:xfrm>
          <a:prstGeom prst="roundRect">
            <a:avLst>
              <a:gd name="adj" fmla="val 1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777240" y="4965192"/>
            <a:ext cx="10607040" cy="201168"/>
          </a:xfrm>
          <a:prstGeom prst="rect">
            <a:avLst/>
          </a:prstGeom>
          <a:noFill/>
        </p:spPr>
        <p:txBody>
          <a:bodyPr wrap="square" lIns="36576" tIns="18288" rIns="36576" bIns="18288" anchor="t">
            <a:spAutoFit/>
          </a:bodyPr>
          <a:lstStyle/>
          <a:p>
            <a:pPr algn="l">
              <a:lnSpc>
                <a:spcPct val="100000"/>
              </a:lnSpc>
              <a:spcAft>
                <a:spcPts val="0"/>
              </a:spcAft>
            </a:pPr>
            <a:r>
              <a:rPr sz="800" b="1" i="0">
                <a:solidFill>
                  <a:srgbClr val="5EEAD4"/>
                </a:solidFill>
                <a:latin typeface="Segoe UI"/>
              </a:rPr>
              <a:t>BẢN GHI INDEX TRONG RAM</a:t>
            </a:r>
          </a:p>
        </p:txBody>
      </p:sp>
      <p:sp>
        <p:nvSpPr>
          <p:cNvPr id="65" name="TextBox 64"/>
          <p:cNvSpPr txBox="1"/>
          <p:nvPr/>
        </p:nvSpPr>
        <p:spPr>
          <a:xfrm>
            <a:off x="777240" y="5193792"/>
            <a:ext cx="2788920" cy="713232"/>
          </a:xfrm>
          <a:prstGeom prst="rect">
            <a:avLst/>
          </a:prstGeom>
          <a:noFill/>
        </p:spPr>
        <p:txBody>
          <a:bodyPr wrap="square" lIns="36576" tIns="18288" rIns="36576" bIns="18288" anchor="t">
            <a:spAutoFit/>
          </a:bodyPr>
          <a:lstStyle/>
          <a:p>
            <a:pPr algn="l">
              <a:lnSpc>
                <a:spcPct val="105000"/>
              </a:lnSpc>
              <a:spcAft>
                <a:spcPts val="0"/>
              </a:spcAft>
            </a:pPr>
            <a:r>
              <a:rPr sz="830" b="0" i="0">
                <a:solidFill>
                  <a:srgbClr val="E2E8F0"/>
                </a:solidFill>
                <a:latin typeface="Consolas"/>
              </a:rPr>
              <a:t>Map&lt;shopId, ShopIndex&gt;</a:t>
            </a:r>
          </a:p>
        </p:txBody>
      </p:sp>
      <p:sp>
        <p:nvSpPr>
          <p:cNvPr id="66" name="TextBox 65"/>
          <p:cNvSpPr txBox="1"/>
          <p:nvPr/>
        </p:nvSpPr>
        <p:spPr>
          <a:xfrm>
            <a:off x="3703320" y="5193792"/>
            <a:ext cx="3246120" cy="713232"/>
          </a:xfrm>
          <a:prstGeom prst="rect">
            <a:avLst/>
          </a:prstGeom>
          <a:noFill/>
        </p:spPr>
        <p:txBody>
          <a:bodyPr wrap="square" lIns="36576" tIns="18288" rIns="36576" bIns="18288" anchor="t">
            <a:spAutoFit/>
          </a:bodyPr>
          <a:lstStyle/>
          <a:p>
            <a:pPr algn="l">
              <a:lnSpc>
                <a:spcPct val="105000"/>
              </a:lnSpc>
              <a:spcAft>
                <a:spcPts val="0"/>
              </a:spcAft>
            </a:pPr>
            <a:r>
              <a:rPr sz="830" b="0" i="0">
                <a:solidFill>
                  <a:srgbClr val="CBD5E1"/>
                </a:solidFill>
                <a:latin typeface="Consolas"/>
              </a:rPr>
              <a:t>meta: modelId · revision · builtAt</a:t>
            </a:r>
          </a:p>
          <a:p>
            <a:pPr algn="l">
              <a:lnSpc>
                <a:spcPct val="105000"/>
              </a:lnSpc>
              <a:spcAft>
                <a:spcPts val="0"/>
              </a:spcAft>
            </a:pPr>
            <a:r>
              <a:rPr sz="830" b="0" i="0">
                <a:solidFill>
                  <a:srgbClr val="CBD5E1"/>
                </a:solidFill>
                <a:latin typeface="Consolas"/>
              </a:rPr>
              <a:t>kbCount · productCount</a:t>
            </a:r>
          </a:p>
        </p:txBody>
      </p:sp>
      <p:sp>
        <p:nvSpPr>
          <p:cNvPr id="67" name="TextBox 66"/>
          <p:cNvSpPr txBox="1"/>
          <p:nvPr/>
        </p:nvSpPr>
        <p:spPr>
          <a:xfrm>
            <a:off x="7086600" y="5193792"/>
            <a:ext cx="4160520" cy="713232"/>
          </a:xfrm>
          <a:prstGeom prst="rect">
            <a:avLst/>
          </a:prstGeom>
          <a:noFill/>
        </p:spPr>
        <p:txBody>
          <a:bodyPr wrap="square" lIns="36576" tIns="18288" rIns="36576" bIns="18288" anchor="t">
            <a:spAutoFit/>
          </a:bodyPr>
          <a:lstStyle/>
          <a:p>
            <a:pPr algn="l">
              <a:lnSpc>
                <a:spcPct val="105000"/>
              </a:lnSpc>
              <a:spcAft>
                <a:spcPts val="0"/>
              </a:spcAft>
            </a:pPr>
            <a:r>
              <a:rPr sz="830" b="0" i="0">
                <a:solidFill>
                  <a:srgbClr val="CBD5E1"/>
                </a:solidFill>
                <a:latin typeface="Consolas"/>
              </a:rPr>
              <a:t>entries: id · kind(kb|product) · title · sku?</a:t>
            </a:r>
          </a:p>
          <a:p>
            <a:pPr algn="l">
              <a:lnSpc>
                <a:spcPct val="105000"/>
              </a:lnSpc>
              <a:spcAft>
                <a:spcPts val="0"/>
              </a:spcAft>
            </a:pPr>
            <a:r>
              <a:rPr sz="830" b="0" i="0">
                <a:solidFill>
                  <a:srgbClr val="CBD5E1"/>
                </a:solidFill>
                <a:latin typeface="Consolas"/>
              </a:rPr>
              <a:t>vectors: number[][] · 384 chiều · normalized</a:t>
            </a:r>
          </a:p>
        </p:txBody>
      </p:sp>
      <p:cxnSp>
        <p:nvCxnSpPr>
          <p:cNvPr id="68" name="Connector 67"/>
          <p:cNvCxnSpPr/>
          <p:nvPr/>
        </p:nvCxnSpPr>
        <p:spPr>
          <a:xfrm>
            <a:off x="594360" y="6492240"/>
            <a:ext cx="1100023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594360" y="6537960"/>
            <a:ext cx="7315200" cy="201168"/>
          </a:xfrm>
          <a:prstGeom prst="rect">
            <a:avLst/>
          </a:prstGeom>
          <a:noFill/>
        </p:spPr>
        <p:txBody>
          <a:bodyPr wrap="square" lIns="36576" tIns="18288" rIns="36576" bIns="18288" anchor="t">
            <a:spAutoFit/>
          </a:bodyPr>
          <a:lstStyle/>
          <a:p>
            <a:pPr algn="l">
              <a:lnSpc>
                <a:spcPct val="100000"/>
              </a:lnSpc>
              <a:spcAft>
                <a:spcPts val="0"/>
              </a:spcAft>
            </a:pPr>
            <a:r>
              <a:rPr sz="800" b="0" i="0">
                <a:solidFill>
                  <a:srgbClr val="94A3B8"/>
                </a:solidFill>
                <a:latin typeface="Segoe UI"/>
              </a:rPr>
              <a:t>LiveOrder · Pipeline toàn dự án · 2026</a:t>
            </a:r>
          </a:p>
        </p:txBody>
      </p:sp>
      <p:sp>
        <p:nvSpPr>
          <p:cNvPr id="70" name="TextBox 69"/>
          <p:cNvSpPr txBox="1"/>
          <p:nvPr/>
        </p:nvSpPr>
        <p:spPr>
          <a:xfrm>
            <a:off x="8229600" y="6537960"/>
            <a:ext cx="3364992" cy="201168"/>
          </a:xfrm>
          <a:prstGeom prst="rect">
            <a:avLst/>
          </a:prstGeom>
          <a:noFill/>
        </p:spPr>
        <p:txBody>
          <a:bodyPr wrap="square" lIns="36576" tIns="18288" rIns="36576" bIns="18288" anchor="t">
            <a:spAutoFit/>
          </a:bodyPr>
          <a:lstStyle/>
          <a:p>
            <a:pPr algn="r">
              <a:lnSpc>
                <a:spcPct val="100000"/>
              </a:lnSpc>
              <a:spcAft>
                <a:spcPts val="0"/>
              </a:spcAft>
            </a:pPr>
            <a:r>
              <a:rPr sz="800" b="0" i="0">
                <a:solidFill>
                  <a:srgbClr val="94A3B8"/>
                </a:solidFill>
                <a:latin typeface="Segoe UI"/>
              </a:rPr>
              <a:t>Aho-Corasick  ·  RAG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94360" y="274320"/>
            <a:ext cx="6400800" cy="228600"/>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0F766E"/>
                </a:solidFill>
                <a:latin typeface="Segoe UI"/>
              </a:rPr>
              <a:t>09 · CỐT LÕI ②</a:t>
            </a:r>
          </a:p>
        </p:txBody>
      </p:sp>
      <p:sp>
        <p:nvSpPr>
          <p:cNvPr id="4" name="TextBox 3"/>
          <p:cNvSpPr txBox="1"/>
          <p:nvPr/>
        </p:nvSpPr>
        <p:spPr>
          <a:xfrm>
            <a:off x="576072" y="493776"/>
            <a:ext cx="10424160" cy="502920"/>
          </a:xfrm>
          <a:prstGeom prst="rect">
            <a:avLst/>
          </a:prstGeom>
          <a:noFill/>
        </p:spPr>
        <p:txBody>
          <a:bodyPr wrap="square" lIns="36576" tIns="18288" rIns="36576" bIns="18288" anchor="t">
            <a:spAutoFit/>
          </a:bodyPr>
          <a:lstStyle/>
          <a:p>
            <a:pPr algn="l">
              <a:lnSpc>
                <a:spcPct val="100000"/>
              </a:lnSpc>
              <a:spcAft>
                <a:spcPts val="0"/>
              </a:spcAft>
            </a:pPr>
            <a:r>
              <a:rPr sz="2300" b="1" i="0">
                <a:solidFill>
                  <a:srgbClr val="0F172A"/>
                </a:solidFill>
                <a:latin typeface="Segoe UI"/>
              </a:rPr>
              <a:t>Pha truy vấn: router 3 nhánh + top-5 + DB tươi</a:t>
            </a:r>
          </a:p>
        </p:txBody>
      </p:sp>
      <p:sp>
        <p:nvSpPr>
          <p:cNvPr id="5" name="TextBox 4"/>
          <p:cNvSpPr txBox="1"/>
          <p:nvPr/>
        </p:nvSpPr>
        <p:spPr>
          <a:xfrm>
            <a:off x="10698480" y="283464"/>
            <a:ext cx="960120" cy="228600"/>
          </a:xfrm>
          <a:prstGeom prst="rect">
            <a:avLst/>
          </a:prstGeom>
          <a:noFill/>
        </p:spPr>
        <p:txBody>
          <a:bodyPr wrap="square" lIns="36576" tIns="18288" rIns="36576" bIns="18288" anchor="t">
            <a:spAutoFit/>
          </a:bodyPr>
          <a:lstStyle/>
          <a:p>
            <a:pPr algn="r">
              <a:lnSpc>
                <a:spcPct val="100000"/>
              </a:lnSpc>
              <a:spcAft>
                <a:spcPts val="0"/>
              </a:spcAft>
            </a:pPr>
            <a:r>
              <a:rPr sz="900" b="1" i="0">
                <a:solidFill>
                  <a:srgbClr val="94A3B8"/>
                </a:solidFill>
                <a:latin typeface="Segoe UI"/>
              </a:rPr>
              <a:t>10 / 13</a:t>
            </a:r>
          </a:p>
        </p:txBody>
      </p:sp>
      <p:sp>
        <p:nvSpPr>
          <p:cNvPr id="6" name="Rounded Rectangle 5"/>
          <p:cNvSpPr/>
          <p:nvPr/>
        </p:nvSpPr>
        <p:spPr>
          <a:xfrm>
            <a:off x="594360" y="1298448"/>
            <a:ext cx="1700784" cy="1737360"/>
          </a:xfrm>
          <a:prstGeom prst="roundRect">
            <a:avLst>
              <a:gd name="adj" fmla="val 12000"/>
            </a:avLst>
          </a:prstGeom>
          <a:solidFill>
            <a:srgbClr val="FFFFFF"/>
          </a:solidFill>
          <a:ln w="1397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13232" y="1417319"/>
            <a:ext cx="274320" cy="27432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Segoe UI"/>
              </a:rPr>
              <a:t>1</a:t>
            </a:r>
          </a:p>
        </p:txBody>
      </p:sp>
      <p:sp>
        <p:nvSpPr>
          <p:cNvPr id="8" name="TextBox 7"/>
          <p:cNvSpPr txBox="1"/>
          <p:nvPr/>
        </p:nvSpPr>
        <p:spPr>
          <a:xfrm>
            <a:off x="1051560" y="1389888"/>
            <a:ext cx="1170432" cy="347472"/>
          </a:xfrm>
          <a:prstGeom prst="rect">
            <a:avLst/>
          </a:prstGeom>
          <a:noFill/>
        </p:spPr>
        <p:txBody>
          <a:bodyPr wrap="square" lIns="36576" tIns="18288" rIns="36576" bIns="18288" anchor="t">
            <a:spAutoFit/>
          </a:bodyPr>
          <a:lstStyle/>
          <a:p>
            <a:pPr algn="l">
              <a:lnSpc>
                <a:spcPct val="92000"/>
              </a:lnSpc>
              <a:spcAft>
                <a:spcPts val="0"/>
              </a:spcAft>
            </a:pPr>
            <a:r>
              <a:rPr sz="980" b="1" i="0">
                <a:solidFill>
                  <a:srgbClr val="0F172A"/>
                </a:solidFill>
                <a:latin typeface="Segoe UI"/>
              </a:rPr>
              <a:t>Nhận tin</a:t>
            </a:r>
          </a:p>
        </p:txBody>
      </p:sp>
      <p:sp>
        <p:nvSpPr>
          <p:cNvPr id="9" name="TextBox 8"/>
          <p:cNvSpPr txBox="1"/>
          <p:nvPr/>
        </p:nvSpPr>
        <p:spPr>
          <a:xfrm>
            <a:off x="713232" y="1801368"/>
            <a:ext cx="1463040" cy="1188719"/>
          </a:xfrm>
          <a:prstGeom prst="rect">
            <a:avLst/>
          </a:prstGeom>
          <a:noFill/>
        </p:spPr>
        <p:txBody>
          <a:bodyPr wrap="square" lIns="36576" tIns="18288" rIns="36576" bIns="18288" anchor="t">
            <a:spAutoFit/>
          </a:bodyPr>
          <a:lstStyle/>
          <a:p>
            <a:pPr algn="l">
              <a:lnSpc>
                <a:spcPct val="102000"/>
              </a:lnSpc>
              <a:spcAft>
                <a:spcPts val="0"/>
              </a:spcAft>
            </a:pPr>
            <a:r>
              <a:rPr sz="800" b="0" i="0">
                <a:solidFill>
                  <a:srgbClr val="64748B"/>
                </a:solidFill>
                <a:latin typeface="Segoe UI"/>
              </a:rPr>
              <a:t>/inbox · JWT</a:t>
            </a:r>
          </a:p>
          <a:p>
            <a:pPr algn="l">
              <a:lnSpc>
                <a:spcPct val="102000"/>
              </a:lnSpc>
              <a:spcAft>
                <a:spcPts val="0"/>
              </a:spcAft>
            </a:pPr>
            <a:r>
              <a:rPr sz="800" b="0" i="0">
                <a:solidFill>
                  <a:srgbClr val="64748B"/>
                </a:solidFill>
                <a:latin typeface="Segoe UI"/>
              </a:rPr>
              <a:t>lưu BUYER · dedup nonce</a:t>
            </a:r>
          </a:p>
          <a:p>
            <a:pPr algn="l">
              <a:lnSpc>
                <a:spcPct val="102000"/>
              </a:lnSpc>
              <a:spcAft>
                <a:spcPts val="0"/>
              </a:spcAft>
            </a:pPr>
            <a:r>
              <a:rPr sz="800" b="0" i="0">
                <a:solidFill>
                  <a:srgbClr val="64748B"/>
                </a:solidFill>
                <a:latin typeface="Segoe UI"/>
              </a:rPr>
              <a:t>phát realtime</a:t>
            </a:r>
          </a:p>
        </p:txBody>
      </p:sp>
      <p:cxnSp>
        <p:nvCxnSpPr>
          <p:cNvPr id="10" name="Connector 9"/>
          <p:cNvCxnSpPr/>
          <p:nvPr/>
        </p:nvCxnSpPr>
        <p:spPr>
          <a:xfrm>
            <a:off x="722376" y="2606039"/>
            <a:ext cx="1444752" cy="0"/>
          </a:xfrm>
          <a:prstGeom prst="line">
            <a:avLst/>
          </a:prstGeom>
          <a:ln w="9525">
            <a:solidFill>
              <a:srgbClr val="0F766E"/>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13232" y="2670048"/>
            <a:ext cx="1463040" cy="256032"/>
          </a:xfrm>
          <a:prstGeom prst="rect">
            <a:avLst/>
          </a:prstGeom>
          <a:noFill/>
        </p:spPr>
        <p:txBody>
          <a:bodyPr wrap="square" lIns="36576" tIns="18288" rIns="36576" bIns="18288" anchor="t">
            <a:spAutoFit/>
          </a:bodyPr>
          <a:lstStyle/>
          <a:p>
            <a:pPr algn="l">
              <a:lnSpc>
                <a:spcPct val="100000"/>
              </a:lnSpc>
              <a:spcAft>
                <a:spcPts val="0"/>
              </a:spcAft>
            </a:pPr>
            <a:r>
              <a:rPr sz="740" b="1" i="0">
                <a:solidFill>
                  <a:srgbClr val="0F766E"/>
                </a:solidFill>
                <a:latin typeface="Segoe UI"/>
              </a:rPr>
              <a:t>→ BUYER row</a:t>
            </a:r>
          </a:p>
        </p:txBody>
      </p:sp>
      <p:sp>
        <p:nvSpPr>
          <p:cNvPr id="12" name="Right Arrow 11"/>
          <p:cNvSpPr/>
          <p:nvPr/>
        </p:nvSpPr>
        <p:spPr>
          <a:xfrm>
            <a:off x="2304288" y="2066543"/>
            <a:ext cx="128016" cy="201168"/>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450591" y="1298448"/>
            <a:ext cx="1700784" cy="1737360"/>
          </a:xfrm>
          <a:prstGeom prst="roundRect">
            <a:avLst>
              <a:gd name="adj" fmla="val 12000"/>
            </a:avLst>
          </a:prstGeom>
          <a:solidFill>
            <a:srgbClr val="FFFFFF"/>
          </a:solidFill>
          <a:ln w="1397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569463" y="1417319"/>
            <a:ext cx="274320" cy="27432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Segoe UI"/>
              </a:rPr>
              <a:t>2</a:t>
            </a:r>
          </a:p>
        </p:txBody>
      </p:sp>
      <p:sp>
        <p:nvSpPr>
          <p:cNvPr id="15" name="TextBox 14"/>
          <p:cNvSpPr txBox="1"/>
          <p:nvPr/>
        </p:nvSpPr>
        <p:spPr>
          <a:xfrm>
            <a:off x="2907791" y="1389888"/>
            <a:ext cx="1170432" cy="347472"/>
          </a:xfrm>
          <a:prstGeom prst="rect">
            <a:avLst/>
          </a:prstGeom>
          <a:noFill/>
        </p:spPr>
        <p:txBody>
          <a:bodyPr wrap="square" lIns="36576" tIns="18288" rIns="36576" bIns="18288" anchor="t">
            <a:spAutoFit/>
          </a:bodyPr>
          <a:lstStyle/>
          <a:p>
            <a:pPr algn="l">
              <a:lnSpc>
                <a:spcPct val="92000"/>
              </a:lnSpc>
              <a:spcAft>
                <a:spcPts val="0"/>
              </a:spcAft>
            </a:pPr>
            <a:r>
              <a:rPr sz="980" b="1" i="0">
                <a:solidFill>
                  <a:srgbClr val="0F172A"/>
                </a:solidFill>
                <a:latin typeface="Segoe UI"/>
              </a:rPr>
              <a:t>Router</a:t>
            </a:r>
          </a:p>
        </p:txBody>
      </p:sp>
      <p:sp>
        <p:nvSpPr>
          <p:cNvPr id="16" name="TextBox 15"/>
          <p:cNvSpPr txBox="1"/>
          <p:nvPr/>
        </p:nvSpPr>
        <p:spPr>
          <a:xfrm>
            <a:off x="2569463" y="1801368"/>
            <a:ext cx="1463040" cy="1188719"/>
          </a:xfrm>
          <a:prstGeom prst="rect">
            <a:avLst/>
          </a:prstGeom>
          <a:noFill/>
        </p:spPr>
        <p:txBody>
          <a:bodyPr wrap="square" lIns="36576" tIns="18288" rIns="36576" bIns="18288" anchor="t">
            <a:spAutoFit/>
          </a:bodyPr>
          <a:lstStyle/>
          <a:p>
            <a:pPr algn="l">
              <a:lnSpc>
                <a:spcPct val="102000"/>
              </a:lnSpc>
              <a:spcAft>
                <a:spcPts val="0"/>
              </a:spcAft>
            </a:pPr>
            <a:r>
              <a:rPr sz="800" b="0" i="0">
                <a:solidFill>
                  <a:srgbClr val="64748B"/>
                </a:solidFill>
                <a:latin typeface="Segoe UI"/>
              </a:rPr>
              <a:t>mode = AI?</a:t>
            </a:r>
          </a:p>
          <a:p>
            <a:pPr algn="l">
              <a:lnSpc>
                <a:spcPct val="102000"/>
              </a:lnSpc>
              <a:spcAft>
                <a:spcPts val="0"/>
              </a:spcAft>
            </a:pPr>
            <a:r>
              <a:rPr sz="800" b="0" i="0">
                <a:solidFill>
                  <a:srgbClr val="64748B"/>
                </a:solidFill>
                <a:latin typeface="Segoe UI"/>
              </a:rPr>
              <a:t>câu hỏi về đơn?</a:t>
            </a:r>
          </a:p>
          <a:p>
            <a:pPr algn="l">
              <a:lnSpc>
                <a:spcPct val="102000"/>
              </a:lnSpc>
              <a:spcAft>
                <a:spcPts val="0"/>
              </a:spcAft>
            </a:pPr>
            <a:r>
              <a:rPr sz="800" b="0" i="0">
                <a:solidFill>
                  <a:srgbClr val="64748B"/>
                </a:solidFill>
                <a:latin typeface="Segoe UI"/>
              </a:rPr>
              <a:t>3 nhánh rõ ràng</a:t>
            </a:r>
          </a:p>
        </p:txBody>
      </p:sp>
      <p:cxnSp>
        <p:nvCxnSpPr>
          <p:cNvPr id="17" name="Connector 16"/>
          <p:cNvCxnSpPr/>
          <p:nvPr/>
        </p:nvCxnSpPr>
        <p:spPr>
          <a:xfrm>
            <a:off x="2578608" y="2606039"/>
            <a:ext cx="1444752" cy="0"/>
          </a:xfrm>
          <a:prstGeom prst="line">
            <a:avLst/>
          </a:prstGeom>
          <a:ln w="9525">
            <a:solidFill>
              <a:srgbClr val="B45309"/>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569463" y="2670048"/>
            <a:ext cx="1463040" cy="256032"/>
          </a:xfrm>
          <a:prstGeom prst="rect">
            <a:avLst/>
          </a:prstGeom>
          <a:noFill/>
        </p:spPr>
        <p:txBody>
          <a:bodyPr wrap="square" lIns="36576" tIns="18288" rIns="36576" bIns="18288" anchor="t">
            <a:spAutoFit/>
          </a:bodyPr>
          <a:lstStyle/>
          <a:p>
            <a:pPr algn="l">
              <a:lnSpc>
                <a:spcPct val="100000"/>
              </a:lnSpc>
              <a:spcAft>
                <a:spcPts val="0"/>
              </a:spcAft>
            </a:pPr>
            <a:r>
              <a:rPr sz="740" b="1" i="0">
                <a:solidFill>
                  <a:srgbClr val="B45309"/>
                </a:solidFill>
                <a:latin typeface="Segoe UI"/>
              </a:rPr>
              <a:t>→ nhánh</a:t>
            </a:r>
          </a:p>
        </p:txBody>
      </p:sp>
      <p:sp>
        <p:nvSpPr>
          <p:cNvPr id="19" name="Right Arrow 18"/>
          <p:cNvSpPr/>
          <p:nvPr/>
        </p:nvSpPr>
        <p:spPr>
          <a:xfrm>
            <a:off x="4160520" y="2066543"/>
            <a:ext cx="128016" cy="201168"/>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306824" y="1298448"/>
            <a:ext cx="1700784" cy="1737360"/>
          </a:xfrm>
          <a:prstGeom prst="roundRect">
            <a:avLst>
              <a:gd name="adj" fmla="val 12000"/>
            </a:avLst>
          </a:prstGeom>
          <a:solidFill>
            <a:srgbClr val="FFFFFF"/>
          </a:solidFill>
          <a:ln w="1397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4425696" y="1417319"/>
            <a:ext cx="274320" cy="27432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Segoe UI"/>
              </a:rPr>
              <a:t>3</a:t>
            </a:r>
          </a:p>
        </p:txBody>
      </p:sp>
      <p:sp>
        <p:nvSpPr>
          <p:cNvPr id="22" name="TextBox 21"/>
          <p:cNvSpPr txBox="1"/>
          <p:nvPr/>
        </p:nvSpPr>
        <p:spPr>
          <a:xfrm>
            <a:off x="4764024" y="1389888"/>
            <a:ext cx="1170432" cy="347472"/>
          </a:xfrm>
          <a:prstGeom prst="rect">
            <a:avLst/>
          </a:prstGeom>
          <a:noFill/>
        </p:spPr>
        <p:txBody>
          <a:bodyPr wrap="square" lIns="36576" tIns="18288" rIns="36576" bIns="18288" anchor="t">
            <a:spAutoFit/>
          </a:bodyPr>
          <a:lstStyle/>
          <a:p>
            <a:pPr algn="l">
              <a:lnSpc>
                <a:spcPct val="92000"/>
              </a:lnSpc>
              <a:spcAft>
                <a:spcPts val="0"/>
              </a:spcAft>
            </a:pPr>
            <a:r>
              <a:rPr sz="980" b="1" i="0">
                <a:solidFill>
                  <a:srgbClr val="0F172A"/>
                </a:solidFill>
                <a:latin typeface="Segoe UI"/>
              </a:rPr>
              <a:t>Retrieve</a:t>
            </a:r>
          </a:p>
        </p:txBody>
      </p:sp>
      <p:sp>
        <p:nvSpPr>
          <p:cNvPr id="23" name="TextBox 22"/>
          <p:cNvSpPr txBox="1"/>
          <p:nvPr/>
        </p:nvSpPr>
        <p:spPr>
          <a:xfrm>
            <a:off x="4425696" y="1801368"/>
            <a:ext cx="1463040" cy="1188719"/>
          </a:xfrm>
          <a:prstGeom prst="rect">
            <a:avLst/>
          </a:prstGeom>
          <a:noFill/>
        </p:spPr>
        <p:txBody>
          <a:bodyPr wrap="square" lIns="36576" tIns="18288" rIns="36576" bIns="18288" anchor="t">
            <a:spAutoFit/>
          </a:bodyPr>
          <a:lstStyle/>
          <a:p>
            <a:pPr algn="l">
              <a:lnSpc>
                <a:spcPct val="102000"/>
              </a:lnSpc>
              <a:spcAft>
                <a:spcPts val="0"/>
              </a:spcAft>
            </a:pPr>
            <a:r>
              <a:rPr sz="800" b="0" i="0">
                <a:solidFill>
                  <a:srgbClr val="64748B"/>
                </a:solidFill>
                <a:latin typeface="Segoe UI"/>
              </a:rPr>
              <a:t>embed query local</a:t>
            </a:r>
          </a:p>
          <a:p>
            <a:pPr algn="l">
              <a:lnSpc>
                <a:spcPct val="102000"/>
              </a:lnSpc>
              <a:spcAft>
                <a:spcPts val="0"/>
              </a:spcAft>
            </a:pPr>
            <a:r>
              <a:rPr sz="800" b="0" i="0">
                <a:solidFill>
                  <a:srgbClr val="64748B"/>
                </a:solidFill>
                <a:latin typeface="Segoe UI"/>
              </a:rPr>
              <a:t>dot · top-5 đúng shop</a:t>
            </a:r>
          </a:p>
          <a:p>
            <a:pPr algn="l">
              <a:lnSpc>
                <a:spcPct val="102000"/>
              </a:lnSpc>
              <a:spcAft>
                <a:spcPts val="0"/>
              </a:spcAft>
            </a:pPr>
            <a:r>
              <a:rPr sz="800" b="0" i="0">
                <a:solidFill>
                  <a:srgbClr val="64748B"/>
                </a:solidFill>
                <a:latin typeface="Segoe UI"/>
              </a:rPr>
              <a:t>KB + sản phẩm</a:t>
            </a:r>
          </a:p>
        </p:txBody>
      </p:sp>
      <p:cxnSp>
        <p:nvCxnSpPr>
          <p:cNvPr id="24" name="Connector 23"/>
          <p:cNvCxnSpPr/>
          <p:nvPr/>
        </p:nvCxnSpPr>
        <p:spPr>
          <a:xfrm>
            <a:off x="4434840" y="2606039"/>
            <a:ext cx="1444752" cy="0"/>
          </a:xfrm>
          <a:prstGeom prst="line">
            <a:avLst/>
          </a:prstGeom>
          <a:ln w="9525">
            <a:solidFill>
              <a:srgbClr val="1D4ED8"/>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425696" y="2670048"/>
            <a:ext cx="1463040" cy="256032"/>
          </a:xfrm>
          <a:prstGeom prst="rect">
            <a:avLst/>
          </a:prstGeom>
          <a:noFill/>
        </p:spPr>
        <p:txBody>
          <a:bodyPr wrap="square" lIns="36576" tIns="18288" rIns="36576" bIns="18288" anchor="t">
            <a:spAutoFit/>
          </a:bodyPr>
          <a:lstStyle/>
          <a:p>
            <a:pPr algn="l">
              <a:lnSpc>
                <a:spcPct val="100000"/>
              </a:lnSpc>
              <a:spcAft>
                <a:spcPts val="0"/>
              </a:spcAft>
            </a:pPr>
            <a:r>
              <a:rPr sz="740" b="1" i="0">
                <a:solidFill>
                  <a:srgbClr val="1D4ED8"/>
                </a:solidFill>
                <a:latin typeface="Segoe UI"/>
              </a:rPr>
              <a:t>→ top-5</a:t>
            </a:r>
          </a:p>
        </p:txBody>
      </p:sp>
      <p:sp>
        <p:nvSpPr>
          <p:cNvPr id="26" name="Right Arrow 25"/>
          <p:cNvSpPr/>
          <p:nvPr/>
        </p:nvSpPr>
        <p:spPr>
          <a:xfrm>
            <a:off x="6016752" y="2066543"/>
            <a:ext cx="128016" cy="201168"/>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163056" y="1298448"/>
            <a:ext cx="1700784" cy="1737360"/>
          </a:xfrm>
          <a:prstGeom prst="roundRect">
            <a:avLst>
              <a:gd name="adj" fmla="val 12000"/>
            </a:avLst>
          </a:prstGeom>
          <a:solidFill>
            <a:srgbClr val="FFFFFF"/>
          </a:solidFill>
          <a:ln w="1397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6281928" y="1417319"/>
            <a:ext cx="274320" cy="27432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Segoe UI"/>
              </a:rPr>
              <a:t>4</a:t>
            </a:r>
          </a:p>
        </p:txBody>
      </p:sp>
      <p:sp>
        <p:nvSpPr>
          <p:cNvPr id="29" name="TextBox 28"/>
          <p:cNvSpPr txBox="1"/>
          <p:nvPr/>
        </p:nvSpPr>
        <p:spPr>
          <a:xfrm>
            <a:off x="6620256" y="1389888"/>
            <a:ext cx="1170432" cy="347472"/>
          </a:xfrm>
          <a:prstGeom prst="rect">
            <a:avLst/>
          </a:prstGeom>
          <a:noFill/>
        </p:spPr>
        <p:txBody>
          <a:bodyPr wrap="square" lIns="36576" tIns="18288" rIns="36576" bIns="18288" anchor="t">
            <a:spAutoFit/>
          </a:bodyPr>
          <a:lstStyle/>
          <a:p>
            <a:pPr algn="l">
              <a:lnSpc>
                <a:spcPct val="92000"/>
              </a:lnSpc>
              <a:spcAft>
                <a:spcPts val="0"/>
              </a:spcAft>
            </a:pPr>
            <a:r>
              <a:rPr sz="980" b="1" i="0">
                <a:solidFill>
                  <a:srgbClr val="0F172A"/>
                </a:solidFill>
                <a:latin typeface="Segoe UI"/>
              </a:rPr>
              <a:t>Context</a:t>
            </a:r>
          </a:p>
        </p:txBody>
      </p:sp>
      <p:sp>
        <p:nvSpPr>
          <p:cNvPr id="30" name="TextBox 29"/>
          <p:cNvSpPr txBox="1"/>
          <p:nvPr/>
        </p:nvSpPr>
        <p:spPr>
          <a:xfrm>
            <a:off x="6281928" y="1801368"/>
            <a:ext cx="1463040" cy="1188719"/>
          </a:xfrm>
          <a:prstGeom prst="rect">
            <a:avLst/>
          </a:prstGeom>
          <a:noFill/>
        </p:spPr>
        <p:txBody>
          <a:bodyPr wrap="square" lIns="36576" tIns="18288" rIns="36576" bIns="18288" anchor="t">
            <a:spAutoFit/>
          </a:bodyPr>
          <a:lstStyle/>
          <a:p>
            <a:pPr algn="l">
              <a:lnSpc>
                <a:spcPct val="102000"/>
              </a:lnSpc>
              <a:spcAft>
                <a:spcPts val="0"/>
              </a:spcAft>
            </a:pPr>
            <a:r>
              <a:rPr sz="800" b="0" i="0">
                <a:solidFill>
                  <a:srgbClr val="64748B"/>
                </a:solidFill>
                <a:latin typeface="Segoe UI"/>
              </a:rPr>
              <a:t>KB top-5</a:t>
            </a:r>
          </a:p>
          <a:p>
            <a:pPr algn="l">
              <a:lnSpc>
                <a:spcPct val="102000"/>
              </a:lnSpc>
              <a:spcAft>
                <a:spcPts val="0"/>
              </a:spcAft>
            </a:pPr>
            <a:r>
              <a:rPr sz="800" b="0" i="0">
                <a:solidFill>
                  <a:srgbClr val="64748B"/>
                </a:solidFill>
                <a:latin typeface="Segoe UI"/>
              </a:rPr>
              <a:t>SP giá/kho tươi</a:t>
            </a:r>
          </a:p>
          <a:p>
            <a:pPr algn="l">
              <a:lnSpc>
                <a:spcPct val="102000"/>
              </a:lnSpc>
              <a:spcAft>
                <a:spcPts val="0"/>
              </a:spcAft>
            </a:pPr>
            <a:r>
              <a:rPr sz="800" b="0" i="0">
                <a:solidFill>
                  <a:srgbClr val="64748B"/>
                </a:solidFill>
                <a:latin typeface="Segoe UI"/>
              </a:rPr>
              <a:t>SKU exact · live · 20 tin</a:t>
            </a:r>
          </a:p>
        </p:txBody>
      </p:sp>
      <p:cxnSp>
        <p:nvCxnSpPr>
          <p:cNvPr id="31" name="Connector 30"/>
          <p:cNvCxnSpPr/>
          <p:nvPr/>
        </p:nvCxnSpPr>
        <p:spPr>
          <a:xfrm>
            <a:off x="6291072" y="2606039"/>
            <a:ext cx="1444751" cy="0"/>
          </a:xfrm>
          <a:prstGeom prst="line">
            <a:avLst/>
          </a:prstGeom>
          <a:ln w="9525">
            <a:solidFill>
              <a:srgbClr val="6D28D9"/>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281928" y="2670048"/>
            <a:ext cx="1463040" cy="256032"/>
          </a:xfrm>
          <a:prstGeom prst="rect">
            <a:avLst/>
          </a:prstGeom>
          <a:noFill/>
        </p:spPr>
        <p:txBody>
          <a:bodyPr wrap="square" lIns="36576" tIns="18288" rIns="36576" bIns="18288" anchor="t">
            <a:spAutoFit/>
          </a:bodyPr>
          <a:lstStyle/>
          <a:p>
            <a:pPr algn="l">
              <a:lnSpc>
                <a:spcPct val="100000"/>
              </a:lnSpc>
              <a:spcAft>
                <a:spcPts val="0"/>
              </a:spcAft>
            </a:pPr>
            <a:r>
              <a:rPr sz="740" b="1" i="0">
                <a:solidFill>
                  <a:srgbClr val="6D28D9"/>
                </a:solidFill>
                <a:latin typeface="Segoe UI"/>
              </a:rPr>
              <a:t>→ messages</a:t>
            </a:r>
          </a:p>
        </p:txBody>
      </p:sp>
      <p:sp>
        <p:nvSpPr>
          <p:cNvPr id="33" name="Right Arrow 32"/>
          <p:cNvSpPr/>
          <p:nvPr/>
        </p:nvSpPr>
        <p:spPr>
          <a:xfrm>
            <a:off x="7872983" y="2066543"/>
            <a:ext cx="128016" cy="201168"/>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019288" y="1298448"/>
            <a:ext cx="1700784" cy="1737360"/>
          </a:xfrm>
          <a:prstGeom prst="roundRect">
            <a:avLst>
              <a:gd name="adj" fmla="val 12000"/>
            </a:avLst>
          </a:prstGeom>
          <a:solidFill>
            <a:srgbClr val="FFFFFF"/>
          </a:solidFill>
          <a:ln w="1397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138160" y="1417319"/>
            <a:ext cx="274320" cy="27432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Segoe UI"/>
              </a:rPr>
              <a:t>5</a:t>
            </a:r>
          </a:p>
        </p:txBody>
      </p:sp>
      <p:sp>
        <p:nvSpPr>
          <p:cNvPr id="36" name="TextBox 35"/>
          <p:cNvSpPr txBox="1"/>
          <p:nvPr/>
        </p:nvSpPr>
        <p:spPr>
          <a:xfrm>
            <a:off x="8476488" y="1389888"/>
            <a:ext cx="1170432" cy="347472"/>
          </a:xfrm>
          <a:prstGeom prst="rect">
            <a:avLst/>
          </a:prstGeom>
          <a:noFill/>
        </p:spPr>
        <p:txBody>
          <a:bodyPr wrap="square" lIns="36576" tIns="18288" rIns="36576" bIns="18288" anchor="t">
            <a:spAutoFit/>
          </a:bodyPr>
          <a:lstStyle/>
          <a:p>
            <a:pPr algn="l">
              <a:lnSpc>
                <a:spcPct val="92000"/>
              </a:lnSpc>
              <a:spcAft>
                <a:spcPts val="0"/>
              </a:spcAft>
            </a:pPr>
            <a:r>
              <a:rPr sz="980" b="1" i="0">
                <a:solidFill>
                  <a:srgbClr val="0F172A"/>
                </a:solidFill>
                <a:latin typeface="Segoe UI"/>
              </a:rPr>
              <a:t>Groq</a:t>
            </a:r>
          </a:p>
        </p:txBody>
      </p:sp>
      <p:sp>
        <p:nvSpPr>
          <p:cNvPr id="37" name="TextBox 36"/>
          <p:cNvSpPr txBox="1"/>
          <p:nvPr/>
        </p:nvSpPr>
        <p:spPr>
          <a:xfrm>
            <a:off x="8138160" y="1801368"/>
            <a:ext cx="1463040" cy="1188719"/>
          </a:xfrm>
          <a:prstGeom prst="rect">
            <a:avLst/>
          </a:prstGeom>
          <a:noFill/>
        </p:spPr>
        <p:txBody>
          <a:bodyPr wrap="square" lIns="36576" tIns="18288" rIns="36576" bIns="18288" anchor="t">
            <a:spAutoFit/>
          </a:bodyPr>
          <a:lstStyle/>
          <a:p>
            <a:pPr algn="l">
              <a:lnSpc>
                <a:spcPct val="102000"/>
              </a:lnSpc>
              <a:spcAft>
                <a:spcPts val="0"/>
              </a:spcAft>
            </a:pPr>
            <a:r>
              <a:rPr sz="800" b="0" i="0">
                <a:solidFill>
                  <a:srgbClr val="64748B"/>
                </a:solidFill>
                <a:latin typeface="Segoe UI"/>
              </a:rPr>
              <a:t>qwen3.8-27b</a:t>
            </a:r>
          </a:p>
          <a:p>
            <a:pPr algn="l">
              <a:lnSpc>
                <a:spcPct val="102000"/>
              </a:lnSpc>
              <a:spcAft>
                <a:spcPts val="0"/>
              </a:spcAft>
            </a:pPr>
            <a:r>
              <a:rPr sz="800" b="0" i="0">
                <a:solidFill>
                  <a:srgbClr val="64748B"/>
                </a:solidFill>
                <a:latin typeface="Segoe UI"/>
              </a:rPr>
              <a:t>timeout 20s</a:t>
            </a:r>
          </a:p>
          <a:p>
            <a:pPr algn="l">
              <a:lnSpc>
                <a:spcPct val="102000"/>
              </a:lnSpc>
              <a:spcAft>
                <a:spcPts val="0"/>
              </a:spcAft>
            </a:pPr>
            <a:r>
              <a:rPr sz="800" b="0" i="0">
                <a:solidFill>
                  <a:srgbClr val="64748B"/>
                </a:solidFill>
                <a:latin typeface="Segoe UI"/>
              </a:rPr>
              <a:t>1 system + history</a:t>
            </a:r>
          </a:p>
        </p:txBody>
      </p:sp>
      <p:cxnSp>
        <p:nvCxnSpPr>
          <p:cNvPr id="38" name="Connector 37"/>
          <p:cNvCxnSpPr/>
          <p:nvPr/>
        </p:nvCxnSpPr>
        <p:spPr>
          <a:xfrm>
            <a:off x="8147304" y="2606039"/>
            <a:ext cx="1444751" cy="0"/>
          </a:xfrm>
          <a:prstGeom prst="line">
            <a:avLst/>
          </a:prstGeom>
          <a:ln w="9525">
            <a:solidFill>
              <a:srgbClr val="6D28D9"/>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8138160" y="2670048"/>
            <a:ext cx="1463040" cy="256032"/>
          </a:xfrm>
          <a:prstGeom prst="rect">
            <a:avLst/>
          </a:prstGeom>
          <a:noFill/>
        </p:spPr>
        <p:txBody>
          <a:bodyPr wrap="square" lIns="36576" tIns="18288" rIns="36576" bIns="18288" anchor="t">
            <a:spAutoFit/>
          </a:bodyPr>
          <a:lstStyle/>
          <a:p>
            <a:pPr algn="l">
              <a:lnSpc>
                <a:spcPct val="100000"/>
              </a:lnSpc>
              <a:spcAft>
                <a:spcPts val="0"/>
              </a:spcAft>
            </a:pPr>
            <a:r>
              <a:rPr sz="740" b="1" i="0">
                <a:solidFill>
                  <a:srgbClr val="6D28D9"/>
                </a:solidFill>
                <a:latin typeface="Segoe UI"/>
              </a:rPr>
              <a:t>→ answer</a:t>
            </a:r>
          </a:p>
        </p:txBody>
      </p:sp>
      <p:sp>
        <p:nvSpPr>
          <p:cNvPr id="40" name="Right Arrow 39"/>
          <p:cNvSpPr/>
          <p:nvPr/>
        </p:nvSpPr>
        <p:spPr>
          <a:xfrm>
            <a:off x="9729216" y="2066543"/>
            <a:ext cx="128016" cy="201168"/>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9875519" y="1298448"/>
            <a:ext cx="1700784" cy="1737360"/>
          </a:xfrm>
          <a:prstGeom prst="roundRect">
            <a:avLst>
              <a:gd name="adj" fmla="val 12000"/>
            </a:avLst>
          </a:prstGeom>
          <a:solidFill>
            <a:srgbClr val="FFFFFF"/>
          </a:solidFill>
          <a:ln w="1397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9994392" y="1417319"/>
            <a:ext cx="274320" cy="274320"/>
          </a:xfrm>
          <a:prstGeom prst="ellipse">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Segoe UI"/>
              </a:rPr>
              <a:t>6</a:t>
            </a:r>
          </a:p>
        </p:txBody>
      </p:sp>
      <p:sp>
        <p:nvSpPr>
          <p:cNvPr id="43" name="TextBox 42"/>
          <p:cNvSpPr txBox="1"/>
          <p:nvPr/>
        </p:nvSpPr>
        <p:spPr>
          <a:xfrm>
            <a:off x="10332719" y="1389888"/>
            <a:ext cx="1170432" cy="347472"/>
          </a:xfrm>
          <a:prstGeom prst="rect">
            <a:avLst/>
          </a:prstGeom>
          <a:noFill/>
        </p:spPr>
        <p:txBody>
          <a:bodyPr wrap="square" lIns="36576" tIns="18288" rIns="36576" bIns="18288" anchor="t">
            <a:spAutoFit/>
          </a:bodyPr>
          <a:lstStyle/>
          <a:p>
            <a:pPr algn="l">
              <a:lnSpc>
                <a:spcPct val="92000"/>
              </a:lnSpc>
              <a:spcAft>
                <a:spcPts val="0"/>
              </a:spcAft>
            </a:pPr>
            <a:r>
              <a:rPr sz="980" b="1" i="0">
                <a:solidFill>
                  <a:srgbClr val="0F172A"/>
                </a:solidFill>
                <a:latin typeface="Segoe UI"/>
              </a:rPr>
              <a:t>Lưu &amp; phát</a:t>
            </a:r>
          </a:p>
        </p:txBody>
      </p:sp>
      <p:sp>
        <p:nvSpPr>
          <p:cNvPr id="44" name="TextBox 43"/>
          <p:cNvSpPr txBox="1"/>
          <p:nvPr/>
        </p:nvSpPr>
        <p:spPr>
          <a:xfrm>
            <a:off x="9994392" y="1801368"/>
            <a:ext cx="1463040" cy="1188719"/>
          </a:xfrm>
          <a:prstGeom prst="rect">
            <a:avLst/>
          </a:prstGeom>
          <a:noFill/>
        </p:spPr>
        <p:txBody>
          <a:bodyPr wrap="square" lIns="36576" tIns="18288" rIns="36576" bIns="18288" anchor="t">
            <a:spAutoFit/>
          </a:bodyPr>
          <a:lstStyle/>
          <a:p>
            <a:pPr algn="l">
              <a:lnSpc>
                <a:spcPct val="102000"/>
              </a:lnSpc>
              <a:spcAft>
                <a:spcPts val="0"/>
              </a:spcAft>
            </a:pPr>
            <a:r>
              <a:rPr sz="800" b="0" i="0">
                <a:solidFill>
                  <a:srgbClr val="64748B"/>
                </a:solidFill>
                <a:latin typeface="Segoe UI"/>
              </a:rPr>
              <a:t>AI + trace JSON</a:t>
            </a:r>
          </a:p>
          <a:p>
            <a:pPr algn="l">
              <a:lnSpc>
                <a:spcPct val="102000"/>
              </a:lnSpc>
              <a:spcAft>
                <a:spcPts val="0"/>
              </a:spcAft>
            </a:pPr>
            <a:r>
              <a:rPr sz="800" b="0" i="0">
                <a:solidFill>
                  <a:srgbClr val="64748B"/>
                </a:solidFill>
                <a:latin typeface="Segoe UI"/>
              </a:rPr>
              <a:t>socket realtime</a:t>
            </a:r>
          </a:p>
          <a:p>
            <a:pPr algn="l">
              <a:lnSpc>
                <a:spcPct val="102000"/>
              </a:lnSpc>
              <a:spcAft>
                <a:spcPts val="0"/>
              </a:spcAft>
            </a:pPr>
            <a:r>
              <a:rPr sz="800" b="0" i="0">
                <a:solidFill>
                  <a:srgbClr val="64748B"/>
                </a:solidFill>
                <a:latin typeface="Segoe UI"/>
              </a:rPr>
              <a:t>chip nguồn + trace</a:t>
            </a:r>
          </a:p>
        </p:txBody>
      </p:sp>
      <p:cxnSp>
        <p:nvCxnSpPr>
          <p:cNvPr id="45" name="Connector 44"/>
          <p:cNvCxnSpPr/>
          <p:nvPr/>
        </p:nvCxnSpPr>
        <p:spPr>
          <a:xfrm>
            <a:off x="10003536" y="2606039"/>
            <a:ext cx="1444751" cy="0"/>
          </a:xfrm>
          <a:prstGeom prst="line">
            <a:avLst/>
          </a:prstGeom>
          <a:ln w="9525">
            <a:solidFill>
              <a:srgbClr val="15803D"/>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9994392" y="2670048"/>
            <a:ext cx="1463040" cy="256032"/>
          </a:xfrm>
          <a:prstGeom prst="rect">
            <a:avLst/>
          </a:prstGeom>
          <a:noFill/>
        </p:spPr>
        <p:txBody>
          <a:bodyPr wrap="square" lIns="36576" tIns="18288" rIns="36576" bIns="18288" anchor="t">
            <a:spAutoFit/>
          </a:bodyPr>
          <a:lstStyle/>
          <a:p>
            <a:pPr algn="l">
              <a:lnSpc>
                <a:spcPct val="100000"/>
              </a:lnSpc>
              <a:spcAft>
                <a:spcPts val="0"/>
              </a:spcAft>
            </a:pPr>
            <a:r>
              <a:rPr sz="740" b="1" i="0">
                <a:solidFill>
                  <a:srgbClr val="15803D"/>
                </a:solidFill>
                <a:latin typeface="Segoe UI"/>
              </a:rPr>
              <a:t>→ UI trace</a:t>
            </a:r>
          </a:p>
        </p:txBody>
      </p:sp>
      <p:sp>
        <p:nvSpPr>
          <p:cNvPr id="47" name="Rounded Rectangle 46"/>
          <p:cNvSpPr/>
          <p:nvPr/>
        </p:nvSpPr>
        <p:spPr>
          <a:xfrm>
            <a:off x="594360" y="3246120"/>
            <a:ext cx="2633472" cy="1097280"/>
          </a:xfrm>
          <a:prstGeom prst="roundRect">
            <a:avLst>
              <a:gd name="adj" fmla="val 12000"/>
            </a:avLst>
          </a:prstGeom>
          <a:solidFill>
            <a:srgbClr val="FFE4E6"/>
          </a:solidFill>
          <a:ln w="12700">
            <a:solidFill>
              <a:srgbClr val="FFE4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594360" y="3246120"/>
            <a:ext cx="64008" cy="1097280"/>
          </a:xfrm>
          <a:prstGeom prst="rect">
            <a:avLst/>
          </a:prstGeom>
          <a:solidFill>
            <a:srgbClr val="BE1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749808" y="3300984"/>
            <a:ext cx="2331720" cy="182880"/>
          </a:xfrm>
          <a:prstGeom prst="rect">
            <a:avLst/>
          </a:prstGeom>
          <a:noFill/>
        </p:spPr>
        <p:txBody>
          <a:bodyPr wrap="square" lIns="36576" tIns="18288" rIns="36576" bIns="18288" anchor="t">
            <a:spAutoFit/>
          </a:bodyPr>
          <a:lstStyle/>
          <a:p>
            <a:pPr algn="l">
              <a:lnSpc>
                <a:spcPct val="100000"/>
              </a:lnSpc>
              <a:spcAft>
                <a:spcPts val="0"/>
              </a:spcAft>
            </a:pPr>
            <a:r>
              <a:rPr sz="680" b="1" i="0">
                <a:solidFill>
                  <a:srgbClr val="BE123C"/>
                </a:solidFill>
                <a:latin typeface="Segoe UI"/>
              </a:rPr>
              <a:t>NHÁNH ROUTER</a:t>
            </a:r>
          </a:p>
        </p:txBody>
      </p:sp>
      <p:sp>
        <p:nvSpPr>
          <p:cNvPr id="50" name="TextBox 49"/>
          <p:cNvSpPr txBox="1"/>
          <p:nvPr/>
        </p:nvSpPr>
        <p:spPr>
          <a:xfrm>
            <a:off x="749808" y="3483864"/>
            <a:ext cx="2377440" cy="219456"/>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BE123C"/>
                </a:solidFill>
                <a:latin typeface="Segoe UI"/>
              </a:rPr>
              <a:t>mode = HUMAN</a:t>
            </a:r>
          </a:p>
        </p:txBody>
      </p:sp>
      <p:sp>
        <p:nvSpPr>
          <p:cNvPr id="51" name="TextBox 50"/>
          <p:cNvSpPr txBox="1"/>
          <p:nvPr/>
        </p:nvSpPr>
        <p:spPr>
          <a:xfrm>
            <a:off x="749808" y="3730752"/>
            <a:ext cx="2359152" cy="548640"/>
          </a:xfrm>
          <a:prstGeom prst="rect">
            <a:avLst/>
          </a:prstGeom>
          <a:noFill/>
        </p:spPr>
        <p:txBody>
          <a:bodyPr wrap="square" lIns="36576" tIns="18288" rIns="36576" bIns="18288" anchor="t">
            <a:spAutoFit/>
          </a:bodyPr>
          <a:lstStyle/>
          <a:p>
            <a:pPr algn="l">
              <a:lnSpc>
                <a:spcPct val="100000"/>
              </a:lnSpc>
              <a:spcAft>
                <a:spcPts val="0"/>
              </a:spcAft>
            </a:pPr>
            <a:r>
              <a:rPr sz="750" b="0" i="0">
                <a:solidFill>
                  <a:srgbClr val="1E293B"/>
                </a:solidFill>
                <a:latin typeface="Segoe UI"/>
              </a:rPr>
              <a:t>Seller đã tiếp quản → AI im lặng, không gọi model.</a:t>
            </a:r>
          </a:p>
        </p:txBody>
      </p:sp>
      <p:sp>
        <p:nvSpPr>
          <p:cNvPr id="52" name="Rounded Rectangle 51"/>
          <p:cNvSpPr/>
          <p:nvPr/>
        </p:nvSpPr>
        <p:spPr>
          <a:xfrm>
            <a:off x="3337560" y="3246120"/>
            <a:ext cx="2633472" cy="1097280"/>
          </a:xfrm>
          <a:prstGeom prst="roundRect">
            <a:avLst>
              <a:gd name="adj" fmla="val 12000"/>
            </a:avLst>
          </a:prstGeom>
          <a:solidFill>
            <a:srgbClr val="FEF3C7"/>
          </a:solidFill>
          <a:ln w="12700">
            <a:solidFill>
              <a:srgbClr val="FEF3C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3337560" y="3246120"/>
            <a:ext cx="64008" cy="109728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3493008" y="3300984"/>
            <a:ext cx="2331720" cy="182880"/>
          </a:xfrm>
          <a:prstGeom prst="rect">
            <a:avLst/>
          </a:prstGeom>
          <a:noFill/>
        </p:spPr>
        <p:txBody>
          <a:bodyPr wrap="square" lIns="36576" tIns="18288" rIns="36576" bIns="18288" anchor="t">
            <a:spAutoFit/>
          </a:bodyPr>
          <a:lstStyle/>
          <a:p>
            <a:pPr algn="l">
              <a:lnSpc>
                <a:spcPct val="100000"/>
              </a:lnSpc>
              <a:spcAft>
                <a:spcPts val="0"/>
              </a:spcAft>
            </a:pPr>
            <a:r>
              <a:rPr sz="680" b="1" i="0">
                <a:solidFill>
                  <a:srgbClr val="B45309"/>
                </a:solidFill>
                <a:latin typeface="Segoe UI"/>
              </a:rPr>
              <a:t>NHÁNH ROUTER</a:t>
            </a:r>
          </a:p>
        </p:txBody>
      </p:sp>
      <p:sp>
        <p:nvSpPr>
          <p:cNvPr id="55" name="TextBox 54"/>
          <p:cNvSpPr txBox="1"/>
          <p:nvPr/>
        </p:nvSpPr>
        <p:spPr>
          <a:xfrm>
            <a:off x="3493008" y="3483864"/>
            <a:ext cx="2377440" cy="219456"/>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B45309"/>
                </a:solidFill>
                <a:latin typeface="Segoe UI"/>
              </a:rPr>
              <a:t>Câu hỏi về đơn</a:t>
            </a:r>
          </a:p>
        </p:txBody>
      </p:sp>
      <p:sp>
        <p:nvSpPr>
          <p:cNvPr id="56" name="TextBox 55"/>
          <p:cNvSpPr txBox="1"/>
          <p:nvPr/>
        </p:nvSpPr>
        <p:spPr>
          <a:xfrm>
            <a:off x="3493008" y="3730752"/>
            <a:ext cx="2359152" cy="548640"/>
          </a:xfrm>
          <a:prstGeom prst="rect">
            <a:avLst/>
          </a:prstGeom>
          <a:noFill/>
        </p:spPr>
        <p:txBody>
          <a:bodyPr wrap="square" lIns="36576" tIns="18288" rIns="36576" bIns="18288" anchor="t">
            <a:spAutoFit/>
          </a:bodyPr>
          <a:lstStyle/>
          <a:p>
            <a:pPr algn="l">
              <a:lnSpc>
                <a:spcPct val="100000"/>
              </a:lnSpc>
              <a:spcAft>
                <a:spcPts val="0"/>
              </a:spcAft>
            </a:pPr>
            <a:r>
              <a:rPr sz="750" b="0" i="0">
                <a:solidFill>
                  <a:srgbClr val="1E293B"/>
                </a:solidFill>
                <a:latin typeface="Segoe UI"/>
              </a:rPr>
              <a:t>Template đọc DB theo buyerId + shopId. Không gọi LLM, không bịa trạng thái.</a:t>
            </a:r>
          </a:p>
        </p:txBody>
      </p:sp>
      <p:sp>
        <p:nvSpPr>
          <p:cNvPr id="57" name="Rounded Rectangle 56"/>
          <p:cNvSpPr/>
          <p:nvPr/>
        </p:nvSpPr>
        <p:spPr>
          <a:xfrm>
            <a:off x="6080760" y="3246120"/>
            <a:ext cx="2633472" cy="1097280"/>
          </a:xfrm>
          <a:prstGeom prst="roundRect">
            <a:avLst>
              <a:gd name="adj" fmla="val 12000"/>
            </a:avLst>
          </a:prstGeom>
          <a:solidFill>
            <a:srgbClr val="FFE4E6"/>
          </a:solidFill>
          <a:ln w="12700">
            <a:solidFill>
              <a:srgbClr val="FFE4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6080760" y="3246120"/>
            <a:ext cx="64008" cy="1097280"/>
          </a:xfrm>
          <a:prstGeom prst="rect">
            <a:avLst/>
          </a:prstGeom>
          <a:solidFill>
            <a:srgbClr val="BE1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6236208" y="3300984"/>
            <a:ext cx="2331720" cy="182880"/>
          </a:xfrm>
          <a:prstGeom prst="rect">
            <a:avLst/>
          </a:prstGeom>
          <a:noFill/>
        </p:spPr>
        <p:txBody>
          <a:bodyPr wrap="square" lIns="36576" tIns="18288" rIns="36576" bIns="18288" anchor="t">
            <a:spAutoFit/>
          </a:bodyPr>
          <a:lstStyle/>
          <a:p>
            <a:pPr algn="l">
              <a:lnSpc>
                <a:spcPct val="100000"/>
              </a:lnSpc>
              <a:spcAft>
                <a:spcPts val="0"/>
              </a:spcAft>
            </a:pPr>
            <a:r>
              <a:rPr sz="680" b="1" i="0">
                <a:solidFill>
                  <a:srgbClr val="BE123C"/>
                </a:solidFill>
                <a:latin typeface="Segoe UI"/>
              </a:rPr>
              <a:t>NHÁNH GROQ</a:t>
            </a:r>
          </a:p>
        </p:txBody>
      </p:sp>
      <p:sp>
        <p:nvSpPr>
          <p:cNvPr id="60" name="TextBox 59"/>
          <p:cNvSpPr txBox="1"/>
          <p:nvPr/>
        </p:nvSpPr>
        <p:spPr>
          <a:xfrm>
            <a:off x="6236208" y="3483864"/>
            <a:ext cx="2377440" cy="219456"/>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BE123C"/>
                </a:solidFill>
                <a:latin typeface="Segoe UI"/>
              </a:rPr>
              <a:t>GroqError</a:t>
            </a:r>
          </a:p>
        </p:txBody>
      </p:sp>
      <p:sp>
        <p:nvSpPr>
          <p:cNvPr id="61" name="TextBox 60"/>
          <p:cNvSpPr txBox="1"/>
          <p:nvPr/>
        </p:nvSpPr>
        <p:spPr>
          <a:xfrm>
            <a:off x="6236208" y="3730752"/>
            <a:ext cx="2359152" cy="548640"/>
          </a:xfrm>
          <a:prstGeom prst="rect">
            <a:avLst/>
          </a:prstGeom>
          <a:noFill/>
        </p:spPr>
        <p:txBody>
          <a:bodyPr wrap="square" lIns="36576" tIns="18288" rIns="36576" bIns="18288" anchor="t">
            <a:spAutoFit/>
          </a:bodyPr>
          <a:lstStyle/>
          <a:p>
            <a:pPr algn="l">
              <a:lnSpc>
                <a:spcPct val="100000"/>
              </a:lnSpc>
              <a:spcAft>
                <a:spcPts val="0"/>
              </a:spcAft>
            </a:pPr>
            <a:r>
              <a:rPr sz="750" b="0" i="0">
                <a:solidFill>
                  <a:srgbClr val="1E293B"/>
                </a:solidFill>
                <a:latin typeface="Segoe UI"/>
              </a:rPr>
              <a:t>Thiếu key / HTTP lỗi / quá 20s → fallback toàn bộ KB của shop + error trong trace.</a:t>
            </a:r>
          </a:p>
        </p:txBody>
      </p:sp>
      <p:sp>
        <p:nvSpPr>
          <p:cNvPr id="62" name="Rounded Rectangle 61"/>
          <p:cNvSpPr/>
          <p:nvPr/>
        </p:nvSpPr>
        <p:spPr>
          <a:xfrm>
            <a:off x="8823960" y="3246120"/>
            <a:ext cx="2633472" cy="1097280"/>
          </a:xfrm>
          <a:prstGeom prst="roundRect">
            <a:avLst>
              <a:gd name="adj" fmla="val 12000"/>
            </a:avLst>
          </a:prstGeom>
          <a:solidFill>
            <a:srgbClr val="EDE9FE"/>
          </a:solidFill>
          <a:ln w="12700">
            <a:solidFill>
              <a:srgbClr val="EDE9F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ectangle 62"/>
          <p:cNvSpPr/>
          <p:nvPr/>
        </p:nvSpPr>
        <p:spPr>
          <a:xfrm>
            <a:off x="8823960" y="3246120"/>
            <a:ext cx="64008" cy="109728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8979408" y="3300984"/>
            <a:ext cx="2331720" cy="182880"/>
          </a:xfrm>
          <a:prstGeom prst="rect">
            <a:avLst/>
          </a:prstGeom>
          <a:noFill/>
        </p:spPr>
        <p:txBody>
          <a:bodyPr wrap="square" lIns="36576" tIns="18288" rIns="36576" bIns="18288" anchor="t">
            <a:spAutoFit/>
          </a:bodyPr>
          <a:lstStyle/>
          <a:p>
            <a:pPr algn="l">
              <a:lnSpc>
                <a:spcPct val="100000"/>
              </a:lnSpc>
              <a:spcAft>
                <a:spcPts val="0"/>
              </a:spcAft>
            </a:pPr>
            <a:r>
              <a:rPr sz="680" b="1" i="0">
                <a:solidFill>
                  <a:srgbClr val="6D28D9"/>
                </a:solidFill>
                <a:latin typeface="Segoe UI"/>
              </a:rPr>
              <a:t>NHÁNH TAKE-OVER</a:t>
            </a:r>
          </a:p>
        </p:txBody>
      </p:sp>
      <p:sp>
        <p:nvSpPr>
          <p:cNvPr id="65" name="TextBox 64"/>
          <p:cNvSpPr txBox="1"/>
          <p:nvPr/>
        </p:nvSpPr>
        <p:spPr>
          <a:xfrm>
            <a:off x="8979408" y="3483864"/>
            <a:ext cx="2377440" cy="219456"/>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6D28D9"/>
                </a:solidFill>
                <a:latin typeface="Segoe UI"/>
              </a:rPr>
              <a:t>version đổi</a:t>
            </a:r>
          </a:p>
        </p:txBody>
      </p:sp>
      <p:sp>
        <p:nvSpPr>
          <p:cNvPr id="66" name="TextBox 65"/>
          <p:cNvSpPr txBox="1"/>
          <p:nvPr/>
        </p:nvSpPr>
        <p:spPr>
          <a:xfrm>
            <a:off x="8979408" y="3730752"/>
            <a:ext cx="2359152" cy="548640"/>
          </a:xfrm>
          <a:prstGeom prst="rect">
            <a:avLst/>
          </a:prstGeom>
          <a:noFill/>
        </p:spPr>
        <p:txBody>
          <a:bodyPr wrap="square" lIns="36576" tIns="18288" rIns="36576" bIns="18288" anchor="t">
            <a:spAutoFit/>
          </a:bodyPr>
          <a:lstStyle/>
          <a:p>
            <a:pPr algn="l">
              <a:lnSpc>
                <a:spcPct val="100000"/>
              </a:lnSpc>
              <a:spcAft>
                <a:spcPts val="0"/>
              </a:spcAft>
            </a:pPr>
            <a:r>
              <a:rPr sz="750" b="0" i="0">
                <a:solidFill>
                  <a:srgbClr val="1E293B"/>
                </a:solidFill>
                <a:latin typeface="Segoe UI"/>
              </a:rPr>
              <a:t>Seller vừa gõ tay → hủy kết quả AI, không lưu, không phát.</a:t>
            </a:r>
          </a:p>
        </p:txBody>
      </p:sp>
      <p:sp>
        <p:nvSpPr>
          <p:cNvPr id="67" name="Rounded Rectangle 66"/>
          <p:cNvSpPr/>
          <p:nvPr/>
        </p:nvSpPr>
        <p:spPr>
          <a:xfrm>
            <a:off x="594360" y="4553712"/>
            <a:ext cx="11000232" cy="150876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777240" y="4645152"/>
            <a:ext cx="10515600" cy="256032"/>
          </a:xfrm>
          <a:prstGeom prst="rect">
            <a:avLst/>
          </a:prstGeom>
          <a:noFill/>
        </p:spPr>
        <p:txBody>
          <a:bodyPr wrap="square" lIns="36576" tIns="18288" rIns="36576" bIns="18288" anchor="t">
            <a:spAutoFit/>
          </a:bodyPr>
          <a:lstStyle/>
          <a:p>
            <a:pPr algn="l">
              <a:lnSpc>
                <a:spcPct val="100000"/>
              </a:lnSpc>
              <a:spcAft>
                <a:spcPts val="0"/>
              </a:spcAft>
            </a:pPr>
            <a:r>
              <a:rPr sz="1100" b="1" i="0">
                <a:solidFill>
                  <a:srgbClr val="0F172A"/>
                </a:solidFill>
                <a:latin typeface="Segoe UI"/>
              </a:rPr>
              <a:t>Prompt = 1 system message (vai + quy tắc + NGỮ CẢNH) + 20 tin history + câu hỏi</a:t>
            </a:r>
          </a:p>
        </p:txBody>
      </p:sp>
      <p:sp>
        <p:nvSpPr>
          <p:cNvPr id="69" name="Rounded Rectangle 68"/>
          <p:cNvSpPr/>
          <p:nvPr/>
        </p:nvSpPr>
        <p:spPr>
          <a:xfrm>
            <a:off x="777240" y="5010912"/>
            <a:ext cx="2011680" cy="804672"/>
          </a:xfrm>
          <a:prstGeom prst="roundRect">
            <a:avLst>
              <a:gd name="adj" fmla="val 12000"/>
            </a:avLst>
          </a:prstGeom>
          <a:solidFill>
            <a:srgbClr val="E6FFFA"/>
          </a:solidFill>
          <a:ln w="12700">
            <a:solidFill>
              <a:srgbClr val="E6FF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886968" y="5074920"/>
            <a:ext cx="1810512" cy="219456"/>
          </a:xfrm>
          <a:prstGeom prst="rect">
            <a:avLst/>
          </a:prstGeom>
          <a:noFill/>
        </p:spPr>
        <p:txBody>
          <a:bodyPr wrap="square" lIns="36576" tIns="18288" rIns="36576" bIns="18288" anchor="t">
            <a:spAutoFit/>
          </a:bodyPr>
          <a:lstStyle/>
          <a:p>
            <a:pPr algn="l">
              <a:lnSpc>
                <a:spcPct val="100000"/>
              </a:lnSpc>
              <a:spcAft>
                <a:spcPts val="0"/>
              </a:spcAft>
            </a:pPr>
            <a:r>
              <a:rPr sz="850" b="1" i="0">
                <a:solidFill>
                  <a:srgbClr val="0F766E"/>
                </a:solidFill>
                <a:latin typeface="Segoe UI"/>
              </a:rPr>
              <a:t>KB top-5</a:t>
            </a:r>
          </a:p>
        </p:txBody>
      </p:sp>
      <p:sp>
        <p:nvSpPr>
          <p:cNvPr id="71" name="TextBox 70"/>
          <p:cNvSpPr txBox="1"/>
          <p:nvPr/>
        </p:nvSpPr>
        <p:spPr>
          <a:xfrm>
            <a:off x="886968" y="5321808"/>
            <a:ext cx="1828800" cy="411480"/>
          </a:xfrm>
          <a:prstGeom prst="rect">
            <a:avLst/>
          </a:prstGeom>
          <a:noFill/>
        </p:spPr>
        <p:txBody>
          <a:bodyPr wrap="square" lIns="36576" tIns="18288" rIns="36576" bIns="18288" anchor="t">
            <a:spAutoFit/>
          </a:bodyPr>
          <a:lstStyle/>
          <a:p>
            <a:pPr algn="l">
              <a:lnSpc>
                <a:spcPct val="100000"/>
              </a:lnSpc>
              <a:spcAft>
                <a:spcPts val="0"/>
              </a:spcAft>
            </a:pPr>
            <a:r>
              <a:rPr sz="730" b="0" i="0">
                <a:solidFill>
                  <a:srgbClr val="1E293B"/>
                </a:solidFill>
                <a:latin typeface="Segoe UI"/>
              </a:rPr>
              <a:t>đọc lại answer theo id</a:t>
            </a:r>
          </a:p>
        </p:txBody>
      </p:sp>
      <p:sp>
        <p:nvSpPr>
          <p:cNvPr id="72" name="Rounded Rectangle 71"/>
          <p:cNvSpPr/>
          <p:nvPr/>
        </p:nvSpPr>
        <p:spPr>
          <a:xfrm>
            <a:off x="2926080" y="5010912"/>
            <a:ext cx="2011680" cy="804672"/>
          </a:xfrm>
          <a:prstGeom prst="roundRect">
            <a:avLst>
              <a:gd name="adj" fmla="val 12000"/>
            </a:avLst>
          </a:prstGeom>
          <a:solidFill>
            <a:srgbClr val="FEF3C7"/>
          </a:solidFill>
          <a:ln w="12700">
            <a:solidFill>
              <a:srgbClr val="FEF3C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3035808" y="5074920"/>
            <a:ext cx="1810512" cy="219456"/>
          </a:xfrm>
          <a:prstGeom prst="rect">
            <a:avLst/>
          </a:prstGeom>
          <a:noFill/>
        </p:spPr>
        <p:txBody>
          <a:bodyPr wrap="square" lIns="36576" tIns="18288" rIns="36576" bIns="18288" anchor="t">
            <a:spAutoFit/>
          </a:bodyPr>
          <a:lstStyle/>
          <a:p>
            <a:pPr algn="l">
              <a:lnSpc>
                <a:spcPct val="100000"/>
              </a:lnSpc>
              <a:spcAft>
                <a:spcPts val="0"/>
              </a:spcAft>
            </a:pPr>
            <a:r>
              <a:rPr sz="850" b="1" i="0">
                <a:solidFill>
                  <a:srgbClr val="B45309"/>
                </a:solidFill>
                <a:latin typeface="Segoe UI"/>
              </a:rPr>
              <a:t>Toàn bộ sản phẩm</a:t>
            </a:r>
          </a:p>
        </p:txBody>
      </p:sp>
      <p:sp>
        <p:nvSpPr>
          <p:cNvPr id="74" name="TextBox 73"/>
          <p:cNvSpPr txBox="1"/>
          <p:nvPr/>
        </p:nvSpPr>
        <p:spPr>
          <a:xfrm>
            <a:off x="3035808" y="5321808"/>
            <a:ext cx="1828800" cy="411480"/>
          </a:xfrm>
          <a:prstGeom prst="rect">
            <a:avLst/>
          </a:prstGeom>
          <a:noFill/>
        </p:spPr>
        <p:txBody>
          <a:bodyPr wrap="square" lIns="36576" tIns="18288" rIns="36576" bIns="18288" anchor="t">
            <a:spAutoFit/>
          </a:bodyPr>
          <a:lstStyle/>
          <a:p>
            <a:pPr algn="l">
              <a:lnSpc>
                <a:spcPct val="100000"/>
              </a:lnSpc>
              <a:spcAft>
                <a:spcPts val="0"/>
              </a:spcAft>
            </a:pPr>
            <a:r>
              <a:rPr sz="730" b="0" i="0">
                <a:solidFill>
                  <a:srgbClr val="1E293B"/>
                </a:solidFill>
                <a:latin typeface="Segoe UI"/>
              </a:rPr>
              <a:t>giá/kho tươi từ DB</a:t>
            </a:r>
          </a:p>
        </p:txBody>
      </p:sp>
      <p:sp>
        <p:nvSpPr>
          <p:cNvPr id="75" name="Rounded Rectangle 74"/>
          <p:cNvSpPr/>
          <p:nvPr/>
        </p:nvSpPr>
        <p:spPr>
          <a:xfrm>
            <a:off x="5074920" y="5010912"/>
            <a:ext cx="2011680" cy="804672"/>
          </a:xfrm>
          <a:prstGeom prst="roundRect">
            <a:avLst>
              <a:gd name="adj" fmla="val 12000"/>
            </a:avLst>
          </a:prstGeom>
          <a:solidFill>
            <a:srgbClr val="EFF6FF"/>
          </a:solidFill>
          <a:ln w="12700">
            <a:solidFill>
              <a:srgbClr val="EFF6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Box 75"/>
          <p:cNvSpPr txBox="1"/>
          <p:nvPr/>
        </p:nvSpPr>
        <p:spPr>
          <a:xfrm>
            <a:off x="5184648" y="5074920"/>
            <a:ext cx="1810512" cy="219456"/>
          </a:xfrm>
          <a:prstGeom prst="rect">
            <a:avLst/>
          </a:prstGeom>
          <a:noFill/>
        </p:spPr>
        <p:txBody>
          <a:bodyPr wrap="square" lIns="36576" tIns="18288" rIns="36576" bIns="18288" anchor="t">
            <a:spAutoFit/>
          </a:bodyPr>
          <a:lstStyle/>
          <a:p>
            <a:pPr algn="l">
              <a:lnSpc>
                <a:spcPct val="100000"/>
              </a:lnSpc>
              <a:spcAft>
                <a:spcPts val="0"/>
              </a:spcAft>
            </a:pPr>
            <a:r>
              <a:rPr sz="850" b="1" i="0">
                <a:solidFill>
                  <a:srgbClr val="1D4ED8"/>
                </a:solidFill>
                <a:latin typeface="Segoe UI"/>
              </a:rPr>
              <a:t>SKU exact</a:t>
            </a:r>
          </a:p>
        </p:txBody>
      </p:sp>
      <p:sp>
        <p:nvSpPr>
          <p:cNvPr id="77" name="TextBox 76"/>
          <p:cNvSpPr txBox="1"/>
          <p:nvPr/>
        </p:nvSpPr>
        <p:spPr>
          <a:xfrm>
            <a:off x="5184648" y="5321808"/>
            <a:ext cx="1828800" cy="411480"/>
          </a:xfrm>
          <a:prstGeom prst="rect">
            <a:avLst/>
          </a:prstGeom>
          <a:noFill/>
        </p:spPr>
        <p:txBody>
          <a:bodyPr wrap="square" lIns="36576" tIns="18288" rIns="36576" bIns="18288" anchor="t">
            <a:spAutoFit/>
          </a:bodyPr>
          <a:lstStyle/>
          <a:p>
            <a:pPr algn="l">
              <a:lnSpc>
                <a:spcPct val="100000"/>
              </a:lnSpc>
              <a:spcAft>
                <a:spcPts val="0"/>
              </a:spcAft>
            </a:pPr>
            <a:r>
              <a:rPr sz="730" b="0" i="0">
                <a:solidFill>
                  <a:srgbClr val="1E293B"/>
                </a:solidFill>
                <a:latin typeface="Segoe UI"/>
              </a:rPr>
              <a:t>findExactSku nếu câu hỏi nêu mã</a:t>
            </a:r>
          </a:p>
        </p:txBody>
      </p:sp>
      <p:sp>
        <p:nvSpPr>
          <p:cNvPr id="78" name="Rounded Rectangle 77"/>
          <p:cNvSpPr/>
          <p:nvPr/>
        </p:nvSpPr>
        <p:spPr>
          <a:xfrm>
            <a:off x="7223760" y="5010912"/>
            <a:ext cx="2011680" cy="804672"/>
          </a:xfrm>
          <a:prstGeom prst="roundRect">
            <a:avLst>
              <a:gd name="adj" fmla="val 12000"/>
            </a:avLst>
          </a:prstGeom>
          <a:solidFill>
            <a:srgbClr val="EDE9FE"/>
          </a:solidFill>
          <a:ln w="12700">
            <a:solidFill>
              <a:srgbClr val="EDE9F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7333488" y="5074920"/>
            <a:ext cx="1810512" cy="219456"/>
          </a:xfrm>
          <a:prstGeom prst="rect">
            <a:avLst/>
          </a:prstGeom>
          <a:noFill/>
        </p:spPr>
        <p:txBody>
          <a:bodyPr wrap="square" lIns="36576" tIns="18288" rIns="36576" bIns="18288" anchor="t">
            <a:spAutoFit/>
          </a:bodyPr>
          <a:lstStyle/>
          <a:p>
            <a:pPr algn="l">
              <a:lnSpc>
                <a:spcPct val="100000"/>
              </a:lnSpc>
              <a:spcAft>
                <a:spcPts val="0"/>
              </a:spcAft>
            </a:pPr>
            <a:r>
              <a:rPr sz="850" b="1" i="0">
                <a:solidFill>
                  <a:srgbClr val="6D28D9"/>
                </a:solidFill>
                <a:latin typeface="Segoe UI"/>
              </a:rPr>
              <a:t>Live đang mở</a:t>
            </a:r>
          </a:p>
        </p:txBody>
      </p:sp>
      <p:sp>
        <p:nvSpPr>
          <p:cNvPr id="80" name="TextBox 79"/>
          <p:cNvSpPr txBox="1"/>
          <p:nvPr/>
        </p:nvSpPr>
        <p:spPr>
          <a:xfrm>
            <a:off x="7333488" y="5321808"/>
            <a:ext cx="1828800" cy="411480"/>
          </a:xfrm>
          <a:prstGeom prst="rect">
            <a:avLst/>
          </a:prstGeom>
          <a:noFill/>
        </p:spPr>
        <p:txBody>
          <a:bodyPr wrap="square" lIns="36576" tIns="18288" rIns="36576" bIns="18288" anchor="t">
            <a:spAutoFit/>
          </a:bodyPr>
          <a:lstStyle/>
          <a:p>
            <a:pPr algn="l">
              <a:lnSpc>
                <a:spcPct val="100000"/>
              </a:lnSpc>
              <a:spcAft>
                <a:spcPts val="0"/>
              </a:spcAft>
            </a:pPr>
            <a:r>
              <a:rPr sz="730" b="0" i="0">
                <a:solidFill>
                  <a:srgbClr val="1E293B"/>
                </a:solidFill>
                <a:latin typeface="Segoe UI"/>
              </a:rPr>
              <a:t>tiêu đề phiên LIVE</a:t>
            </a:r>
          </a:p>
        </p:txBody>
      </p:sp>
      <p:sp>
        <p:nvSpPr>
          <p:cNvPr id="81" name="Rounded Rectangle 80"/>
          <p:cNvSpPr/>
          <p:nvPr/>
        </p:nvSpPr>
        <p:spPr>
          <a:xfrm>
            <a:off x="9372600" y="5010912"/>
            <a:ext cx="2011680" cy="804672"/>
          </a:xfrm>
          <a:prstGeom prst="roundRect">
            <a:avLst>
              <a:gd name="adj" fmla="val 12000"/>
            </a:avLst>
          </a:prstGeom>
          <a:solidFill>
            <a:srgbClr val="DCFCE7"/>
          </a:solidFill>
          <a:ln w="12700">
            <a:solidFill>
              <a:srgbClr val="DCFC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Box 81"/>
          <p:cNvSpPr txBox="1"/>
          <p:nvPr/>
        </p:nvSpPr>
        <p:spPr>
          <a:xfrm>
            <a:off x="9482328" y="5074920"/>
            <a:ext cx="1810512" cy="219456"/>
          </a:xfrm>
          <a:prstGeom prst="rect">
            <a:avLst/>
          </a:prstGeom>
          <a:noFill/>
        </p:spPr>
        <p:txBody>
          <a:bodyPr wrap="square" lIns="36576" tIns="18288" rIns="36576" bIns="18288" anchor="t">
            <a:spAutoFit/>
          </a:bodyPr>
          <a:lstStyle/>
          <a:p>
            <a:pPr algn="l">
              <a:lnSpc>
                <a:spcPct val="100000"/>
              </a:lnSpc>
              <a:spcAft>
                <a:spcPts val="0"/>
              </a:spcAft>
            </a:pPr>
            <a:r>
              <a:rPr sz="850" b="1" i="0">
                <a:solidFill>
                  <a:srgbClr val="15803D"/>
                </a:solidFill>
                <a:latin typeface="Segoe UI"/>
              </a:rPr>
              <a:t>20 tin gần nhất</a:t>
            </a:r>
          </a:p>
        </p:txBody>
      </p:sp>
      <p:sp>
        <p:nvSpPr>
          <p:cNvPr id="83" name="TextBox 82"/>
          <p:cNvSpPr txBox="1"/>
          <p:nvPr/>
        </p:nvSpPr>
        <p:spPr>
          <a:xfrm>
            <a:off x="9482328" y="5321808"/>
            <a:ext cx="1828800" cy="411480"/>
          </a:xfrm>
          <a:prstGeom prst="rect">
            <a:avLst/>
          </a:prstGeom>
          <a:noFill/>
        </p:spPr>
        <p:txBody>
          <a:bodyPr wrap="square" lIns="36576" tIns="18288" rIns="36576" bIns="18288" anchor="t">
            <a:spAutoFit/>
          </a:bodyPr>
          <a:lstStyle/>
          <a:p>
            <a:pPr algn="l">
              <a:lnSpc>
                <a:spcPct val="100000"/>
              </a:lnSpc>
              <a:spcAft>
                <a:spcPts val="0"/>
              </a:spcAft>
            </a:pPr>
            <a:r>
              <a:rPr sz="730" b="0" i="0">
                <a:solidFill>
                  <a:srgbClr val="1E293B"/>
                </a:solidFill>
                <a:latin typeface="Segoe UI"/>
              </a:rPr>
              <a:t>BUYER=user · AI/SELLER=assistant</a:t>
            </a:r>
          </a:p>
        </p:txBody>
      </p:sp>
      <p:cxnSp>
        <p:nvCxnSpPr>
          <p:cNvPr id="84" name="Connector 83"/>
          <p:cNvCxnSpPr/>
          <p:nvPr/>
        </p:nvCxnSpPr>
        <p:spPr>
          <a:xfrm>
            <a:off x="594360" y="6492240"/>
            <a:ext cx="1100023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594360" y="6537960"/>
            <a:ext cx="7315200" cy="201168"/>
          </a:xfrm>
          <a:prstGeom prst="rect">
            <a:avLst/>
          </a:prstGeom>
          <a:noFill/>
        </p:spPr>
        <p:txBody>
          <a:bodyPr wrap="square" lIns="36576" tIns="18288" rIns="36576" bIns="18288" anchor="t">
            <a:spAutoFit/>
          </a:bodyPr>
          <a:lstStyle/>
          <a:p>
            <a:pPr algn="l">
              <a:lnSpc>
                <a:spcPct val="100000"/>
              </a:lnSpc>
              <a:spcAft>
                <a:spcPts val="0"/>
              </a:spcAft>
            </a:pPr>
            <a:r>
              <a:rPr sz="800" b="0" i="0">
                <a:solidFill>
                  <a:srgbClr val="94A3B8"/>
                </a:solidFill>
                <a:latin typeface="Segoe UI"/>
              </a:rPr>
              <a:t>LiveOrder · Pipeline toàn dự án · 2026</a:t>
            </a:r>
          </a:p>
        </p:txBody>
      </p:sp>
      <p:sp>
        <p:nvSpPr>
          <p:cNvPr id="86" name="TextBox 85"/>
          <p:cNvSpPr txBox="1"/>
          <p:nvPr/>
        </p:nvSpPr>
        <p:spPr>
          <a:xfrm>
            <a:off x="8229600" y="6537960"/>
            <a:ext cx="3364992" cy="201168"/>
          </a:xfrm>
          <a:prstGeom prst="rect">
            <a:avLst/>
          </a:prstGeom>
          <a:noFill/>
        </p:spPr>
        <p:txBody>
          <a:bodyPr wrap="square" lIns="36576" tIns="18288" rIns="36576" bIns="18288" anchor="t">
            <a:spAutoFit/>
          </a:bodyPr>
          <a:lstStyle/>
          <a:p>
            <a:pPr algn="r">
              <a:lnSpc>
                <a:spcPct val="100000"/>
              </a:lnSpc>
              <a:spcAft>
                <a:spcPts val="0"/>
              </a:spcAft>
            </a:pPr>
            <a:r>
              <a:rPr sz="800" b="0" i="0">
                <a:solidFill>
                  <a:srgbClr val="94A3B8"/>
                </a:solidFill>
                <a:latin typeface="Segoe UI"/>
              </a:rPr>
              <a:t>Aho-Corasick  ·  RAG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94360" y="274320"/>
            <a:ext cx="6400800" cy="228600"/>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0F766E"/>
                </a:solidFill>
                <a:latin typeface="Segoe UI"/>
              </a:rPr>
              <a:t>10 · CỐT LÕI ②</a:t>
            </a:r>
          </a:p>
        </p:txBody>
      </p:sp>
      <p:sp>
        <p:nvSpPr>
          <p:cNvPr id="4" name="TextBox 3"/>
          <p:cNvSpPr txBox="1"/>
          <p:nvPr/>
        </p:nvSpPr>
        <p:spPr>
          <a:xfrm>
            <a:off x="576072" y="493776"/>
            <a:ext cx="10424160" cy="502920"/>
          </a:xfrm>
          <a:prstGeom prst="rect">
            <a:avLst/>
          </a:prstGeom>
          <a:noFill/>
        </p:spPr>
        <p:txBody>
          <a:bodyPr wrap="square" lIns="36576" tIns="18288" rIns="36576" bIns="18288" anchor="t">
            <a:spAutoFit/>
          </a:bodyPr>
          <a:lstStyle/>
          <a:p>
            <a:pPr algn="l">
              <a:lnSpc>
                <a:spcPct val="100000"/>
              </a:lnSpc>
              <a:spcAft>
                <a:spcPts val="0"/>
              </a:spcAft>
            </a:pPr>
            <a:r>
              <a:rPr sz="2300" b="1" i="0">
                <a:solidFill>
                  <a:srgbClr val="0F172A"/>
                </a:solidFill>
                <a:latin typeface="Segoe UI"/>
              </a:rPr>
              <a:t>Vì sao AI không bịa: prompt, trace và 4 chốt chặn</a:t>
            </a:r>
          </a:p>
        </p:txBody>
      </p:sp>
      <p:sp>
        <p:nvSpPr>
          <p:cNvPr id="5" name="TextBox 4"/>
          <p:cNvSpPr txBox="1"/>
          <p:nvPr/>
        </p:nvSpPr>
        <p:spPr>
          <a:xfrm>
            <a:off x="10698480" y="283464"/>
            <a:ext cx="960120" cy="228600"/>
          </a:xfrm>
          <a:prstGeom prst="rect">
            <a:avLst/>
          </a:prstGeom>
          <a:noFill/>
        </p:spPr>
        <p:txBody>
          <a:bodyPr wrap="square" lIns="36576" tIns="18288" rIns="36576" bIns="18288" anchor="t">
            <a:spAutoFit/>
          </a:bodyPr>
          <a:lstStyle/>
          <a:p>
            <a:pPr algn="r">
              <a:lnSpc>
                <a:spcPct val="100000"/>
              </a:lnSpc>
              <a:spcAft>
                <a:spcPts val="0"/>
              </a:spcAft>
            </a:pPr>
            <a:r>
              <a:rPr sz="900" b="1" i="0">
                <a:solidFill>
                  <a:srgbClr val="94A3B8"/>
                </a:solidFill>
                <a:latin typeface="Segoe UI"/>
              </a:rPr>
              <a:t>11 / 13</a:t>
            </a:r>
          </a:p>
        </p:txBody>
      </p:sp>
      <p:sp>
        <p:nvSpPr>
          <p:cNvPr id="6" name="Rounded Rectangle 5"/>
          <p:cNvSpPr/>
          <p:nvPr/>
        </p:nvSpPr>
        <p:spPr>
          <a:xfrm>
            <a:off x="594360" y="1298448"/>
            <a:ext cx="6446520" cy="4526280"/>
          </a:xfrm>
          <a:prstGeom prst="roundRect">
            <a:avLst>
              <a:gd name="adj" fmla="val 8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417320"/>
            <a:ext cx="6035040" cy="219456"/>
          </a:xfrm>
          <a:prstGeom prst="rect">
            <a:avLst/>
          </a:prstGeom>
          <a:noFill/>
        </p:spPr>
        <p:txBody>
          <a:bodyPr wrap="square" lIns="36576" tIns="18288" rIns="36576" bIns="18288" anchor="t">
            <a:spAutoFit/>
          </a:bodyPr>
          <a:lstStyle/>
          <a:p>
            <a:pPr algn="l">
              <a:lnSpc>
                <a:spcPct val="100000"/>
              </a:lnSpc>
              <a:spcAft>
                <a:spcPts val="0"/>
              </a:spcAft>
            </a:pPr>
            <a:r>
              <a:rPr sz="800" b="1" i="0">
                <a:solidFill>
                  <a:srgbClr val="5EEAD4"/>
                </a:solidFill>
                <a:latin typeface="Segoe UI"/>
              </a:rPr>
              <a:t>SYSTEM PROMPT — DỰNG TỪ CODE THẬT</a:t>
            </a:r>
          </a:p>
        </p:txBody>
      </p:sp>
      <p:sp>
        <p:nvSpPr>
          <p:cNvPr id="8" name="TextBox 7"/>
          <p:cNvSpPr txBox="1"/>
          <p:nvPr/>
        </p:nvSpPr>
        <p:spPr>
          <a:xfrm>
            <a:off x="804672" y="1755648"/>
            <a:ext cx="5989320" cy="201168"/>
          </a:xfrm>
          <a:prstGeom prst="rect">
            <a:avLst/>
          </a:prstGeom>
          <a:noFill/>
        </p:spPr>
        <p:txBody>
          <a:bodyPr wrap="square" lIns="36576" tIns="18288" rIns="36576" bIns="18288" anchor="t">
            <a:spAutoFit/>
          </a:bodyPr>
          <a:lstStyle/>
          <a:p>
            <a:pPr algn="l">
              <a:lnSpc>
                <a:spcPct val="100000"/>
              </a:lnSpc>
              <a:spcAft>
                <a:spcPts val="0"/>
              </a:spcAft>
            </a:pPr>
            <a:r>
              <a:rPr sz="919" b="0" i="0">
                <a:solidFill>
                  <a:srgbClr val="E2E8F0"/>
                </a:solidFill>
                <a:latin typeface="Consolas"/>
              </a:rPr>
              <a:t>Bạn là nhân viên tư vấn của shop "…" trên LiveOrder.</a:t>
            </a:r>
          </a:p>
        </p:txBody>
      </p:sp>
      <p:sp>
        <p:nvSpPr>
          <p:cNvPr id="9" name="TextBox 8"/>
          <p:cNvSpPr txBox="1"/>
          <p:nvPr/>
        </p:nvSpPr>
        <p:spPr>
          <a:xfrm>
            <a:off x="804672" y="1988819"/>
            <a:ext cx="5989320" cy="201168"/>
          </a:xfrm>
          <a:prstGeom prst="rect">
            <a:avLst/>
          </a:prstGeom>
          <a:noFill/>
        </p:spPr>
        <p:txBody>
          <a:bodyPr wrap="square" lIns="36576" tIns="18288" rIns="36576" bIns="18288" anchor="t">
            <a:spAutoFit/>
          </a:bodyPr>
          <a:lstStyle/>
          <a:p>
            <a:pPr algn="l">
              <a:lnSpc>
                <a:spcPct val="100000"/>
              </a:lnSpc>
              <a:spcAft>
                <a:spcPts val="0"/>
              </a:spcAft>
            </a:pPr>
            <a:r>
              <a:rPr sz="919" b="0" i="0">
                <a:solidFill>
                  <a:srgbClr val="93C5FD"/>
                </a:solidFill>
                <a:latin typeface="Consolas"/>
              </a:rPr>
              <a:t>Quy tắc:</a:t>
            </a:r>
          </a:p>
        </p:txBody>
      </p:sp>
      <p:sp>
        <p:nvSpPr>
          <p:cNvPr id="10" name="TextBox 9"/>
          <p:cNvSpPr txBox="1"/>
          <p:nvPr/>
        </p:nvSpPr>
        <p:spPr>
          <a:xfrm>
            <a:off x="804672" y="2221991"/>
            <a:ext cx="5989320" cy="201168"/>
          </a:xfrm>
          <a:prstGeom prst="rect">
            <a:avLst/>
          </a:prstGeom>
          <a:noFill/>
        </p:spPr>
        <p:txBody>
          <a:bodyPr wrap="square" lIns="36576" tIns="18288" rIns="36576" bIns="18288" anchor="t">
            <a:spAutoFit/>
          </a:bodyPr>
          <a:lstStyle/>
          <a:p>
            <a:pPr algn="l">
              <a:lnSpc>
                <a:spcPct val="100000"/>
              </a:lnSpc>
              <a:spcAft>
                <a:spcPts val="0"/>
              </a:spcAft>
            </a:pPr>
            <a:r>
              <a:rPr sz="919" b="0" i="0">
                <a:solidFill>
                  <a:srgbClr val="CBD5E1"/>
                </a:solidFill>
                <a:latin typeface="Consolas"/>
              </a:rPr>
              <a:t>- Chỉ dùng thông tin trong NGỮ CẢNH; không bịa giá/kho/chính sách.</a:t>
            </a:r>
          </a:p>
        </p:txBody>
      </p:sp>
      <p:sp>
        <p:nvSpPr>
          <p:cNvPr id="11" name="TextBox 10"/>
          <p:cNvSpPr txBox="1"/>
          <p:nvPr/>
        </p:nvSpPr>
        <p:spPr>
          <a:xfrm>
            <a:off x="804672" y="2455163"/>
            <a:ext cx="5989320" cy="201168"/>
          </a:xfrm>
          <a:prstGeom prst="rect">
            <a:avLst/>
          </a:prstGeom>
          <a:noFill/>
        </p:spPr>
        <p:txBody>
          <a:bodyPr wrap="square" lIns="36576" tIns="18288" rIns="36576" bIns="18288" anchor="t">
            <a:spAutoFit/>
          </a:bodyPr>
          <a:lstStyle/>
          <a:p>
            <a:pPr algn="l">
              <a:lnSpc>
                <a:spcPct val="100000"/>
              </a:lnSpc>
              <a:spcAft>
                <a:spcPts val="0"/>
              </a:spcAft>
            </a:pPr>
            <a:r>
              <a:rPr sz="919" b="0" i="0">
                <a:solidFill>
                  <a:srgbClr val="CBD5E1"/>
                </a:solidFill>
                <a:latin typeface="Consolas"/>
              </a:rPr>
              <a:t>- Ngoài ngữ cảnh → nói chưa có thông tin, mời để lại câu hỏi.</a:t>
            </a:r>
          </a:p>
        </p:txBody>
      </p:sp>
      <p:sp>
        <p:nvSpPr>
          <p:cNvPr id="12" name="TextBox 11"/>
          <p:cNvSpPr txBox="1"/>
          <p:nvPr/>
        </p:nvSpPr>
        <p:spPr>
          <a:xfrm>
            <a:off x="804672" y="2688335"/>
            <a:ext cx="5989320" cy="201168"/>
          </a:xfrm>
          <a:prstGeom prst="rect">
            <a:avLst/>
          </a:prstGeom>
          <a:noFill/>
        </p:spPr>
        <p:txBody>
          <a:bodyPr wrap="square" lIns="36576" tIns="18288" rIns="36576" bIns="18288" anchor="t">
            <a:spAutoFit/>
          </a:bodyPr>
          <a:lstStyle/>
          <a:p>
            <a:pPr algn="l">
              <a:lnSpc>
                <a:spcPct val="100000"/>
              </a:lnSpc>
              <a:spcAft>
                <a:spcPts val="0"/>
              </a:spcAft>
            </a:pPr>
            <a:r>
              <a:rPr sz="919" b="0" i="0">
                <a:solidFill>
                  <a:srgbClr val="CBD5E1"/>
                </a:solidFill>
                <a:latin typeface="Consolas"/>
              </a:rPr>
              <a:t>- Trả lời 1–3 câu, thân thiện, tiếng Việt; xưng "mình", gọi "bạn".</a:t>
            </a:r>
          </a:p>
        </p:txBody>
      </p:sp>
      <p:sp>
        <p:nvSpPr>
          <p:cNvPr id="13" name="TextBox 12"/>
          <p:cNvSpPr txBox="1"/>
          <p:nvPr/>
        </p:nvSpPr>
        <p:spPr>
          <a:xfrm>
            <a:off x="804672" y="2921507"/>
            <a:ext cx="5989320" cy="201168"/>
          </a:xfrm>
          <a:prstGeom prst="rect">
            <a:avLst/>
          </a:prstGeom>
          <a:noFill/>
        </p:spPr>
        <p:txBody>
          <a:bodyPr wrap="square" lIns="36576" tIns="18288" rIns="36576" bIns="18288" anchor="t">
            <a:spAutoFit/>
          </a:bodyPr>
          <a:lstStyle/>
          <a:p>
            <a:pPr algn="l">
              <a:lnSpc>
                <a:spcPct val="100000"/>
              </a:lnSpc>
              <a:spcAft>
                <a:spcPts val="0"/>
              </a:spcAft>
            </a:pPr>
            <a:r>
              <a:rPr sz="919" b="0" i="0">
                <a:solidFill>
                  <a:srgbClr val="E2E8F0"/>
                </a:solidFill>
                <a:latin typeface="Consolas"/>
              </a:rPr>
              <a:t/>
            </a:r>
          </a:p>
        </p:txBody>
      </p:sp>
      <p:sp>
        <p:nvSpPr>
          <p:cNvPr id="14" name="TextBox 13"/>
          <p:cNvSpPr txBox="1"/>
          <p:nvPr/>
        </p:nvSpPr>
        <p:spPr>
          <a:xfrm>
            <a:off x="804672" y="3154679"/>
            <a:ext cx="5989320" cy="201168"/>
          </a:xfrm>
          <a:prstGeom prst="rect">
            <a:avLst/>
          </a:prstGeom>
          <a:noFill/>
        </p:spPr>
        <p:txBody>
          <a:bodyPr wrap="square" lIns="36576" tIns="18288" rIns="36576" bIns="18288" anchor="t">
            <a:spAutoFit/>
          </a:bodyPr>
          <a:lstStyle/>
          <a:p>
            <a:pPr algn="l">
              <a:lnSpc>
                <a:spcPct val="100000"/>
              </a:lnSpc>
              <a:spcAft>
                <a:spcPts val="0"/>
              </a:spcAft>
            </a:pPr>
            <a:r>
              <a:rPr sz="919" b="0" i="0">
                <a:solidFill>
                  <a:srgbClr val="FDE68A"/>
                </a:solidFill>
                <a:latin typeface="Consolas"/>
              </a:rPr>
              <a:t>NGỮ CẢNH</a:t>
            </a:r>
          </a:p>
        </p:txBody>
      </p:sp>
      <p:sp>
        <p:nvSpPr>
          <p:cNvPr id="15" name="TextBox 14"/>
          <p:cNvSpPr txBox="1"/>
          <p:nvPr/>
        </p:nvSpPr>
        <p:spPr>
          <a:xfrm>
            <a:off x="804672" y="3387851"/>
            <a:ext cx="5989320" cy="201168"/>
          </a:xfrm>
          <a:prstGeom prst="rect">
            <a:avLst/>
          </a:prstGeom>
          <a:noFill/>
        </p:spPr>
        <p:txBody>
          <a:bodyPr wrap="square" lIns="36576" tIns="18288" rIns="36576" bIns="18288" anchor="t">
            <a:spAutoFit/>
          </a:bodyPr>
          <a:lstStyle/>
          <a:p>
            <a:pPr algn="l">
              <a:lnSpc>
                <a:spcPct val="100000"/>
              </a:lnSpc>
              <a:spcAft>
                <a:spcPts val="0"/>
              </a:spcAft>
            </a:pPr>
            <a:r>
              <a:rPr sz="919" b="0" i="0">
                <a:solidFill>
                  <a:srgbClr val="CBD5E1"/>
                </a:solidFill>
                <a:latin typeface="Consolas"/>
              </a:rPr>
              <a:t>- Live đang mở: "…" (nếu có)</a:t>
            </a:r>
          </a:p>
        </p:txBody>
      </p:sp>
      <p:sp>
        <p:nvSpPr>
          <p:cNvPr id="16" name="TextBox 15"/>
          <p:cNvSpPr txBox="1"/>
          <p:nvPr/>
        </p:nvSpPr>
        <p:spPr>
          <a:xfrm>
            <a:off x="804672" y="3621023"/>
            <a:ext cx="5989320" cy="201168"/>
          </a:xfrm>
          <a:prstGeom prst="rect">
            <a:avLst/>
          </a:prstGeom>
          <a:noFill/>
        </p:spPr>
        <p:txBody>
          <a:bodyPr wrap="square" lIns="36576" tIns="18288" rIns="36576" bIns="18288" anchor="t">
            <a:spAutoFit/>
          </a:bodyPr>
          <a:lstStyle/>
          <a:p>
            <a:pPr algn="l">
              <a:lnSpc>
                <a:spcPct val="100000"/>
              </a:lnSpc>
              <a:spcAft>
                <a:spcPts val="0"/>
              </a:spcAft>
            </a:pPr>
            <a:r>
              <a:rPr sz="919" b="0" i="0">
                <a:solidFill>
                  <a:srgbClr val="CBD5E1"/>
                </a:solidFill>
                <a:latin typeface="Consolas"/>
              </a:rPr>
              <a:t>- Sản phẩm: SP01 · Áo thun — 150.000đ, còn 8</a:t>
            </a:r>
          </a:p>
        </p:txBody>
      </p:sp>
      <p:sp>
        <p:nvSpPr>
          <p:cNvPr id="17" name="TextBox 16"/>
          <p:cNvSpPr txBox="1"/>
          <p:nvPr/>
        </p:nvSpPr>
        <p:spPr>
          <a:xfrm>
            <a:off x="804672" y="3854195"/>
            <a:ext cx="5989320" cy="201168"/>
          </a:xfrm>
          <a:prstGeom prst="rect">
            <a:avLst/>
          </a:prstGeom>
          <a:noFill/>
        </p:spPr>
        <p:txBody>
          <a:bodyPr wrap="square" lIns="36576" tIns="18288" rIns="36576" bIns="18288" anchor="t">
            <a:spAutoFit/>
          </a:bodyPr>
          <a:lstStyle/>
          <a:p>
            <a:pPr algn="l">
              <a:lnSpc>
                <a:spcPct val="100000"/>
              </a:lnSpc>
              <a:spcAft>
                <a:spcPts val="0"/>
              </a:spcAft>
            </a:pPr>
            <a:r>
              <a:rPr sz="919" b="0" i="0">
                <a:solidFill>
                  <a:srgbClr val="CBD5E1"/>
                </a:solidFill>
                <a:latin typeface="Consolas"/>
              </a:rPr>
              <a:t>- Kiến thức top-5: Bảng size: …</a:t>
            </a:r>
          </a:p>
        </p:txBody>
      </p:sp>
      <p:sp>
        <p:nvSpPr>
          <p:cNvPr id="18" name="TextBox 17"/>
          <p:cNvSpPr txBox="1"/>
          <p:nvPr/>
        </p:nvSpPr>
        <p:spPr>
          <a:xfrm>
            <a:off x="804672" y="4087367"/>
            <a:ext cx="5989320" cy="201168"/>
          </a:xfrm>
          <a:prstGeom prst="rect">
            <a:avLst/>
          </a:prstGeom>
          <a:noFill/>
        </p:spPr>
        <p:txBody>
          <a:bodyPr wrap="square" lIns="36576" tIns="18288" rIns="36576" bIns="18288" anchor="t">
            <a:spAutoFit/>
          </a:bodyPr>
          <a:lstStyle/>
          <a:p>
            <a:pPr algn="l">
              <a:lnSpc>
                <a:spcPct val="100000"/>
              </a:lnSpc>
              <a:spcAft>
                <a:spcPts val="0"/>
              </a:spcAft>
            </a:pPr>
            <a:r>
              <a:rPr sz="919" b="0" i="0">
                <a:solidFill>
                  <a:srgbClr val="E2E8F0"/>
                </a:solidFill>
                <a:latin typeface="Consolas"/>
              </a:rPr>
              <a:t/>
            </a:r>
          </a:p>
        </p:txBody>
      </p:sp>
      <p:sp>
        <p:nvSpPr>
          <p:cNvPr id="19" name="TextBox 18"/>
          <p:cNvSpPr txBox="1"/>
          <p:nvPr/>
        </p:nvSpPr>
        <p:spPr>
          <a:xfrm>
            <a:off x="804672" y="4320539"/>
            <a:ext cx="5989320" cy="201168"/>
          </a:xfrm>
          <a:prstGeom prst="rect">
            <a:avLst/>
          </a:prstGeom>
          <a:noFill/>
        </p:spPr>
        <p:txBody>
          <a:bodyPr wrap="square" lIns="36576" tIns="18288" rIns="36576" bIns="18288" anchor="t">
            <a:spAutoFit/>
          </a:bodyPr>
          <a:lstStyle/>
          <a:p>
            <a:pPr algn="l">
              <a:lnSpc>
                <a:spcPct val="100000"/>
              </a:lnSpc>
              <a:spcAft>
                <a:spcPts val="0"/>
              </a:spcAft>
            </a:pPr>
            <a:r>
              <a:rPr sz="919" b="0" i="0">
                <a:solidFill>
                  <a:srgbClr val="93C5FD"/>
                </a:solidFill>
                <a:latin typeface="Consolas"/>
              </a:rPr>
              <a:t>HISTORY (20 tin)</a:t>
            </a:r>
          </a:p>
        </p:txBody>
      </p:sp>
      <p:sp>
        <p:nvSpPr>
          <p:cNvPr id="20" name="TextBox 19"/>
          <p:cNvSpPr txBox="1"/>
          <p:nvPr/>
        </p:nvSpPr>
        <p:spPr>
          <a:xfrm>
            <a:off x="804672" y="4553711"/>
            <a:ext cx="5989320" cy="201168"/>
          </a:xfrm>
          <a:prstGeom prst="rect">
            <a:avLst/>
          </a:prstGeom>
          <a:noFill/>
        </p:spPr>
        <p:txBody>
          <a:bodyPr wrap="square" lIns="36576" tIns="18288" rIns="36576" bIns="18288" anchor="t">
            <a:spAutoFit/>
          </a:bodyPr>
          <a:lstStyle/>
          <a:p>
            <a:pPr algn="l">
              <a:lnSpc>
                <a:spcPct val="100000"/>
              </a:lnSpc>
              <a:spcAft>
                <a:spcPts val="0"/>
              </a:spcAft>
            </a:pPr>
            <a:r>
              <a:rPr sz="919" b="0" i="0">
                <a:solidFill>
                  <a:srgbClr val="CBD5E1"/>
                </a:solidFill>
                <a:latin typeface="Consolas"/>
              </a:rPr>
              <a:t>BUYER → user · AI/SELLER → assistant · SYSTEM bỏ</a:t>
            </a:r>
          </a:p>
        </p:txBody>
      </p:sp>
      <p:sp>
        <p:nvSpPr>
          <p:cNvPr id="21" name="TextBox 20"/>
          <p:cNvSpPr txBox="1"/>
          <p:nvPr/>
        </p:nvSpPr>
        <p:spPr>
          <a:xfrm>
            <a:off x="804672" y="4786883"/>
            <a:ext cx="5989320" cy="201168"/>
          </a:xfrm>
          <a:prstGeom prst="rect">
            <a:avLst/>
          </a:prstGeom>
          <a:noFill/>
        </p:spPr>
        <p:txBody>
          <a:bodyPr wrap="square" lIns="36576" tIns="18288" rIns="36576" bIns="18288" anchor="t">
            <a:spAutoFit/>
          </a:bodyPr>
          <a:lstStyle/>
          <a:p>
            <a:pPr algn="l">
              <a:lnSpc>
                <a:spcPct val="100000"/>
              </a:lnSpc>
              <a:spcAft>
                <a:spcPts val="0"/>
              </a:spcAft>
            </a:pPr>
            <a:r>
              <a:rPr sz="919" b="0" i="0">
                <a:solidFill>
                  <a:srgbClr val="E2E8F0"/>
                </a:solidFill>
                <a:latin typeface="Consolas"/>
              </a:rPr>
              <a:t/>
            </a:r>
          </a:p>
        </p:txBody>
      </p:sp>
      <p:sp>
        <p:nvSpPr>
          <p:cNvPr id="22" name="TextBox 21"/>
          <p:cNvSpPr txBox="1"/>
          <p:nvPr/>
        </p:nvSpPr>
        <p:spPr>
          <a:xfrm>
            <a:off x="804672" y="5020055"/>
            <a:ext cx="5989320" cy="201168"/>
          </a:xfrm>
          <a:prstGeom prst="rect">
            <a:avLst/>
          </a:prstGeom>
          <a:noFill/>
        </p:spPr>
        <p:txBody>
          <a:bodyPr wrap="square" lIns="36576" tIns="18288" rIns="36576" bIns="18288" anchor="t">
            <a:spAutoFit/>
          </a:bodyPr>
          <a:lstStyle/>
          <a:p>
            <a:pPr algn="l">
              <a:lnSpc>
                <a:spcPct val="100000"/>
              </a:lnSpc>
              <a:spcAft>
                <a:spcPts val="0"/>
              </a:spcAft>
            </a:pPr>
            <a:r>
              <a:rPr sz="919" b="0" i="0">
                <a:solidFill>
                  <a:srgbClr val="E2E8F0"/>
                </a:solidFill>
                <a:latin typeface="Consolas"/>
              </a:rPr>
              <a:t>USER  1m68 62kg mặc size gì?</a:t>
            </a:r>
          </a:p>
        </p:txBody>
      </p:sp>
      <p:sp>
        <p:nvSpPr>
          <p:cNvPr id="23" name="TextBox 22"/>
          <p:cNvSpPr txBox="1"/>
          <p:nvPr/>
        </p:nvSpPr>
        <p:spPr>
          <a:xfrm>
            <a:off x="777240" y="5394960"/>
            <a:ext cx="6035040" cy="292608"/>
          </a:xfrm>
          <a:prstGeom prst="rect">
            <a:avLst/>
          </a:prstGeom>
          <a:noFill/>
        </p:spPr>
        <p:txBody>
          <a:bodyPr wrap="square" lIns="36576" tIns="18288" rIns="36576" bIns="18288" anchor="t">
            <a:spAutoFit/>
          </a:bodyPr>
          <a:lstStyle/>
          <a:p>
            <a:pPr algn="l">
              <a:lnSpc>
                <a:spcPct val="100000"/>
              </a:lnSpc>
              <a:spcAft>
                <a:spcPts val="0"/>
              </a:spcAft>
            </a:pPr>
            <a:r>
              <a:rPr sz="860" b="0" i="1">
                <a:solidFill>
                  <a:srgbClr val="94A3B8"/>
                </a:solidFill>
                <a:latin typeface="Segoe UI"/>
              </a:rPr>
              <a:t>Trace lưu vào DirectMessage.trace → UI "Vì sao AI trả lời thế này?"</a:t>
            </a:r>
          </a:p>
        </p:txBody>
      </p:sp>
      <p:sp>
        <p:nvSpPr>
          <p:cNvPr id="24" name="Rounded Rectangle 23"/>
          <p:cNvSpPr/>
          <p:nvPr/>
        </p:nvSpPr>
        <p:spPr>
          <a:xfrm>
            <a:off x="7269480" y="1298448"/>
            <a:ext cx="4325112" cy="1024128"/>
          </a:xfrm>
          <a:prstGeom prst="roundRect">
            <a:avLst>
              <a:gd name="adj" fmla="val 12000"/>
            </a:avLst>
          </a:prstGeom>
          <a:solidFill>
            <a:srgbClr val="E6FFFA"/>
          </a:solidFill>
          <a:ln w="12700">
            <a:solidFill>
              <a:srgbClr val="E6FF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269480" y="1298448"/>
            <a:ext cx="64008" cy="10241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424927" y="1371600"/>
            <a:ext cx="3977639" cy="228600"/>
          </a:xfrm>
          <a:prstGeom prst="rect">
            <a:avLst/>
          </a:prstGeom>
          <a:noFill/>
        </p:spPr>
        <p:txBody>
          <a:bodyPr wrap="square" lIns="36576" tIns="18288" rIns="36576" bIns="18288" anchor="t">
            <a:spAutoFit/>
          </a:bodyPr>
          <a:lstStyle/>
          <a:p>
            <a:pPr algn="l">
              <a:lnSpc>
                <a:spcPct val="100000"/>
              </a:lnSpc>
              <a:spcAft>
                <a:spcPts val="0"/>
              </a:spcAft>
            </a:pPr>
            <a:r>
              <a:rPr sz="1000" b="1" i="0">
                <a:solidFill>
                  <a:srgbClr val="0F766E"/>
                </a:solidFill>
                <a:latin typeface="Segoe UI"/>
              </a:rPr>
              <a:t>Cô lập shop</a:t>
            </a:r>
          </a:p>
        </p:txBody>
      </p:sp>
      <p:sp>
        <p:nvSpPr>
          <p:cNvPr id="27" name="TextBox 26"/>
          <p:cNvSpPr txBox="1"/>
          <p:nvPr/>
        </p:nvSpPr>
        <p:spPr>
          <a:xfrm>
            <a:off x="7424927" y="1618488"/>
            <a:ext cx="4041648" cy="640080"/>
          </a:xfrm>
          <a:prstGeom prst="rect">
            <a:avLst/>
          </a:prstGeom>
          <a:noFill/>
        </p:spPr>
        <p:txBody>
          <a:bodyPr wrap="square" lIns="36576" tIns="18288" rIns="36576" bIns="18288" anchor="t">
            <a:spAutoFit/>
          </a:bodyPr>
          <a:lstStyle/>
          <a:p>
            <a:pPr algn="l">
              <a:lnSpc>
                <a:spcPct val="102000"/>
              </a:lnSpc>
              <a:spcAft>
                <a:spcPts val="0"/>
              </a:spcAft>
            </a:pPr>
            <a:r>
              <a:rPr sz="790" b="0" i="0">
                <a:solidFill>
                  <a:srgbClr val="1E293B"/>
                </a:solidFill>
                <a:latin typeface="Segoe UI"/>
              </a:rPr>
              <a:t>Mọi query filter shopId; index riêng. SKU nêu rõ tra chính xác bằng findExactSku — không thay bằng cosine.</a:t>
            </a:r>
          </a:p>
        </p:txBody>
      </p:sp>
      <p:sp>
        <p:nvSpPr>
          <p:cNvPr id="28" name="Rounded Rectangle 27"/>
          <p:cNvSpPr/>
          <p:nvPr/>
        </p:nvSpPr>
        <p:spPr>
          <a:xfrm>
            <a:off x="7269480" y="2432304"/>
            <a:ext cx="4325112" cy="1024128"/>
          </a:xfrm>
          <a:prstGeom prst="roundRect">
            <a:avLst>
              <a:gd name="adj" fmla="val 12000"/>
            </a:avLst>
          </a:prstGeom>
          <a:solidFill>
            <a:srgbClr val="FEF3C7"/>
          </a:solidFill>
          <a:ln w="12700">
            <a:solidFill>
              <a:srgbClr val="FEF3C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7269480" y="2432304"/>
            <a:ext cx="64008" cy="102412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424927" y="2505456"/>
            <a:ext cx="3977639" cy="228600"/>
          </a:xfrm>
          <a:prstGeom prst="rect">
            <a:avLst/>
          </a:prstGeom>
          <a:noFill/>
        </p:spPr>
        <p:txBody>
          <a:bodyPr wrap="square" lIns="36576" tIns="18288" rIns="36576" bIns="18288" anchor="t">
            <a:spAutoFit/>
          </a:bodyPr>
          <a:lstStyle/>
          <a:p>
            <a:pPr algn="l">
              <a:lnSpc>
                <a:spcPct val="100000"/>
              </a:lnSpc>
              <a:spcAft>
                <a:spcPts val="0"/>
              </a:spcAft>
            </a:pPr>
            <a:r>
              <a:rPr sz="1000" b="1" i="0">
                <a:solidFill>
                  <a:srgbClr val="B45309"/>
                </a:solidFill>
                <a:latin typeface="Segoe UI"/>
              </a:rPr>
              <a:t>Đơn không bịa</a:t>
            </a:r>
          </a:p>
        </p:txBody>
      </p:sp>
      <p:sp>
        <p:nvSpPr>
          <p:cNvPr id="31" name="TextBox 30"/>
          <p:cNvSpPr txBox="1"/>
          <p:nvPr/>
        </p:nvSpPr>
        <p:spPr>
          <a:xfrm>
            <a:off x="7424927" y="2752344"/>
            <a:ext cx="4041648" cy="640080"/>
          </a:xfrm>
          <a:prstGeom prst="rect">
            <a:avLst/>
          </a:prstGeom>
          <a:noFill/>
        </p:spPr>
        <p:txBody>
          <a:bodyPr wrap="square" lIns="36576" tIns="18288" rIns="36576" bIns="18288" anchor="t">
            <a:spAutoFit/>
          </a:bodyPr>
          <a:lstStyle/>
          <a:p>
            <a:pPr algn="l">
              <a:lnSpc>
                <a:spcPct val="102000"/>
              </a:lnSpc>
              <a:spcAft>
                <a:spcPts val="0"/>
              </a:spcAft>
            </a:pPr>
            <a:r>
              <a:rPr sz="790" b="0" i="0">
                <a:solidFill>
                  <a:srgbClr val="1E293B"/>
                </a:solidFill>
                <a:latin typeface="Segoe UI"/>
              </a:rPr>
              <a:t>Câu hỏi đơn đi template DB theo buyerId + shopId; trạng thái luôn khớp thực tế, không gọi LLM.</a:t>
            </a:r>
          </a:p>
        </p:txBody>
      </p:sp>
      <p:sp>
        <p:nvSpPr>
          <p:cNvPr id="32" name="Rounded Rectangle 31"/>
          <p:cNvSpPr/>
          <p:nvPr/>
        </p:nvSpPr>
        <p:spPr>
          <a:xfrm>
            <a:off x="7269480" y="3566160"/>
            <a:ext cx="4325112" cy="1024128"/>
          </a:xfrm>
          <a:prstGeom prst="roundRect">
            <a:avLst>
              <a:gd name="adj" fmla="val 12000"/>
            </a:avLst>
          </a:prstGeom>
          <a:solidFill>
            <a:srgbClr val="FFE4E6"/>
          </a:solidFill>
          <a:ln w="12700">
            <a:solidFill>
              <a:srgbClr val="FFE4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269480" y="3566160"/>
            <a:ext cx="64008" cy="1024128"/>
          </a:xfrm>
          <a:prstGeom prst="rect">
            <a:avLst/>
          </a:prstGeom>
          <a:solidFill>
            <a:srgbClr val="BE1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424927" y="3639312"/>
            <a:ext cx="3977639" cy="228600"/>
          </a:xfrm>
          <a:prstGeom prst="rect">
            <a:avLst/>
          </a:prstGeom>
          <a:noFill/>
        </p:spPr>
        <p:txBody>
          <a:bodyPr wrap="square" lIns="36576" tIns="18288" rIns="36576" bIns="18288" anchor="t">
            <a:spAutoFit/>
          </a:bodyPr>
          <a:lstStyle/>
          <a:p>
            <a:pPr algn="l">
              <a:lnSpc>
                <a:spcPct val="100000"/>
              </a:lnSpc>
              <a:spcAft>
                <a:spcPts val="0"/>
              </a:spcAft>
            </a:pPr>
            <a:r>
              <a:rPr sz="1000" b="1" i="0">
                <a:solidFill>
                  <a:srgbClr val="BE123C"/>
                </a:solidFill>
                <a:latin typeface="Segoe UI"/>
              </a:rPr>
              <a:t>Takeover thắng</a:t>
            </a:r>
          </a:p>
        </p:txBody>
      </p:sp>
      <p:sp>
        <p:nvSpPr>
          <p:cNvPr id="35" name="TextBox 34"/>
          <p:cNvSpPr txBox="1"/>
          <p:nvPr/>
        </p:nvSpPr>
        <p:spPr>
          <a:xfrm>
            <a:off x="7424927" y="3886200"/>
            <a:ext cx="4041648" cy="640080"/>
          </a:xfrm>
          <a:prstGeom prst="rect">
            <a:avLst/>
          </a:prstGeom>
          <a:noFill/>
        </p:spPr>
        <p:txBody>
          <a:bodyPr wrap="square" lIns="36576" tIns="18288" rIns="36576" bIns="18288" anchor="t">
            <a:spAutoFit/>
          </a:bodyPr>
          <a:lstStyle/>
          <a:p>
            <a:pPr algn="l">
              <a:lnSpc>
                <a:spcPct val="102000"/>
              </a:lnSpc>
              <a:spcAft>
                <a:spcPts val="0"/>
              </a:spcAft>
            </a:pPr>
            <a:r>
              <a:rPr sz="790" b="0" i="0">
                <a:solidFill>
                  <a:srgbClr val="1E293B"/>
                </a:solidFill>
                <a:latin typeface="Segoe UI"/>
              </a:rPr>
              <a:t>Chốt mode/version lúc dispatch; đọc lại sau khi AI trả lời. Lệch → hủy im lặng, không lưu, không phát.</a:t>
            </a:r>
          </a:p>
        </p:txBody>
      </p:sp>
      <p:sp>
        <p:nvSpPr>
          <p:cNvPr id="36" name="Rounded Rectangle 35"/>
          <p:cNvSpPr/>
          <p:nvPr/>
        </p:nvSpPr>
        <p:spPr>
          <a:xfrm>
            <a:off x="7269480" y="4700016"/>
            <a:ext cx="4325112" cy="1024128"/>
          </a:xfrm>
          <a:prstGeom prst="roundRect">
            <a:avLst>
              <a:gd name="adj" fmla="val 12000"/>
            </a:avLst>
          </a:prstGeom>
          <a:solidFill>
            <a:srgbClr val="EFF6FF"/>
          </a:solidFill>
          <a:ln w="12700">
            <a:solidFill>
              <a:srgbClr val="EFF6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269480" y="4700016"/>
            <a:ext cx="64008" cy="1024128"/>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424927" y="4773168"/>
            <a:ext cx="3977639" cy="228600"/>
          </a:xfrm>
          <a:prstGeom prst="rect">
            <a:avLst/>
          </a:prstGeom>
          <a:noFill/>
        </p:spPr>
        <p:txBody>
          <a:bodyPr wrap="square" lIns="36576" tIns="18288" rIns="36576" bIns="18288" anchor="t">
            <a:spAutoFit/>
          </a:bodyPr>
          <a:lstStyle/>
          <a:p>
            <a:pPr algn="l">
              <a:lnSpc>
                <a:spcPct val="100000"/>
              </a:lnSpc>
              <a:spcAft>
                <a:spcPts val="0"/>
              </a:spcAft>
            </a:pPr>
            <a:r>
              <a:rPr sz="1000" b="1" i="0">
                <a:solidFill>
                  <a:srgbClr val="1D4ED8"/>
                </a:solidFill>
                <a:latin typeface="Segoe UI"/>
              </a:rPr>
              <a:t>Trace minh bạch</a:t>
            </a:r>
          </a:p>
        </p:txBody>
      </p:sp>
      <p:sp>
        <p:nvSpPr>
          <p:cNvPr id="39" name="TextBox 38"/>
          <p:cNvSpPr txBox="1"/>
          <p:nvPr/>
        </p:nvSpPr>
        <p:spPr>
          <a:xfrm>
            <a:off x="7424927" y="5020056"/>
            <a:ext cx="4041648" cy="640080"/>
          </a:xfrm>
          <a:prstGeom prst="rect">
            <a:avLst/>
          </a:prstGeom>
          <a:noFill/>
        </p:spPr>
        <p:txBody>
          <a:bodyPr wrap="square" lIns="36576" tIns="18288" rIns="36576" bIns="18288" anchor="t">
            <a:spAutoFit/>
          </a:bodyPr>
          <a:lstStyle/>
          <a:p>
            <a:pPr algn="l">
              <a:lnSpc>
                <a:spcPct val="102000"/>
              </a:lnSpc>
              <a:spcAft>
                <a:spcPts val="0"/>
              </a:spcAft>
            </a:pPr>
            <a:r>
              <a:rPr sz="790" b="0" i="0">
                <a:solidFill>
                  <a:srgbClr val="1E293B"/>
                </a:solidFill>
                <a:latin typeface="Segoe UI"/>
              </a:rPr>
              <a:t>model · topK + score · products · tokens · elapsedMs · fallback/error. Xem được ngay trên UI.</a:t>
            </a:r>
          </a:p>
        </p:txBody>
      </p:sp>
      <p:sp>
        <p:nvSpPr>
          <p:cNvPr id="40" name="Rounded Rectangle 39"/>
          <p:cNvSpPr/>
          <p:nvPr/>
        </p:nvSpPr>
        <p:spPr>
          <a:xfrm>
            <a:off x="594360" y="5943600"/>
            <a:ext cx="11000232" cy="365760"/>
          </a:xfrm>
          <a:prstGeom prst="roundRect">
            <a:avLst>
              <a:gd name="adj" fmla="val 30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731520" y="5989320"/>
            <a:ext cx="10698480" cy="256032"/>
          </a:xfrm>
          <a:prstGeom prst="rect">
            <a:avLst/>
          </a:prstGeom>
          <a:noFill/>
        </p:spPr>
        <p:txBody>
          <a:bodyPr wrap="square" lIns="36576" tIns="18288" rIns="36576" bIns="18288" anchor="t">
            <a:spAutoFit/>
          </a:bodyPr>
          <a:lstStyle/>
          <a:p>
            <a:pPr algn="ctr">
              <a:lnSpc>
                <a:spcPct val="100000"/>
              </a:lnSpc>
              <a:spcAft>
                <a:spcPts val="0"/>
              </a:spcAft>
            </a:pPr>
            <a:r>
              <a:rPr sz="860" b="1" i="0">
                <a:solidFill>
                  <a:srgbClr val="64748B"/>
                </a:solidFill>
                <a:latin typeface="Segoe UI"/>
              </a:rPr>
              <a:t>e5-small 384d  ·  topK 5  ·  cosine  ·  history 20  ·  qwen3.8-27b  ·  timeout 20s  ·  fallback FULL_KB</a:t>
            </a:r>
          </a:p>
        </p:txBody>
      </p:sp>
      <p:cxnSp>
        <p:nvCxnSpPr>
          <p:cNvPr id="42" name="Connector 41"/>
          <p:cNvCxnSpPr/>
          <p:nvPr/>
        </p:nvCxnSpPr>
        <p:spPr>
          <a:xfrm>
            <a:off x="594360" y="6492240"/>
            <a:ext cx="1100023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594360" y="6537960"/>
            <a:ext cx="7315200" cy="201168"/>
          </a:xfrm>
          <a:prstGeom prst="rect">
            <a:avLst/>
          </a:prstGeom>
          <a:noFill/>
        </p:spPr>
        <p:txBody>
          <a:bodyPr wrap="square" lIns="36576" tIns="18288" rIns="36576" bIns="18288" anchor="t">
            <a:spAutoFit/>
          </a:bodyPr>
          <a:lstStyle/>
          <a:p>
            <a:pPr algn="l">
              <a:lnSpc>
                <a:spcPct val="100000"/>
              </a:lnSpc>
              <a:spcAft>
                <a:spcPts val="0"/>
              </a:spcAft>
            </a:pPr>
            <a:r>
              <a:rPr sz="800" b="0" i="0">
                <a:solidFill>
                  <a:srgbClr val="94A3B8"/>
                </a:solidFill>
                <a:latin typeface="Segoe UI"/>
              </a:rPr>
              <a:t>LiveOrder · Pipeline toàn dự án · 2026</a:t>
            </a:r>
          </a:p>
        </p:txBody>
      </p:sp>
      <p:sp>
        <p:nvSpPr>
          <p:cNvPr id="44" name="TextBox 43"/>
          <p:cNvSpPr txBox="1"/>
          <p:nvPr/>
        </p:nvSpPr>
        <p:spPr>
          <a:xfrm>
            <a:off x="8229600" y="6537960"/>
            <a:ext cx="3364992" cy="201168"/>
          </a:xfrm>
          <a:prstGeom prst="rect">
            <a:avLst/>
          </a:prstGeom>
          <a:noFill/>
        </p:spPr>
        <p:txBody>
          <a:bodyPr wrap="square" lIns="36576" tIns="18288" rIns="36576" bIns="18288" anchor="t">
            <a:spAutoFit/>
          </a:bodyPr>
          <a:lstStyle/>
          <a:p>
            <a:pPr algn="r">
              <a:lnSpc>
                <a:spcPct val="100000"/>
              </a:lnSpc>
              <a:spcAft>
                <a:spcPts val="0"/>
              </a:spcAft>
            </a:pPr>
            <a:r>
              <a:rPr sz="800" b="0" i="0">
                <a:solidFill>
                  <a:srgbClr val="94A3B8"/>
                </a:solidFill>
                <a:latin typeface="Segoe UI"/>
              </a:rPr>
              <a:t>Aho-Corasick  ·  RAG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94360" y="274320"/>
            <a:ext cx="6400800" cy="228600"/>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0F766E"/>
                </a:solidFill>
                <a:latin typeface="Segoe UI"/>
              </a:rPr>
              <a:t>11 · VẬN HÀNH</a:t>
            </a:r>
          </a:p>
        </p:txBody>
      </p:sp>
      <p:sp>
        <p:nvSpPr>
          <p:cNvPr id="4" name="TextBox 3"/>
          <p:cNvSpPr txBox="1"/>
          <p:nvPr/>
        </p:nvSpPr>
        <p:spPr>
          <a:xfrm>
            <a:off x="576072" y="493776"/>
            <a:ext cx="10424160" cy="502920"/>
          </a:xfrm>
          <a:prstGeom prst="rect">
            <a:avLst/>
          </a:prstGeom>
          <a:noFill/>
        </p:spPr>
        <p:txBody>
          <a:bodyPr wrap="square" lIns="36576" tIns="18288" rIns="36576" bIns="18288" anchor="t">
            <a:spAutoFit/>
          </a:bodyPr>
          <a:lstStyle/>
          <a:p>
            <a:pPr algn="l">
              <a:lnSpc>
                <a:spcPct val="100000"/>
              </a:lnSpc>
              <a:spcAft>
                <a:spcPts val="0"/>
              </a:spcAft>
            </a:pPr>
            <a:r>
              <a:rPr sz="2300" b="1" i="0">
                <a:solidFill>
                  <a:srgbClr val="0F172A"/>
                </a:solidFill>
                <a:latin typeface="Segoe UI"/>
              </a:rPr>
              <a:t>Hai lõi gặp nhau trong một phiên demo 10 phút</a:t>
            </a:r>
          </a:p>
        </p:txBody>
      </p:sp>
      <p:sp>
        <p:nvSpPr>
          <p:cNvPr id="5" name="TextBox 4"/>
          <p:cNvSpPr txBox="1"/>
          <p:nvPr/>
        </p:nvSpPr>
        <p:spPr>
          <a:xfrm>
            <a:off x="10698480" y="283464"/>
            <a:ext cx="960120" cy="228600"/>
          </a:xfrm>
          <a:prstGeom prst="rect">
            <a:avLst/>
          </a:prstGeom>
          <a:noFill/>
        </p:spPr>
        <p:txBody>
          <a:bodyPr wrap="square" lIns="36576" tIns="18288" rIns="36576" bIns="18288" anchor="t">
            <a:spAutoFit/>
          </a:bodyPr>
          <a:lstStyle/>
          <a:p>
            <a:pPr algn="r">
              <a:lnSpc>
                <a:spcPct val="100000"/>
              </a:lnSpc>
              <a:spcAft>
                <a:spcPts val="0"/>
              </a:spcAft>
            </a:pPr>
            <a:r>
              <a:rPr sz="900" b="1" i="0">
                <a:solidFill>
                  <a:srgbClr val="94A3B8"/>
                </a:solidFill>
                <a:latin typeface="Segoe UI"/>
              </a:rPr>
              <a:t>12 / 13</a:t>
            </a:r>
          </a:p>
        </p:txBody>
      </p:sp>
      <p:cxnSp>
        <p:nvCxnSpPr>
          <p:cNvPr id="6" name="Connector 5"/>
          <p:cNvCxnSpPr/>
          <p:nvPr/>
        </p:nvCxnSpPr>
        <p:spPr>
          <a:xfrm>
            <a:off x="822960" y="3520440"/>
            <a:ext cx="10652760" cy="0"/>
          </a:xfrm>
          <a:prstGeom prst="line">
            <a:avLst/>
          </a:prstGeom>
          <a:ln w="38100">
            <a:solidFill>
              <a:srgbClr val="CBD5E1"/>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94360" y="1417320"/>
            <a:ext cx="1755648" cy="1417320"/>
          </a:xfrm>
          <a:prstGeom prst="roundRect">
            <a:avLst>
              <a:gd name="adj" fmla="val 12000"/>
            </a:avLst>
          </a:prstGeom>
          <a:solidFill>
            <a:srgbClr val="FFFFFF"/>
          </a:solidFill>
          <a:ln w="1397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04088" y="1499616"/>
            <a:ext cx="1508760" cy="219456"/>
          </a:xfrm>
          <a:prstGeom prst="rect">
            <a:avLst/>
          </a:prstGeom>
          <a:noFill/>
        </p:spPr>
        <p:txBody>
          <a:bodyPr wrap="square" lIns="36576" tIns="18288" rIns="36576" bIns="18288" anchor="t">
            <a:spAutoFit/>
          </a:bodyPr>
          <a:lstStyle/>
          <a:p>
            <a:pPr algn="l">
              <a:lnSpc>
                <a:spcPct val="100000"/>
              </a:lnSpc>
              <a:spcAft>
                <a:spcPts val="0"/>
              </a:spcAft>
            </a:pPr>
            <a:r>
              <a:rPr sz="900" b="1" i="0">
                <a:solidFill>
                  <a:srgbClr val="B45309"/>
                </a:solidFill>
                <a:latin typeface="Segoe UI"/>
              </a:rPr>
              <a:t>0:00</a:t>
            </a:r>
          </a:p>
        </p:txBody>
      </p:sp>
      <p:sp>
        <p:nvSpPr>
          <p:cNvPr id="9" name="TextBox 8"/>
          <p:cNvSpPr txBox="1"/>
          <p:nvPr/>
        </p:nvSpPr>
        <p:spPr>
          <a:xfrm>
            <a:off x="704088" y="1746504"/>
            <a:ext cx="1554480" cy="274320"/>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0F172A"/>
                </a:solidFill>
                <a:latin typeface="Segoe UI"/>
              </a:rPr>
              <a:t>Seller mở live</a:t>
            </a:r>
          </a:p>
        </p:txBody>
      </p:sp>
      <p:sp>
        <p:nvSpPr>
          <p:cNvPr id="10" name="TextBox 9"/>
          <p:cNvSpPr txBox="1"/>
          <p:nvPr/>
        </p:nvSpPr>
        <p:spPr>
          <a:xfrm>
            <a:off x="704088" y="2075688"/>
            <a:ext cx="1554480" cy="502920"/>
          </a:xfrm>
          <a:prstGeom prst="rect">
            <a:avLst/>
          </a:prstGeom>
          <a:noFill/>
        </p:spPr>
        <p:txBody>
          <a:bodyPr wrap="square" lIns="36576" tIns="18288" rIns="36576" bIns="18288" anchor="t">
            <a:spAutoFit/>
          </a:bodyPr>
          <a:lstStyle/>
          <a:p>
            <a:pPr algn="l">
              <a:lnSpc>
                <a:spcPct val="100000"/>
              </a:lnSpc>
              <a:spcAft>
                <a:spcPts val="0"/>
              </a:spcAft>
            </a:pPr>
            <a:r>
              <a:rPr sz="720" b="0" i="0">
                <a:solidFill>
                  <a:srgbClr val="64748B"/>
                </a:solidFill>
                <a:latin typeface="Segoe UI"/>
              </a:rPr>
              <a:t>Studio webcam · LiveSession = LIVE · socket live_started.</a:t>
            </a:r>
          </a:p>
        </p:txBody>
      </p:sp>
      <p:sp>
        <p:nvSpPr>
          <p:cNvPr id="11" name="TextBox 10"/>
          <p:cNvSpPr txBox="1"/>
          <p:nvPr/>
        </p:nvSpPr>
        <p:spPr>
          <a:xfrm>
            <a:off x="704088" y="2560320"/>
            <a:ext cx="1554480" cy="201168"/>
          </a:xfrm>
          <a:prstGeom prst="rect">
            <a:avLst/>
          </a:prstGeom>
          <a:noFill/>
        </p:spPr>
        <p:txBody>
          <a:bodyPr wrap="square" lIns="36576" tIns="18288" rIns="36576" bIns="18288" anchor="t">
            <a:spAutoFit/>
          </a:bodyPr>
          <a:lstStyle/>
          <a:p>
            <a:pPr algn="l">
              <a:lnSpc>
                <a:spcPct val="100000"/>
              </a:lnSpc>
              <a:spcAft>
                <a:spcPts val="0"/>
              </a:spcAft>
            </a:pPr>
            <a:r>
              <a:rPr sz="720" b="1" i="0">
                <a:solidFill>
                  <a:srgbClr val="B45309"/>
                </a:solidFill>
                <a:latin typeface="Segoe UI"/>
              </a:rPr>
              <a:t>→ phiên LIVE</a:t>
            </a:r>
          </a:p>
        </p:txBody>
      </p:sp>
      <p:cxnSp>
        <p:nvCxnSpPr>
          <p:cNvPr id="12" name="Connector 11"/>
          <p:cNvCxnSpPr/>
          <p:nvPr/>
        </p:nvCxnSpPr>
        <p:spPr>
          <a:xfrm>
            <a:off x="1472184" y="2834640"/>
            <a:ext cx="0" cy="630936"/>
          </a:xfrm>
          <a:prstGeom prst="line">
            <a:avLst/>
          </a:prstGeom>
          <a:ln w="17780">
            <a:solidFill>
              <a:srgbClr val="B45309"/>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403604" y="3451860"/>
            <a:ext cx="137160" cy="13716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i="0">
                <a:solidFill>
                  <a:srgbClr val="FFFFFF"/>
                </a:solidFill>
                <a:latin typeface="Segoe UI"/>
              </a:rPr>
              <a:t/>
            </a:r>
          </a:p>
        </p:txBody>
      </p:sp>
      <p:sp>
        <p:nvSpPr>
          <p:cNvPr id="14" name="Rounded Rectangle 13"/>
          <p:cNvSpPr/>
          <p:nvPr/>
        </p:nvSpPr>
        <p:spPr>
          <a:xfrm>
            <a:off x="2395728" y="4160520"/>
            <a:ext cx="1755648" cy="1417320"/>
          </a:xfrm>
          <a:prstGeom prst="roundRect">
            <a:avLst>
              <a:gd name="adj" fmla="val 12000"/>
            </a:avLst>
          </a:prstGeom>
          <a:solidFill>
            <a:srgbClr val="FFFFFF"/>
          </a:solidFill>
          <a:ln w="1397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505456" y="4242816"/>
            <a:ext cx="1508760" cy="219456"/>
          </a:xfrm>
          <a:prstGeom prst="rect">
            <a:avLst/>
          </a:prstGeom>
          <a:noFill/>
        </p:spPr>
        <p:txBody>
          <a:bodyPr wrap="square" lIns="36576" tIns="18288" rIns="36576" bIns="18288" anchor="t">
            <a:spAutoFit/>
          </a:bodyPr>
          <a:lstStyle/>
          <a:p>
            <a:pPr algn="l">
              <a:lnSpc>
                <a:spcPct val="100000"/>
              </a:lnSpc>
              <a:spcAft>
                <a:spcPts val="0"/>
              </a:spcAft>
            </a:pPr>
            <a:r>
              <a:rPr sz="900" b="1" i="0">
                <a:solidFill>
                  <a:srgbClr val="0F766E"/>
                </a:solidFill>
                <a:latin typeface="Segoe UI"/>
              </a:rPr>
              <a:t>0:30</a:t>
            </a:r>
          </a:p>
        </p:txBody>
      </p:sp>
      <p:sp>
        <p:nvSpPr>
          <p:cNvPr id="16" name="TextBox 15"/>
          <p:cNvSpPr txBox="1"/>
          <p:nvPr/>
        </p:nvSpPr>
        <p:spPr>
          <a:xfrm>
            <a:off x="2505456" y="4489704"/>
            <a:ext cx="1554480" cy="274320"/>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0F172A"/>
                </a:solidFill>
                <a:latin typeface="Segoe UI"/>
              </a:rPr>
              <a:t>SP01 2 cái</a:t>
            </a:r>
          </a:p>
        </p:txBody>
      </p:sp>
      <p:sp>
        <p:nvSpPr>
          <p:cNvPr id="17" name="TextBox 16"/>
          <p:cNvSpPr txBox="1"/>
          <p:nvPr/>
        </p:nvSpPr>
        <p:spPr>
          <a:xfrm>
            <a:off x="2505456" y="4818888"/>
            <a:ext cx="1554480" cy="502920"/>
          </a:xfrm>
          <a:prstGeom prst="rect">
            <a:avLst/>
          </a:prstGeom>
          <a:noFill/>
        </p:spPr>
        <p:txBody>
          <a:bodyPr wrap="square" lIns="36576" tIns="18288" rIns="36576" bIns="18288" anchor="t">
            <a:spAutoFit/>
          </a:bodyPr>
          <a:lstStyle/>
          <a:p>
            <a:pPr algn="l">
              <a:lnSpc>
                <a:spcPct val="100000"/>
              </a:lnSpc>
              <a:spcAft>
                <a:spcPts val="0"/>
              </a:spcAft>
            </a:pPr>
            <a:r>
              <a:rPr sz="720" b="0" i="0">
                <a:solidFill>
                  <a:srgbClr val="64748B"/>
                </a:solidFill>
                <a:latin typeface="Segoe UI"/>
              </a:rPr>
              <a:t>Aho-Corasick bắt mã · Order PENDING · trừ kho · toast 2 cửa sổ.</a:t>
            </a:r>
          </a:p>
        </p:txBody>
      </p:sp>
      <p:sp>
        <p:nvSpPr>
          <p:cNvPr id="18" name="TextBox 17"/>
          <p:cNvSpPr txBox="1"/>
          <p:nvPr/>
        </p:nvSpPr>
        <p:spPr>
          <a:xfrm>
            <a:off x="2505456" y="5303520"/>
            <a:ext cx="1554480" cy="201168"/>
          </a:xfrm>
          <a:prstGeom prst="rect">
            <a:avLst/>
          </a:prstGeom>
          <a:noFill/>
        </p:spPr>
        <p:txBody>
          <a:bodyPr wrap="square" lIns="36576" tIns="18288" rIns="36576" bIns="18288" anchor="t">
            <a:spAutoFit/>
          </a:bodyPr>
          <a:lstStyle/>
          <a:p>
            <a:pPr algn="l">
              <a:lnSpc>
                <a:spcPct val="100000"/>
              </a:lnSpc>
              <a:spcAft>
                <a:spcPts val="0"/>
              </a:spcAft>
            </a:pPr>
            <a:r>
              <a:rPr sz="720" b="1" i="0">
                <a:solidFill>
                  <a:srgbClr val="0F766E"/>
                </a:solidFill>
                <a:latin typeface="Segoe UI"/>
              </a:rPr>
              <a:t>→ Order PENDING</a:t>
            </a:r>
          </a:p>
        </p:txBody>
      </p:sp>
      <p:cxnSp>
        <p:nvCxnSpPr>
          <p:cNvPr id="19" name="Connector 18"/>
          <p:cNvCxnSpPr/>
          <p:nvPr/>
        </p:nvCxnSpPr>
        <p:spPr>
          <a:xfrm>
            <a:off x="3273552" y="3575304"/>
            <a:ext cx="0" cy="585216"/>
          </a:xfrm>
          <a:prstGeom prst="line">
            <a:avLst/>
          </a:prstGeom>
          <a:ln w="17780">
            <a:solidFill>
              <a:srgbClr val="0F766E"/>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3204972" y="3451860"/>
            <a:ext cx="137160" cy="13716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i="0">
                <a:solidFill>
                  <a:srgbClr val="FFFFFF"/>
                </a:solidFill>
                <a:latin typeface="Segoe UI"/>
              </a:rPr>
              <a:t/>
            </a:r>
          </a:p>
        </p:txBody>
      </p:sp>
      <p:sp>
        <p:nvSpPr>
          <p:cNvPr id="21" name="Rounded Rectangle 20"/>
          <p:cNvSpPr/>
          <p:nvPr/>
        </p:nvSpPr>
        <p:spPr>
          <a:xfrm>
            <a:off x="4197096" y="1417320"/>
            <a:ext cx="1755648" cy="1417320"/>
          </a:xfrm>
          <a:prstGeom prst="roundRect">
            <a:avLst>
              <a:gd name="adj" fmla="val 12000"/>
            </a:avLst>
          </a:prstGeom>
          <a:solidFill>
            <a:srgbClr val="FFFFFF"/>
          </a:solidFill>
          <a:ln w="1397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306824" y="1499616"/>
            <a:ext cx="1508760" cy="219456"/>
          </a:xfrm>
          <a:prstGeom prst="rect">
            <a:avLst/>
          </a:prstGeom>
          <a:noFill/>
        </p:spPr>
        <p:txBody>
          <a:bodyPr wrap="square" lIns="36576" tIns="18288" rIns="36576" bIns="18288" anchor="t">
            <a:spAutoFit/>
          </a:bodyPr>
          <a:lstStyle/>
          <a:p>
            <a:pPr algn="l">
              <a:lnSpc>
                <a:spcPct val="100000"/>
              </a:lnSpc>
              <a:spcAft>
                <a:spcPts val="0"/>
              </a:spcAft>
            </a:pPr>
            <a:r>
              <a:rPr sz="900" b="1" i="0">
                <a:solidFill>
                  <a:srgbClr val="1D4ED8"/>
                </a:solidFill>
                <a:latin typeface="Segoe UI"/>
              </a:rPr>
              <a:t>1:30</a:t>
            </a:r>
          </a:p>
        </p:txBody>
      </p:sp>
      <p:sp>
        <p:nvSpPr>
          <p:cNvPr id="23" name="TextBox 22"/>
          <p:cNvSpPr txBox="1"/>
          <p:nvPr/>
        </p:nvSpPr>
        <p:spPr>
          <a:xfrm>
            <a:off x="4306824" y="1746504"/>
            <a:ext cx="1554480" cy="274320"/>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0F172A"/>
                </a:solidFill>
                <a:latin typeface="Segoe UI"/>
              </a:rPr>
              <a:t>Hỏi size</a:t>
            </a:r>
          </a:p>
        </p:txBody>
      </p:sp>
      <p:sp>
        <p:nvSpPr>
          <p:cNvPr id="24" name="TextBox 23"/>
          <p:cNvSpPr txBox="1"/>
          <p:nvPr/>
        </p:nvSpPr>
        <p:spPr>
          <a:xfrm>
            <a:off x="4306824" y="2075688"/>
            <a:ext cx="1554480" cy="502920"/>
          </a:xfrm>
          <a:prstGeom prst="rect">
            <a:avLst/>
          </a:prstGeom>
          <a:noFill/>
        </p:spPr>
        <p:txBody>
          <a:bodyPr wrap="square" lIns="36576" tIns="18288" rIns="36576" bIns="18288" anchor="t">
            <a:spAutoFit/>
          </a:bodyPr>
          <a:lstStyle/>
          <a:p>
            <a:pPr algn="l">
              <a:lnSpc>
                <a:spcPct val="100000"/>
              </a:lnSpc>
              <a:spcAft>
                <a:spcPts val="0"/>
              </a:spcAft>
            </a:pPr>
            <a:r>
              <a:rPr sz="720" b="0" i="0">
                <a:solidFill>
                  <a:srgbClr val="64748B"/>
                </a:solidFill>
                <a:latin typeface="Segoe UI"/>
              </a:rPr>
              <a:t>RAG top-5 bảng size · Groq trả lời · chip nguồn + trace.</a:t>
            </a:r>
          </a:p>
        </p:txBody>
      </p:sp>
      <p:sp>
        <p:nvSpPr>
          <p:cNvPr id="25" name="TextBox 24"/>
          <p:cNvSpPr txBox="1"/>
          <p:nvPr/>
        </p:nvSpPr>
        <p:spPr>
          <a:xfrm>
            <a:off x="4306824" y="2560320"/>
            <a:ext cx="1554480" cy="201168"/>
          </a:xfrm>
          <a:prstGeom prst="rect">
            <a:avLst/>
          </a:prstGeom>
          <a:noFill/>
        </p:spPr>
        <p:txBody>
          <a:bodyPr wrap="square" lIns="36576" tIns="18288" rIns="36576" bIns="18288" anchor="t">
            <a:spAutoFit/>
          </a:bodyPr>
          <a:lstStyle/>
          <a:p>
            <a:pPr algn="l">
              <a:lnSpc>
                <a:spcPct val="100000"/>
              </a:lnSpc>
              <a:spcAft>
                <a:spcPts val="0"/>
              </a:spcAft>
            </a:pPr>
            <a:r>
              <a:rPr sz="720" b="1" i="0">
                <a:solidFill>
                  <a:srgbClr val="1D4ED8"/>
                </a:solidFill>
                <a:latin typeface="Segoe UI"/>
              </a:rPr>
              <a:t>→ chip nguồn + trace</a:t>
            </a:r>
          </a:p>
        </p:txBody>
      </p:sp>
      <p:cxnSp>
        <p:nvCxnSpPr>
          <p:cNvPr id="26" name="Connector 25"/>
          <p:cNvCxnSpPr/>
          <p:nvPr/>
        </p:nvCxnSpPr>
        <p:spPr>
          <a:xfrm>
            <a:off x="5074920" y="2834640"/>
            <a:ext cx="0" cy="630936"/>
          </a:xfrm>
          <a:prstGeom prst="line">
            <a:avLst/>
          </a:prstGeom>
          <a:ln w="17780">
            <a:solidFill>
              <a:srgbClr val="1D4ED8"/>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5006340" y="3451860"/>
            <a:ext cx="137160" cy="13716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i="0">
                <a:solidFill>
                  <a:srgbClr val="FFFFFF"/>
                </a:solidFill>
                <a:latin typeface="Segoe UI"/>
              </a:rPr>
              <a:t/>
            </a:r>
          </a:p>
        </p:txBody>
      </p:sp>
      <p:sp>
        <p:nvSpPr>
          <p:cNvPr id="28" name="Rounded Rectangle 27"/>
          <p:cNvSpPr/>
          <p:nvPr/>
        </p:nvSpPr>
        <p:spPr>
          <a:xfrm>
            <a:off x="5998464" y="4160520"/>
            <a:ext cx="1755648" cy="1417320"/>
          </a:xfrm>
          <a:prstGeom prst="roundRect">
            <a:avLst>
              <a:gd name="adj" fmla="val 12000"/>
            </a:avLst>
          </a:prstGeom>
          <a:solidFill>
            <a:srgbClr val="FFFFFF"/>
          </a:solidFill>
          <a:ln w="1397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108192" y="4242816"/>
            <a:ext cx="1508760" cy="219456"/>
          </a:xfrm>
          <a:prstGeom prst="rect">
            <a:avLst/>
          </a:prstGeom>
          <a:noFill/>
        </p:spPr>
        <p:txBody>
          <a:bodyPr wrap="square" lIns="36576" tIns="18288" rIns="36576" bIns="18288" anchor="t">
            <a:spAutoFit/>
          </a:bodyPr>
          <a:lstStyle/>
          <a:p>
            <a:pPr algn="l">
              <a:lnSpc>
                <a:spcPct val="100000"/>
              </a:lnSpc>
              <a:spcAft>
                <a:spcPts val="0"/>
              </a:spcAft>
            </a:pPr>
            <a:r>
              <a:rPr sz="900" b="1" i="0">
                <a:solidFill>
                  <a:srgbClr val="B45309"/>
                </a:solidFill>
                <a:latin typeface="Segoe UI"/>
              </a:rPr>
              <a:t>2:00</a:t>
            </a:r>
          </a:p>
        </p:txBody>
      </p:sp>
      <p:sp>
        <p:nvSpPr>
          <p:cNvPr id="30" name="TextBox 29"/>
          <p:cNvSpPr txBox="1"/>
          <p:nvPr/>
        </p:nvSpPr>
        <p:spPr>
          <a:xfrm>
            <a:off x="6108192" y="4489704"/>
            <a:ext cx="1554480" cy="274320"/>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0F172A"/>
                </a:solidFill>
                <a:latin typeface="Segoe UI"/>
              </a:rPr>
              <a:t>Tra đơn</a:t>
            </a:r>
          </a:p>
        </p:txBody>
      </p:sp>
      <p:sp>
        <p:nvSpPr>
          <p:cNvPr id="31" name="TextBox 30"/>
          <p:cNvSpPr txBox="1"/>
          <p:nvPr/>
        </p:nvSpPr>
        <p:spPr>
          <a:xfrm>
            <a:off x="6108192" y="4818888"/>
            <a:ext cx="1554480" cy="502920"/>
          </a:xfrm>
          <a:prstGeom prst="rect">
            <a:avLst/>
          </a:prstGeom>
          <a:noFill/>
        </p:spPr>
        <p:txBody>
          <a:bodyPr wrap="square" lIns="36576" tIns="18288" rIns="36576" bIns="18288" anchor="t">
            <a:spAutoFit/>
          </a:bodyPr>
          <a:lstStyle/>
          <a:p>
            <a:pPr algn="l">
              <a:lnSpc>
                <a:spcPct val="100000"/>
              </a:lnSpc>
              <a:spcAft>
                <a:spcPts val="0"/>
              </a:spcAft>
            </a:pPr>
            <a:r>
              <a:rPr sz="720" b="0" i="0">
                <a:solidFill>
                  <a:srgbClr val="64748B"/>
                </a:solidFill>
                <a:latin typeface="Segoe UI"/>
              </a:rPr>
              <a:t>Template DB đúng buyerId + shopId · không gọi LLM.</a:t>
            </a:r>
          </a:p>
        </p:txBody>
      </p:sp>
      <p:sp>
        <p:nvSpPr>
          <p:cNvPr id="32" name="TextBox 31"/>
          <p:cNvSpPr txBox="1"/>
          <p:nvPr/>
        </p:nvSpPr>
        <p:spPr>
          <a:xfrm>
            <a:off x="6108192" y="5303520"/>
            <a:ext cx="1554480" cy="201168"/>
          </a:xfrm>
          <a:prstGeom prst="rect">
            <a:avLst/>
          </a:prstGeom>
          <a:noFill/>
        </p:spPr>
        <p:txBody>
          <a:bodyPr wrap="square" lIns="36576" tIns="18288" rIns="36576" bIns="18288" anchor="t">
            <a:spAutoFit/>
          </a:bodyPr>
          <a:lstStyle/>
          <a:p>
            <a:pPr algn="l">
              <a:lnSpc>
                <a:spcPct val="100000"/>
              </a:lnSpc>
              <a:spcAft>
                <a:spcPts val="0"/>
              </a:spcAft>
            </a:pPr>
            <a:r>
              <a:rPr sz="720" b="1" i="0">
                <a:solidFill>
                  <a:srgbClr val="B45309"/>
                </a:solidFill>
                <a:latin typeface="Segoe UI"/>
              </a:rPr>
              <a:t>→ trạng thái đúng DB</a:t>
            </a:r>
          </a:p>
        </p:txBody>
      </p:sp>
      <p:cxnSp>
        <p:nvCxnSpPr>
          <p:cNvPr id="33" name="Connector 32"/>
          <p:cNvCxnSpPr/>
          <p:nvPr/>
        </p:nvCxnSpPr>
        <p:spPr>
          <a:xfrm>
            <a:off x="6876288" y="3575304"/>
            <a:ext cx="0" cy="585216"/>
          </a:xfrm>
          <a:prstGeom prst="line">
            <a:avLst/>
          </a:prstGeom>
          <a:ln w="17780">
            <a:solidFill>
              <a:srgbClr val="B45309"/>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6807708" y="3451860"/>
            <a:ext cx="137160" cy="13716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i="0">
                <a:solidFill>
                  <a:srgbClr val="FFFFFF"/>
                </a:solidFill>
                <a:latin typeface="Segoe UI"/>
              </a:rPr>
              <a:t/>
            </a:r>
          </a:p>
        </p:txBody>
      </p:sp>
      <p:sp>
        <p:nvSpPr>
          <p:cNvPr id="35" name="Rounded Rectangle 34"/>
          <p:cNvSpPr/>
          <p:nvPr/>
        </p:nvSpPr>
        <p:spPr>
          <a:xfrm>
            <a:off x="7799831" y="1417320"/>
            <a:ext cx="1755648" cy="1417320"/>
          </a:xfrm>
          <a:prstGeom prst="roundRect">
            <a:avLst>
              <a:gd name="adj" fmla="val 12000"/>
            </a:avLst>
          </a:prstGeom>
          <a:solidFill>
            <a:srgbClr val="FFFFFF"/>
          </a:solidFill>
          <a:ln w="1397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909559" y="1499616"/>
            <a:ext cx="1508760" cy="219456"/>
          </a:xfrm>
          <a:prstGeom prst="rect">
            <a:avLst/>
          </a:prstGeom>
          <a:noFill/>
        </p:spPr>
        <p:txBody>
          <a:bodyPr wrap="square" lIns="36576" tIns="18288" rIns="36576" bIns="18288" anchor="t">
            <a:spAutoFit/>
          </a:bodyPr>
          <a:lstStyle/>
          <a:p>
            <a:pPr algn="l">
              <a:lnSpc>
                <a:spcPct val="100000"/>
              </a:lnSpc>
              <a:spcAft>
                <a:spcPts val="0"/>
              </a:spcAft>
            </a:pPr>
            <a:r>
              <a:rPr sz="900" b="1" i="0">
                <a:solidFill>
                  <a:srgbClr val="15803D"/>
                </a:solidFill>
                <a:latin typeface="Segoe UI"/>
              </a:rPr>
              <a:t>6:00</a:t>
            </a:r>
          </a:p>
        </p:txBody>
      </p:sp>
      <p:sp>
        <p:nvSpPr>
          <p:cNvPr id="37" name="TextBox 36"/>
          <p:cNvSpPr txBox="1"/>
          <p:nvPr/>
        </p:nvSpPr>
        <p:spPr>
          <a:xfrm>
            <a:off x="7909559" y="1746504"/>
            <a:ext cx="1554480" cy="274320"/>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0F172A"/>
                </a:solidFill>
                <a:latin typeface="Segoe UI"/>
              </a:rPr>
              <a:t>QR → PAID</a:t>
            </a:r>
          </a:p>
        </p:txBody>
      </p:sp>
      <p:sp>
        <p:nvSpPr>
          <p:cNvPr id="38" name="TextBox 37"/>
          <p:cNvSpPr txBox="1"/>
          <p:nvPr/>
        </p:nvSpPr>
        <p:spPr>
          <a:xfrm>
            <a:off x="7909559" y="2075688"/>
            <a:ext cx="1554480" cy="502920"/>
          </a:xfrm>
          <a:prstGeom prst="rect">
            <a:avLst/>
          </a:prstGeom>
          <a:noFill/>
        </p:spPr>
        <p:txBody>
          <a:bodyPr wrap="square" lIns="36576" tIns="18288" rIns="36576" bIns="18288" anchor="t">
            <a:spAutoFit/>
          </a:bodyPr>
          <a:lstStyle/>
          <a:p>
            <a:pPr algn="l">
              <a:lnSpc>
                <a:spcPct val="100000"/>
              </a:lnSpc>
              <a:spcAft>
                <a:spcPts val="0"/>
              </a:spcAft>
            </a:pPr>
            <a:r>
              <a:rPr sz="720" b="0" i="0">
                <a:solidFill>
                  <a:srgbClr val="64748B"/>
                </a:solidFill>
                <a:latin typeface="Segoe UI"/>
              </a:rPr>
              <a:t>QR local + paymentCode · SYSTEM message · 2 inbox nhảy.</a:t>
            </a:r>
          </a:p>
        </p:txBody>
      </p:sp>
      <p:sp>
        <p:nvSpPr>
          <p:cNvPr id="39" name="TextBox 38"/>
          <p:cNvSpPr txBox="1"/>
          <p:nvPr/>
        </p:nvSpPr>
        <p:spPr>
          <a:xfrm>
            <a:off x="7909559" y="2560320"/>
            <a:ext cx="1554480" cy="201168"/>
          </a:xfrm>
          <a:prstGeom prst="rect">
            <a:avLst/>
          </a:prstGeom>
          <a:noFill/>
        </p:spPr>
        <p:txBody>
          <a:bodyPr wrap="square" lIns="36576" tIns="18288" rIns="36576" bIns="18288" anchor="t">
            <a:spAutoFit/>
          </a:bodyPr>
          <a:lstStyle/>
          <a:p>
            <a:pPr algn="l">
              <a:lnSpc>
                <a:spcPct val="100000"/>
              </a:lnSpc>
              <a:spcAft>
                <a:spcPts val="0"/>
              </a:spcAft>
            </a:pPr>
            <a:r>
              <a:rPr sz="720" b="1" i="0">
                <a:solidFill>
                  <a:srgbClr val="15803D"/>
                </a:solidFill>
                <a:latin typeface="Segoe UI"/>
              </a:rPr>
              <a:t>→ PAID + SYSTEM</a:t>
            </a:r>
          </a:p>
        </p:txBody>
      </p:sp>
      <p:cxnSp>
        <p:nvCxnSpPr>
          <p:cNvPr id="40" name="Connector 39"/>
          <p:cNvCxnSpPr/>
          <p:nvPr/>
        </p:nvCxnSpPr>
        <p:spPr>
          <a:xfrm>
            <a:off x="8677655" y="2834640"/>
            <a:ext cx="0" cy="630936"/>
          </a:xfrm>
          <a:prstGeom prst="line">
            <a:avLst/>
          </a:prstGeom>
          <a:ln w="17780">
            <a:solidFill>
              <a:srgbClr val="15803D"/>
            </a:solidFill>
          </a:ln>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8609076" y="3451860"/>
            <a:ext cx="137160" cy="137160"/>
          </a:xfrm>
          <a:prstGeom prst="ellipse">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i="0">
                <a:solidFill>
                  <a:srgbClr val="FFFFFF"/>
                </a:solidFill>
                <a:latin typeface="Segoe UI"/>
              </a:rPr>
              <a:t/>
            </a:r>
          </a:p>
        </p:txBody>
      </p:sp>
      <p:sp>
        <p:nvSpPr>
          <p:cNvPr id="42" name="Rounded Rectangle 41"/>
          <p:cNvSpPr/>
          <p:nvPr/>
        </p:nvSpPr>
        <p:spPr>
          <a:xfrm>
            <a:off x="9601200" y="4160520"/>
            <a:ext cx="1755648" cy="1417320"/>
          </a:xfrm>
          <a:prstGeom prst="roundRect">
            <a:avLst>
              <a:gd name="adj" fmla="val 12000"/>
            </a:avLst>
          </a:prstGeom>
          <a:solidFill>
            <a:srgbClr val="FFFFFF"/>
          </a:solidFill>
          <a:ln w="13970">
            <a:solidFill>
              <a:srgbClr val="BE123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710928" y="4242816"/>
            <a:ext cx="1508760" cy="219456"/>
          </a:xfrm>
          <a:prstGeom prst="rect">
            <a:avLst/>
          </a:prstGeom>
          <a:noFill/>
        </p:spPr>
        <p:txBody>
          <a:bodyPr wrap="square" lIns="36576" tIns="18288" rIns="36576" bIns="18288" anchor="t">
            <a:spAutoFit/>
          </a:bodyPr>
          <a:lstStyle/>
          <a:p>
            <a:pPr algn="l">
              <a:lnSpc>
                <a:spcPct val="100000"/>
              </a:lnSpc>
              <a:spcAft>
                <a:spcPts val="0"/>
              </a:spcAft>
            </a:pPr>
            <a:r>
              <a:rPr sz="900" b="1" i="0">
                <a:solidFill>
                  <a:srgbClr val="BE123C"/>
                </a:solidFill>
                <a:latin typeface="Segoe UI"/>
              </a:rPr>
              <a:t>8:00</a:t>
            </a:r>
          </a:p>
        </p:txBody>
      </p:sp>
      <p:sp>
        <p:nvSpPr>
          <p:cNvPr id="44" name="TextBox 43"/>
          <p:cNvSpPr txBox="1"/>
          <p:nvPr/>
        </p:nvSpPr>
        <p:spPr>
          <a:xfrm>
            <a:off x="9710928" y="4489704"/>
            <a:ext cx="1554480" cy="274320"/>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0F172A"/>
                </a:solidFill>
                <a:latin typeface="Segoe UI"/>
              </a:rPr>
              <a:t>Takeover &amp; kết thúc</a:t>
            </a:r>
          </a:p>
        </p:txBody>
      </p:sp>
      <p:sp>
        <p:nvSpPr>
          <p:cNvPr id="45" name="TextBox 44"/>
          <p:cNvSpPr txBox="1"/>
          <p:nvPr/>
        </p:nvSpPr>
        <p:spPr>
          <a:xfrm>
            <a:off x="9710928" y="4818888"/>
            <a:ext cx="1554480" cy="502920"/>
          </a:xfrm>
          <a:prstGeom prst="rect">
            <a:avLst/>
          </a:prstGeom>
          <a:noFill/>
        </p:spPr>
        <p:txBody>
          <a:bodyPr wrap="square" lIns="36576" tIns="18288" rIns="36576" bIns="18288" anchor="t">
            <a:spAutoFit/>
          </a:bodyPr>
          <a:lstStyle/>
          <a:p>
            <a:pPr algn="l">
              <a:lnSpc>
                <a:spcPct val="100000"/>
              </a:lnSpc>
              <a:spcAft>
                <a:spcPts val="0"/>
              </a:spcAft>
            </a:pPr>
            <a:r>
              <a:rPr sz="720" b="0" i="0">
                <a:solidFill>
                  <a:srgbClr val="64748B"/>
                </a:solidFill>
                <a:latin typeface="Segoe UI"/>
              </a:rPr>
              <a:t>Seller gõ tay → AI im · popup tổng kết → Dashboard.</a:t>
            </a:r>
          </a:p>
        </p:txBody>
      </p:sp>
      <p:sp>
        <p:nvSpPr>
          <p:cNvPr id="46" name="TextBox 45"/>
          <p:cNvSpPr txBox="1"/>
          <p:nvPr/>
        </p:nvSpPr>
        <p:spPr>
          <a:xfrm>
            <a:off x="9710928" y="5303520"/>
            <a:ext cx="1554480" cy="201168"/>
          </a:xfrm>
          <a:prstGeom prst="rect">
            <a:avLst/>
          </a:prstGeom>
          <a:noFill/>
        </p:spPr>
        <p:txBody>
          <a:bodyPr wrap="square" lIns="36576" tIns="18288" rIns="36576" bIns="18288" anchor="t">
            <a:spAutoFit/>
          </a:bodyPr>
          <a:lstStyle/>
          <a:p>
            <a:pPr algn="l">
              <a:lnSpc>
                <a:spcPct val="100000"/>
              </a:lnSpc>
              <a:spcAft>
                <a:spcPts val="0"/>
              </a:spcAft>
            </a:pPr>
            <a:r>
              <a:rPr sz="720" b="1" i="0">
                <a:solidFill>
                  <a:srgbClr val="BE123C"/>
                </a:solidFill>
                <a:latin typeface="Segoe UI"/>
              </a:rPr>
              <a:t>→ Dashboard</a:t>
            </a:r>
          </a:p>
        </p:txBody>
      </p:sp>
      <p:cxnSp>
        <p:nvCxnSpPr>
          <p:cNvPr id="47" name="Connector 46"/>
          <p:cNvCxnSpPr/>
          <p:nvPr/>
        </p:nvCxnSpPr>
        <p:spPr>
          <a:xfrm>
            <a:off x="10479024" y="3575304"/>
            <a:ext cx="0" cy="585216"/>
          </a:xfrm>
          <a:prstGeom prst="line">
            <a:avLst/>
          </a:prstGeom>
          <a:ln w="17780">
            <a:solidFill>
              <a:srgbClr val="BE123C"/>
            </a:solidFill>
          </a:ln>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10410444" y="3451860"/>
            <a:ext cx="137160" cy="137160"/>
          </a:xfrm>
          <a:prstGeom prst="ellipse">
            <a:avLst/>
          </a:prstGeom>
          <a:solidFill>
            <a:srgbClr val="BE12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i="0">
                <a:solidFill>
                  <a:srgbClr val="FFFFFF"/>
                </a:solidFill>
                <a:latin typeface="Segoe UI"/>
              </a:rPr>
              <a:t/>
            </a:r>
          </a:p>
        </p:txBody>
      </p:sp>
      <p:sp>
        <p:nvSpPr>
          <p:cNvPr id="49" name="TextBox 48"/>
          <p:cNvSpPr txBox="1"/>
          <p:nvPr/>
        </p:nvSpPr>
        <p:spPr>
          <a:xfrm>
            <a:off x="594360" y="5833872"/>
            <a:ext cx="11000232" cy="384048"/>
          </a:xfrm>
          <a:prstGeom prst="rect">
            <a:avLst/>
          </a:prstGeom>
          <a:noFill/>
        </p:spPr>
        <p:txBody>
          <a:bodyPr wrap="square" lIns="36576" tIns="18288" rIns="36576" bIns="18288" anchor="t">
            <a:spAutoFit/>
          </a:bodyPr>
          <a:lstStyle/>
          <a:p>
            <a:pPr algn="ctr">
              <a:lnSpc>
                <a:spcPct val="100000"/>
              </a:lnSpc>
              <a:spcAft>
                <a:spcPts val="0"/>
              </a:spcAft>
            </a:pPr>
            <a:r>
              <a:rPr sz="919" b="0" i="1">
                <a:solidFill>
                  <a:srgbClr val="64748B"/>
                </a:solidFill>
                <a:latin typeface="Segoe UI"/>
              </a:rPr>
              <a:t>Mỗi mốc đều để lại bằng chứng: log ms ở Studio, chip nguồn + trace ở Inbox, trạng thái đơn trong DB và Dashboard.</a:t>
            </a:r>
          </a:p>
        </p:txBody>
      </p:sp>
      <p:cxnSp>
        <p:nvCxnSpPr>
          <p:cNvPr id="50" name="Connector 49"/>
          <p:cNvCxnSpPr/>
          <p:nvPr/>
        </p:nvCxnSpPr>
        <p:spPr>
          <a:xfrm>
            <a:off x="594360" y="6492240"/>
            <a:ext cx="1100023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94360" y="6537960"/>
            <a:ext cx="7315200" cy="201168"/>
          </a:xfrm>
          <a:prstGeom prst="rect">
            <a:avLst/>
          </a:prstGeom>
          <a:noFill/>
        </p:spPr>
        <p:txBody>
          <a:bodyPr wrap="square" lIns="36576" tIns="18288" rIns="36576" bIns="18288" anchor="t">
            <a:spAutoFit/>
          </a:bodyPr>
          <a:lstStyle/>
          <a:p>
            <a:pPr algn="l">
              <a:lnSpc>
                <a:spcPct val="100000"/>
              </a:lnSpc>
              <a:spcAft>
                <a:spcPts val="0"/>
              </a:spcAft>
            </a:pPr>
            <a:r>
              <a:rPr sz="800" b="0" i="0">
                <a:solidFill>
                  <a:srgbClr val="94A3B8"/>
                </a:solidFill>
                <a:latin typeface="Segoe UI"/>
              </a:rPr>
              <a:t>LiveOrder · Pipeline toàn dự án · 2026</a:t>
            </a:r>
          </a:p>
        </p:txBody>
      </p:sp>
      <p:sp>
        <p:nvSpPr>
          <p:cNvPr id="52" name="TextBox 51"/>
          <p:cNvSpPr txBox="1"/>
          <p:nvPr/>
        </p:nvSpPr>
        <p:spPr>
          <a:xfrm>
            <a:off x="8229600" y="6537960"/>
            <a:ext cx="3364992" cy="201168"/>
          </a:xfrm>
          <a:prstGeom prst="rect">
            <a:avLst/>
          </a:prstGeom>
          <a:noFill/>
        </p:spPr>
        <p:txBody>
          <a:bodyPr wrap="square" lIns="36576" tIns="18288" rIns="36576" bIns="18288" anchor="t">
            <a:spAutoFit/>
          </a:bodyPr>
          <a:lstStyle/>
          <a:p>
            <a:pPr algn="r">
              <a:lnSpc>
                <a:spcPct val="100000"/>
              </a:lnSpc>
              <a:spcAft>
                <a:spcPts val="0"/>
              </a:spcAft>
            </a:pPr>
            <a:r>
              <a:rPr sz="800" b="0" i="0">
                <a:solidFill>
                  <a:srgbClr val="94A3B8"/>
                </a:solidFill>
                <a:latin typeface="Segoe UI"/>
              </a:rPr>
              <a:t>Aho-Corasick  ·  RAG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94360" y="274320"/>
            <a:ext cx="6400800" cy="228600"/>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0F766E"/>
                </a:solidFill>
                <a:latin typeface="Segoe UI"/>
              </a:rPr>
              <a:t>12 · TỔNG KẾT</a:t>
            </a:r>
          </a:p>
        </p:txBody>
      </p:sp>
      <p:sp>
        <p:nvSpPr>
          <p:cNvPr id="4" name="TextBox 3"/>
          <p:cNvSpPr txBox="1"/>
          <p:nvPr/>
        </p:nvSpPr>
        <p:spPr>
          <a:xfrm>
            <a:off x="576072" y="493776"/>
            <a:ext cx="10424160" cy="502920"/>
          </a:xfrm>
          <a:prstGeom prst="rect">
            <a:avLst/>
          </a:prstGeom>
          <a:noFill/>
        </p:spPr>
        <p:txBody>
          <a:bodyPr wrap="square" lIns="36576" tIns="18288" rIns="36576" bIns="18288" anchor="t">
            <a:spAutoFit/>
          </a:bodyPr>
          <a:lstStyle/>
          <a:p>
            <a:pPr algn="l">
              <a:lnSpc>
                <a:spcPct val="100000"/>
              </a:lnSpc>
              <a:spcAft>
                <a:spcPts val="0"/>
              </a:spcAft>
            </a:pPr>
            <a:r>
              <a:rPr sz="2300" b="1" i="0">
                <a:solidFill>
                  <a:srgbClr val="0F172A"/>
                </a:solidFill>
                <a:latin typeface="Segoe UI"/>
              </a:rPr>
              <a:t>Điều gì làm nên pipeline này</a:t>
            </a:r>
          </a:p>
        </p:txBody>
      </p:sp>
      <p:sp>
        <p:nvSpPr>
          <p:cNvPr id="5" name="TextBox 4"/>
          <p:cNvSpPr txBox="1"/>
          <p:nvPr/>
        </p:nvSpPr>
        <p:spPr>
          <a:xfrm>
            <a:off x="10698480" y="283464"/>
            <a:ext cx="960120" cy="228600"/>
          </a:xfrm>
          <a:prstGeom prst="rect">
            <a:avLst/>
          </a:prstGeom>
          <a:noFill/>
        </p:spPr>
        <p:txBody>
          <a:bodyPr wrap="square" lIns="36576" tIns="18288" rIns="36576" bIns="18288" anchor="t">
            <a:spAutoFit/>
          </a:bodyPr>
          <a:lstStyle/>
          <a:p>
            <a:pPr algn="r">
              <a:lnSpc>
                <a:spcPct val="100000"/>
              </a:lnSpc>
              <a:spcAft>
                <a:spcPts val="0"/>
              </a:spcAft>
            </a:pPr>
            <a:r>
              <a:rPr sz="900" b="1" i="0">
                <a:solidFill>
                  <a:srgbClr val="94A3B8"/>
                </a:solidFill>
                <a:latin typeface="Segoe UI"/>
              </a:rPr>
              <a:t>13 / 13</a:t>
            </a:r>
          </a:p>
        </p:txBody>
      </p:sp>
      <p:sp>
        <p:nvSpPr>
          <p:cNvPr id="6" name="Rounded Rectangle 5"/>
          <p:cNvSpPr/>
          <p:nvPr/>
        </p:nvSpPr>
        <p:spPr>
          <a:xfrm>
            <a:off x="594360" y="1298448"/>
            <a:ext cx="5440680" cy="2880360"/>
          </a:xfrm>
          <a:prstGeom prst="roundRect">
            <a:avLst>
              <a:gd name="adj" fmla="val 12000"/>
            </a:avLst>
          </a:prstGeom>
          <a:solidFill>
            <a:srgbClr val="E6FFFA"/>
          </a:solidFill>
          <a:ln w="1524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04672" y="1417320"/>
            <a:ext cx="4846320" cy="274320"/>
          </a:xfrm>
          <a:prstGeom prst="rect">
            <a:avLst/>
          </a:prstGeom>
          <a:noFill/>
        </p:spPr>
        <p:txBody>
          <a:bodyPr wrap="square" lIns="36576" tIns="18288" rIns="36576" bIns="18288" anchor="t">
            <a:spAutoFit/>
          </a:bodyPr>
          <a:lstStyle/>
          <a:p>
            <a:pPr algn="l">
              <a:lnSpc>
                <a:spcPct val="100000"/>
              </a:lnSpc>
              <a:spcAft>
                <a:spcPts val="0"/>
              </a:spcAft>
            </a:pPr>
            <a:r>
              <a:rPr sz="1600" b="1" i="0">
                <a:solidFill>
                  <a:srgbClr val="0F766E"/>
                </a:solidFill>
                <a:latin typeface="Segoe UI"/>
              </a:rPr>
              <a:t>① Aho-Corasick</a:t>
            </a:r>
          </a:p>
        </p:txBody>
      </p:sp>
      <p:sp>
        <p:nvSpPr>
          <p:cNvPr id="8" name="TextBox 7"/>
          <p:cNvSpPr txBox="1"/>
          <p:nvPr/>
        </p:nvSpPr>
        <p:spPr>
          <a:xfrm>
            <a:off x="804672" y="1719072"/>
            <a:ext cx="4846320" cy="219456"/>
          </a:xfrm>
          <a:prstGeom prst="rect">
            <a:avLst/>
          </a:prstGeom>
          <a:noFill/>
        </p:spPr>
        <p:txBody>
          <a:bodyPr wrap="square" lIns="36576" tIns="18288" rIns="36576" bIns="18288" anchor="t">
            <a:spAutoFit/>
          </a:bodyPr>
          <a:lstStyle/>
          <a:p>
            <a:pPr algn="l">
              <a:lnSpc>
                <a:spcPct val="100000"/>
              </a:lnSpc>
              <a:spcAft>
                <a:spcPts val="0"/>
              </a:spcAft>
            </a:pPr>
            <a:r>
              <a:rPr sz="850" b="1" i="0">
                <a:solidFill>
                  <a:srgbClr val="0F766E"/>
                </a:solidFill>
                <a:latin typeface="Segoe UI"/>
              </a:rPr>
              <a:t>comment → SKU → đơn</a:t>
            </a:r>
          </a:p>
        </p:txBody>
      </p:sp>
      <p:sp>
        <p:nvSpPr>
          <p:cNvPr id="9" name="TextBox 8"/>
          <p:cNvSpPr txBox="1"/>
          <p:nvPr/>
        </p:nvSpPr>
        <p:spPr>
          <a:xfrm>
            <a:off x="822960" y="2057400"/>
            <a:ext cx="1783080" cy="219456"/>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0F172A"/>
                </a:solidFill>
                <a:latin typeface="Segoe UI"/>
              </a:rPr>
              <a:t>1 lượt quét</a:t>
            </a:r>
          </a:p>
        </p:txBody>
      </p:sp>
      <p:sp>
        <p:nvSpPr>
          <p:cNvPr id="10" name="TextBox 9"/>
          <p:cNvSpPr txBox="1"/>
          <p:nvPr/>
        </p:nvSpPr>
        <p:spPr>
          <a:xfrm>
            <a:off x="2606040" y="2057400"/>
            <a:ext cx="3154680" cy="219456"/>
          </a:xfrm>
          <a:prstGeom prst="rect">
            <a:avLst/>
          </a:prstGeom>
          <a:noFill/>
        </p:spPr>
        <p:txBody>
          <a:bodyPr wrap="square" lIns="36576" tIns="18288" rIns="36576" bIns="18288" anchor="t">
            <a:spAutoFit/>
          </a:bodyPr>
          <a:lstStyle/>
          <a:p>
            <a:pPr algn="l">
              <a:lnSpc>
                <a:spcPct val="100000"/>
              </a:lnSpc>
              <a:spcAft>
                <a:spcPts val="0"/>
              </a:spcAft>
            </a:pPr>
            <a:r>
              <a:rPr sz="840" b="0" i="0">
                <a:solidFill>
                  <a:srgbClr val="64748B"/>
                </a:solidFill>
                <a:latin typeface="Segoe UI"/>
              </a:rPr>
              <a:t>cho mỗi comment</a:t>
            </a:r>
          </a:p>
        </p:txBody>
      </p:sp>
      <p:cxnSp>
        <p:nvCxnSpPr>
          <p:cNvPr id="11" name="Connector 10"/>
          <p:cNvCxnSpPr/>
          <p:nvPr/>
        </p:nvCxnSpPr>
        <p:spPr>
          <a:xfrm>
            <a:off x="822960" y="2386584"/>
            <a:ext cx="4892040" cy="0"/>
          </a:xfrm>
          <a:prstGeom prst="line">
            <a:avLst/>
          </a:prstGeom>
          <a:ln w="9525">
            <a:solidFill>
              <a:srgbClr val="CCFBF1"/>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22960" y="2496312"/>
            <a:ext cx="1783080" cy="219456"/>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0F172A"/>
                </a:solidFill>
                <a:latin typeface="Segoe UI"/>
              </a:rPr>
              <a:t>O(n + matches)</a:t>
            </a:r>
          </a:p>
        </p:txBody>
      </p:sp>
      <p:sp>
        <p:nvSpPr>
          <p:cNvPr id="13" name="TextBox 12"/>
          <p:cNvSpPr txBox="1"/>
          <p:nvPr/>
        </p:nvSpPr>
        <p:spPr>
          <a:xfrm>
            <a:off x="2606040" y="2496312"/>
            <a:ext cx="3154680" cy="219456"/>
          </a:xfrm>
          <a:prstGeom prst="rect">
            <a:avLst/>
          </a:prstGeom>
          <a:noFill/>
        </p:spPr>
        <p:txBody>
          <a:bodyPr wrap="square" lIns="36576" tIns="18288" rIns="36576" bIns="18288" anchor="t">
            <a:spAutoFit/>
          </a:bodyPr>
          <a:lstStyle/>
          <a:p>
            <a:pPr algn="l">
              <a:lnSpc>
                <a:spcPct val="100000"/>
              </a:lnSpc>
              <a:spcAft>
                <a:spcPts val="0"/>
              </a:spcAft>
            </a:pPr>
            <a:r>
              <a:rPr sz="840" b="0" i="0">
                <a:solidFill>
                  <a:srgbClr val="64748B"/>
                </a:solidFill>
                <a:latin typeface="Segoe UI"/>
              </a:rPr>
              <a:t>không quét lại theo từng SKU</a:t>
            </a:r>
          </a:p>
        </p:txBody>
      </p:sp>
      <p:cxnSp>
        <p:nvCxnSpPr>
          <p:cNvPr id="14" name="Connector 13"/>
          <p:cNvCxnSpPr/>
          <p:nvPr/>
        </p:nvCxnSpPr>
        <p:spPr>
          <a:xfrm>
            <a:off x="822960" y="2825496"/>
            <a:ext cx="4892040" cy="0"/>
          </a:xfrm>
          <a:prstGeom prst="line">
            <a:avLst/>
          </a:prstGeom>
          <a:ln w="9525">
            <a:solidFill>
              <a:srgbClr val="CCFBF1"/>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22960" y="2935224"/>
            <a:ext cx="1783080" cy="219456"/>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0F172A"/>
                </a:solidFill>
                <a:latin typeface="Segoe UI"/>
              </a:rPr>
              <a:t>0,x ms</a:t>
            </a:r>
          </a:p>
        </p:txBody>
      </p:sp>
      <p:sp>
        <p:nvSpPr>
          <p:cNvPr id="16" name="TextBox 15"/>
          <p:cNvSpPr txBox="1"/>
          <p:nvPr/>
        </p:nvSpPr>
        <p:spPr>
          <a:xfrm>
            <a:off x="2606040" y="2935224"/>
            <a:ext cx="3154680" cy="219456"/>
          </a:xfrm>
          <a:prstGeom prst="rect">
            <a:avLst/>
          </a:prstGeom>
          <a:noFill/>
        </p:spPr>
        <p:txBody>
          <a:bodyPr wrap="square" lIns="36576" tIns="18288" rIns="36576" bIns="18288" anchor="t">
            <a:spAutoFit/>
          </a:bodyPr>
          <a:lstStyle/>
          <a:p>
            <a:pPr algn="l">
              <a:lnSpc>
                <a:spcPct val="100000"/>
              </a:lnSpc>
              <a:spcAft>
                <a:spcPts val="0"/>
              </a:spcAft>
            </a:pPr>
            <a:r>
              <a:rPr sz="840" b="0" i="0">
                <a:solidFill>
                  <a:srgbClr val="64748B"/>
                </a:solidFill>
                <a:latin typeface="Segoe UI"/>
              </a:rPr>
              <a:t>đo bằng performance.now()</a:t>
            </a:r>
          </a:p>
        </p:txBody>
      </p:sp>
      <p:cxnSp>
        <p:nvCxnSpPr>
          <p:cNvPr id="17" name="Connector 16"/>
          <p:cNvCxnSpPr/>
          <p:nvPr/>
        </p:nvCxnSpPr>
        <p:spPr>
          <a:xfrm>
            <a:off x="822960" y="3264408"/>
            <a:ext cx="4892040" cy="0"/>
          </a:xfrm>
          <a:prstGeom prst="line">
            <a:avLst/>
          </a:prstGeom>
          <a:ln w="9525">
            <a:solidFill>
              <a:srgbClr val="CCFBF1"/>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22960" y="3374136"/>
            <a:ext cx="1783080" cy="219456"/>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0F172A"/>
                </a:solidFill>
                <a:latin typeface="Segoe UI"/>
              </a:rPr>
              <a:t>Kho nguyên tử</a:t>
            </a:r>
          </a:p>
        </p:txBody>
      </p:sp>
      <p:sp>
        <p:nvSpPr>
          <p:cNvPr id="19" name="TextBox 18"/>
          <p:cNvSpPr txBox="1"/>
          <p:nvPr/>
        </p:nvSpPr>
        <p:spPr>
          <a:xfrm>
            <a:off x="2606040" y="3374136"/>
            <a:ext cx="3154680" cy="219456"/>
          </a:xfrm>
          <a:prstGeom prst="rect">
            <a:avLst/>
          </a:prstGeom>
          <a:noFill/>
        </p:spPr>
        <p:txBody>
          <a:bodyPr wrap="square" lIns="36576" tIns="18288" rIns="36576" bIns="18288" anchor="t">
            <a:spAutoFit/>
          </a:bodyPr>
          <a:lstStyle/>
          <a:p>
            <a:pPr algn="l">
              <a:lnSpc>
                <a:spcPct val="100000"/>
              </a:lnSpc>
              <a:spcAft>
                <a:spcPts val="0"/>
              </a:spcAft>
            </a:pPr>
            <a:r>
              <a:rPr sz="840" b="0" i="0">
                <a:solidFill>
                  <a:srgbClr val="64748B"/>
                </a:solidFill>
                <a:latin typeface="Segoe UI"/>
              </a:rPr>
              <a:t>UPDATE … WHERE stock &gt;= qty</a:t>
            </a:r>
          </a:p>
        </p:txBody>
      </p:sp>
      <p:cxnSp>
        <p:nvCxnSpPr>
          <p:cNvPr id="20" name="Connector 19"/>
          <p:cNvCxnSpPr/>
          <p:nvPr/>
        </p:nvCxnSpPr>
        <p:spPr>
          <a:xfrm>
            <a:off x="822960" y="3703320"/>
            <a:ext cx="4892040" cy="0"/>
          </a:xfrm>
          <a:prstGeom prst="line">
            <a:avLst/>
          </a:prstGeom>
          <a:ln w="9525">
            <a:solidFill>
              <a:srgbClr val="CCFBF1"/>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153912" y="1298448"/>
            <a:ext cx="5440680" cy="2880360"/>
          </a:xfrm>
          <a:prstGeom prst="roundRect">
            <a:avLst>
              <a:gd name="adj" fmla="val 12000"/>
            </a:avLst>
          </a:prstGeom>
          <a:solidFill>
            <a:srgbClr val="EFF6FF"/>
          </a:solidFill>
          <a:ln w="1524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64224" y="1417320"/>
            <a:ext cx="4846320" cy="274320"/>
          </a:xfrm>
          <a:prstGeom prst="rect">
            <a:avLst/>
          </a:prstGeom>
          <a:noFill/>
        </p:spPr>
        <p:txBody>
          <a:bodyPr wrap="square" lIns="36576" tIns="18288" rIns="36576" bIns="18288" anchor="t">
            <a:spAutoFit/>
          </a:bodyPr>
          <a:lstStyle/>
          <a:p>
            <a:pPr algn="l">
              <a:lnSpc>
                <a:spcPct val="100000"/>
              </a:lnSpc>
              <a:spcAft>
                <a:spcPts val="0"/>
              </a:spcAft>
            </a:pPr>
            <a:r>
              <a:rPr sz="1600" b="1" i="0">
                <a:solidFill>
                  <a:srgbClr val="1D4ED8"/>
                </a:solidFill>
                <a:latin typeface="Segoe UI"/>
              </a:rPr>
              <a:t>② RAG</a:t>
            </a:r>
          </a:p>
        </p:txBody>
      </p:sp>
      <p:sp>
        <p:nvSpPr>
          <p:cNvPr id="23" name="TextBox 22"/>
          <p:cNvSpPr txBox="1"/>
          <p:nvPr/>
        </p:nvSpPr>
        <p:spPr>
          <a:xfrm>
            <a:off x="6364224" y="1719072"/>
            <a:ext cx="4846320" cy="219456"/>
          </a:xfrm>
          <a:prstGeom prst="rect">
            <a:avLst/>
          </a:prstGeom>
          <a:noFill/>
        </p:spPr>
        <p:txBody>
          <a:bodyPr wrap="square" lIns="36576" tIns="18288" rIns="36576" bIns="18288" anchor="t">
            <a:spAutoFit/>
          </a:bodyPr>
          <a:lstStyle/>
          <a:p>
            <a:pPr algn="l">
              <a:lnSpc>
                <a:spcPct val="100000"/>
              </a:lnSpc>
              <a:spcAft>
                <a:spcPts val="0"/>
              </a:spcAft>
            </a:pPr>
            <a:r>
              <a:rPr sz="850" b="1" i="0">
                <a:solidFill>
                  <a:srgbClr val="1D4ED8"/>
                </a:solidFill>
                <a:latin typeface="Segoe UI"/>
              </a:rPr>
              <a:t>tri thức shop → câu trả lời</a:t>
            </a:r>
          </a:p>
        </p:txBody>
      </p:sp>
      <p:sp>
        <p:nvSpPr>
          <p:cNvPr id="24" name="TextBox 23"/>
          <p:cNvSpPr txBox="1"/>
          <p:nvPr/>
        </p:nvSpPr>
        <p:spPr>
          <a:xfrm>
            <a:off x="6382512" y="2057400"/>
            <a:ext cx="1600200" cy="219456"/>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0F172A"/>
                </a:solidFill>
                <a:latin typeface="Segoe UI"/>
              </a:rPr>
              <a:t>top-5</a:t>
            </a:r>
          </a:p>
        </p:txBody>
      </p:sp>
      <p:sp>
        <p:nvSpPr>
          <p:cNvPr id="25" name="TextBox 24"/>
          <p:cNvSpPr txBox="1"/>
          <p:nvPr/>
        </p:nvSpPr>
        <p:spPr>
          <a:xfrm>
            <a:off x="8001000" y="2057400"/>
            <a:ext cx="3337560" cy="219456"/>
          </a:xfrm>
          <a:prstGeom prst="rect">
            <a:avLst/>
          </a:prstGeom>
          <a:noFill/>
        </p:spPr>
        <p:txBody>
          <a:bodyPr wrap="square" lIns="36576" tIns="18288" rIns="36576" bIns="18288" anchor="t">
            <a:spAutoFit/>
          </a:bodyPr>
          <a:lstStyle/>
          <a:p>
            <a:pPr algn="l">
              <a:lnSpc>
                <a:spcPct val="100000"/>
              </a:lnSpc>
              <a:spcAft>
                <a:spcPts val="0"/>
              </a:spcAft>
            </a:pPr>
            <a:r>
              <a:rPr sz="840" b="0" i="0">
                <a:solidFill>
                  <a:srgbClr val="64748B"/>
                </a:solidFill>
                <a:latin typeface="Segoe UI"/>
              </a:rPr>
              <a:t>cosine trên vector đã normalize</a:t>
            </a:r>
          </a:p>
        </p:txBody>
      </p:sp>
      <p:cxnSp>
        <p:nvCxnSpPr>
          <p:cNvPr id="26" name="Connector 25"/>
          <p:cNvCxnSpPr/>
          <p:nvPr/>
        </p:nvCxnSpPr>
        <p:spPr>
          <a:xfrm>
            <a:off x="6382512" y="2386584"/>
            <a:ext cx="4956048" cy="0"/>
          </a:xfrm>
          <a:prstGeom prst="line">
            <a:avLst/>
          </a:prstGeom>
          <a:ln w="9525">
            <a:solidFill>
              <a:srgbClr val="DBEAF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382512" y="2496312"/>
            <a:ext cx="1600200" cy="219456"/>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0F172A"/>
                </a:solidFill>
                <a:latin typeface="Segoe UI"/>
              </a:rPr>
              <a:t>384 chiều</a:t>
            </a:r>
          </a:p>
        </p:txBody>
      </p:sp>
      <p:sp>
        <p:nvSpPr>
          <p:cNvPr id="28" name="TextBox 27"/>
          <p:cNvSpPr txBox="1"/>
          <p:nvPr/>
        </p:nvSpPr>
        <p:spPr>
          <a:xfrm>
            <a:off x="8001000" y="2496312"/>
            <a:ext cx="3337560" cy="219456"/>
          </a:xfrm>
          <a:prstGeom prst="rect">
            <a:avLst/>
          </a:prstGeom>
          <a:noFill/>
        </p:spPr>
        <p:txBody>
          <a:bodyPr wrap="square" lIns="36576" tIns="18288" rIns="36576" bIns="18288" anchor="t">
            <a:spAutoFit/>
          </a:bodyPr>
          <a:lstStyle/>
          <a:p>
            <a:pPr algn="l">
              <a:lnSpc>
                <a:spcPct val="100000"/>
              </a:lnSpc>
              <a:spcAft>
                <a:spcPts val="0"/>
              </a:spcAft>
            </a:pPr>
            <a:r>
              <a:rPr sz="840" b="0" i="0">
                <a:solidFill>
                  <a:srgbClr val="64748B"/>
                </a:solidFill>
                <a:latin typeface="Segoe UI"/>
              </a:rPr>
              <a:t>e5-small, embedding 100% local</a:t>
            </a:r>
          </a:p>
        </p:txBody>
      </p:sp>
      <p:cxnSp>
        <p:nvCxnSpPr>
          <p:cNvPr id="29" name="Connector 28"/>
          <p:cNvCxnSpPr/>
          <p:nvPr/>
        </p:nvCxnSpPr>
        <p:spPr>
          <a:xfrm>
            <a:off x="6382512" y="2825496"/>
            <a:ext cx="4956048" cy="0"/>
          </a:xfrm>
          <a:prstGeom prst="line">
            <a:avLst/>
          </a:prstGeom>
          <a:ln w="9525">
            <a:solidFill>
              <a:srgbClr val="DBEAF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382512" y="2935224"/>
            <a:ext cx="1600200" cy="219456"/>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0F172A"/>
                </a:solidFill>
                <a:latin typeface="Segoe UI"/>
              </a:rPr>
              <a:t>20 giây</a:t>
            </a:r>
          </a:p>
        </p:txBody>
      </p:sp>
      <p:sp>
        <p:nvSpPr>
          <p:cNvPr id="31" name="TextBox 30"/>
          <p:cNvSpPr txBox="1"/>
          <p:nvPr/>
        </p:nvSpPr>
        <p:spPr>
          <a:xfrm>
            <a:off x="8001000" y="2935224"/>
            <a:ext cx="3337560" cy="219456"/>
          </a:xfrm>
          <a:prstGeom prst="rect">
            <a:avLst/>
          </a:prstGeom>
          <a:noFill/>
        </p:spPr>
        <p:txBody>
          <a:bodyPr wrap="square" lIns="36576" tIns="18288" rIns="36576" bIns="18288" anchor="t">
            <a:spAutoFit/>
          </a:bodyPr>
          <a:lstStyle/>
          <a:p>
            <a:pPr algn="l">
              <a:lnSpc>
                <a:spcPct val="100000"/>
              </a:lnSpc>
              <a:spcAft>
                <a:spcPts val="0"/>
              </a:spcAft>
            </a:pPr>
            <a:r>
              <a:rPr sz="840" b="0" i="0">
                <a:solidFill>
                  <a:srgbClr val="64748B"/>
                </a:solidFill>
                <a:latin typeface="Segoe UI"/>
              </a:rPr>
              <a:t>timeout Groq + fallback toàn KB</a:t>
            </a:r>
          </a:p>
        </p:txBody>
      </p:sp>
      <p:cxnSp>
        <p:nvCxnSpPr>
          <p:cNvPr id="32" name="Connector 31"/>
          <p:cNvCxnSpPr/>
          <p:nvPr/>
        </p:nvCxnSpPr>
        <p:spPr>
          <a:xfrm>
            <a:off x="6382512" y="3264408"/>
            <a:ext cx="4956048" cy="0"/>
          </a:xfrm>
          <a:prstGeom prst="line">
            <a:avLst/>
          </a:prstGeom>
          <a:ln w="9525">
            <a:solidFill>
              <a:srgbClr val="DBEAFE"/>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382512" y="3374136"/>
            <a:ext cx="1600200" cy="219456"/>
          </a:xfrm>
          <a:prstGeom prst="rect">
            <a:avLst/>
          </a:prstGeom>
          <a:noFill/>
        </p:spPr>
        <p:txBody>
          <a:bodyPr wrap="square" lIns="36576" tIns="18288" rIns="36576" bIns="18288" anchor="t">
            <a:spAutoFit/>
          </a:bodyPr>
          <a:lstStyle/>
          <a:p>
            <a:pPr algn="l">
              <a:lnSpc>
                <a:spcPct val="100000"/>
              </a:lnSpc>
              <a:spcAft>
                <a:spcPts val="0"/>
              </a:spcAft>
            </a:pPr>
            <a:r>
              <a:rPr sz="950" b="1" i="0">
                <a:solidFill>
                  <a:srgbClr val="0F172A"/>
                </a:solidFill>
                <a:latin typeface="Segoe UI"/>
              </a:rPr>
              <a:t>Trace</a:t>
            </a:r>
          </a:p>
        </p:txBody>
      </p:sp>
      <p:sp>
        <p:nvSpPr>
          <p:cNvPr id="34" name="TextBox 33"/>
          <p:cNvSpPr txBox="1"/>
          <p:nvPr/>
        </p:nvSpPr>
        <p:spPr>
          <a:xfrm>
            <a:off x="8001000" y="3374136"/>
            <a:ext cx="3337560" cy="219456"/>
          </a:xfrm>
          <a:prstGeom prst="rect">
            <a:avLst/>
          </a:prstGeom>
          <a:noFill/>
        </p:spPr>
        <p:txBody>
          <a:bodyPr wrap="square" lIns="36576" tIns="18288" rIns="36576" bIns="18288" anchor="t">
            <a:spAutoFit/>
          </a:bodyPr>
          <a:lstStyle/>
          <a:p>
            <a:pPr algn="l">
              <a:lnSpc>
                <a:spcPct val="100000"/>
              </a:lnSpc>
              <a:spcAft>
                <a:spcPts val="0"/>
              </a:spcAft>
            </a:pPr>
            <a:r>
              <a:rPr sz="840" b="0" i="0">
                <a:solidFill>
                  <a:srgbClr val="64748B"/>
                </a:solidFill>
                <a:latin typeface="Segoe UI"/>
              </a:rPr>
              <a:t>model · nguồn · token · thời gian</a:t>
            </a:r>
          </a:p>
        </p:txBody>
      </p:sp>
      <p:cxnSp>
        <p:nvCxnSpPr>
          <p:cNvPr id="35" name="Connector 34"/>
          <p:cNvCxnSpPr/>
          <p:nvPr/>
        </p:nvCxnSpPr>
        <p:spPr>
          <a:xfrm>
            <a:off x="6382512" y="3703320"/>
            <a:ext cx="4956048" cy="0"/>
          </a:xfrm>
          <a:prstGeom prst="line">
            <a:avLst/>
          </a:prstGeom>
          <a:ln w="9525">
            <a:solidFill>
              <a:srgbClr val="DBEAFE"/>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594360" y="4434840"/>
            <a:ext cx="3429000" cy="1234440"/>
          </a:xfrm>
          <a:prstGeom prst="roundRect">
            <a:avLst>
              <a:gd name="adj" fmla="val 12000"/>
            </a:avLst>
          </a:prstGeom>
          <a:solidFill>
            <a:srgbClr val="E6FFFA"/>
          </a:solidFill>
          <a:ln w="12700">
            <a:solidFill>
              <a:srgbClr val="E6FF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740664" y="4553712"/>
            <a:ext cx="274320" cy="27432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Segoe UI"/>
              </a:rPr>
              <a:t>1</a:t>
            </a:r>
          </a:p>
        </p:txBody>
      </p:sp>
      <p:sp>
        <p:nvSpPr>
          <p:cNvPr id="38" name="TextBox 37"/>
          <p:cNvSpPr txBox="1"/>
          <p:nvPr/>
        </p:nvSpPr>
        <p:spPr>
          <a:xfrm>
            <a:off x="1106424" y="4544568"/>
            <a:ext cx="2743200" cy="237744"/>
          </a:xfrm>
          <a:prstGeom prst="rect">
            <a:avLst/>
          </a:prstGeom>
          <a:noFill/>
        </p:spPr>
        <p:txBody>
          <a:bodyPr wrap="square" lIns="36576" tIns="18288" rIns="36576" bIns="18288" anchor="t">
            <a:spAutoFit/>
          </a:bodyPr>
          <a:lstStyle/>
          <a:p>
            <a:pPr algn="l">
              <a:lnSpc>
                <a:spcPct val="100000"/>
              </a:lnSpc>
              <a:spcAft>
                <a:spcPts val="0"/>
              </a:spcAft>
            </a:pPr>
            <a:r>
              <a:rPr sz="1050" b="1" i="0">
                <a:solidFill>
                  <a:srgbClr val="0F766E"/>
                </a:solidFill>
                <a:latin typeface="Segoe UI"/>
              </a:rPr>
              <a:t>Aho-Corasick</a:t>
            </a:r>
          </a:p>
        </p:txBody>
      </p:sp>
      <p:sp>
        <p:nvSpPr>
          <p:cNvPr id="39" name="TextBox 38"/>
          <p:cNvSpPr txBox="1"/>
          <p:nvPr/>
        </p:nvSpPr>
        <p:spPr>
          <a:xfrm>
            <a:off x="1106424" y="4828032"/>
            <a:ext cx="2743200" cy="713232"/>
          </a:xfrm>
          <a:prstGeom prst="rect">
            <a:avLst/>
          </a:prstGeom>
          <a:noFill/>
        </p:spPr>
        <p:txBody>
          <a:bodyPr wrap="square" lIns="36576" tIns="18288" rIns="36576" bIns="18288" anchor="t">
            <a:spAutoFit/>
          </a:bodyPr>
          <a:lstStyle/>
          <a:p>
            <a:pPr algn="l">
              <a:lnSpc>
                <a:spcPct val="105000"/>
              </a:lnSpc>
              <a:spcAft>
                <a:spcPts val="0"/>
              </a:spcAft>
            </a:pPr>
            <a:r>
              <a:rPr sz="850" b="0" i="0">
                <a:solidFill>
                  <a:srgbClr val="1E293B"/>
                </a:solidFill>
                <a:latin typeface="Segoe UI"/>
              </a:rPr>
              <a:t>biến comment thành đơn — nhanh, đúng, không oversell.</a:t>
            </a:r>
          </a:p>
        </p:txBody>
      </p:sp>
      <p:sp>
        <p:nvSpPr>
          <p:cNvPr id="40" name="Rounded Rectangle 39"/>
          <p:cNvSpPr/>
          <p:nvPr/>
        </p:nvSpPr>
        <p:spPr>
          <a:xfrm>
            <a:off x="4251960" y="4434840"/>
            <a:ext cx="3429000" cy="1234440"/>
          </a:xfrm>
          <a:prstGeom prst="roundRect">
            <a:avLst>
              <a:gd name="adj" fmla="val 12000"/>
            </a:avLst>
          </a:prstGeom>
          <a:solidFill>
            <a:srgbClr val="EFF6FF"/>
          </a:solidFill>
          <a:ln w="12700">
            <a:solidFill>
              <a:srgbClr val="EFF6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4398264" y="4553712"/>
            <a:ext cx="274320" cy="27432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Segoe UI"/>
              </a:rPr>
              <a:t>2</a:t>
            </a:r>
          </a:p>
        </p:txBody>
      </p:sp>
      <p:sp>
        <p:nvSpPr>
          <p:cNvPr id="42" name="TextBox 41"/>
          <p:cNvSpPr txBox="1"/>
          <p:nvPr/>
        </p:nvSpPr>
        <p:spPr>
          <a:xfrm>
            <a:off x="4764024" y="4544568"/>
            <a:ext cx="2743200" cy="237744"/>
          </a:xfrm>
          <a:prstGeom prst="rect">
            <a:avLst/>
          </a:prstGeom>
          <a:noFill/>
        </p:spPr>
        <p:txBody>
          <a:bodyPr wrap="square" lIns="36576" tIns="18288" rIns="36576" bIns="18288" anchor="t">
            <a:spAutoFit/>
          </a:bodyPr>
          <a:lstStyle/>
          <a:p>
            <a:pPr algn="l">
              <a:lnSpc>
                <a:spcPct val="100000"/>
              </a:lnSpc>
              <a:spcAft>
                <a:spcPts val="0"/>
              </a:spcAft>
            </a:pPr>
            <a:r>
              <a:rPr sz="1050" b="1" i="0">
                <a:solidFill>
                  <a:srgbClr val="1D4ED8"/>
                </a:solidFill>
                <a:latin typeface="Segoe UI"/>
              </a:rPr>
              <a:t>RAG</a:t>
            </a:r>
          </a:p>
        </p:txBody>
      </p:sp>
      <p:sp>
        <p:nvSpPr>
          <p:cNvPr id="43" name="TextBox 42"/>
          <p:cNvSpPr txBox="1"/>
          <p:nvPr/>
        </p:nvSpPr>
        <p:spPr>
          <a:xfrm>
            <a:off x="4764024" y="4828032"/>
            <a:ext cx="2743200" cy="713232"/>
          </a:xfrm>
          <a:prstGeom prst="rect">
            <a:avLst/>
          </a:prstGeom>
          <a:noFill/>
        </p:spPr>
        <p:txBody>
          <a:bodyPr wrap="square" lIns="36576" tIns="18288" rIns="36576" bIns="18288" anchor="t">
            <a:spAutoFit/>
          </a:bodyPr>
          <a:lstStyle/>
          <a:p>
            <a:pPr algn="l">
              <a:lnSpc>
                <a:spcPct val="105000"/>
              </a:lnSpc>
              <a:spcAft>
                <a:spcPts val="0"/>
              </a:spcAft>
            </a:pPr>
            <a:r>
              <a:rPr sz="850" b="0" i="0">
                <a:solidFill>
                  <a:srgbClr val="1E293B"/>
                </a:solidFill>
                <a:latin typeface="Segoe UI"/>
              </a:rPr>
              <a:t>biến dữ liệu shop thành câu trả lời — đúng shop, đúng giá/kho, có dẫn nguồn.</a:t>
            </a:r>
          </a:p>
        </p:txBody>
      </p:sp>
      <p:sp>
        <p:nvSpPr>
          <p:cNvPr id="44" name="Rounded Rectangle 43"/>
          <p:cNvSpPr/>
          <p:nvPr/>
        </p:nvSpPr>
        <p:spPr>
          <a:xfrm>
            <a:off x="7909560" y="4434840"/>
            <a:ext cx="3429000" cy="1234440"/>
          </a:xfrm>
          <a:prstGeom prst="roundRect">
            <a:avLst>
              <a:gd name="adj" fmla="val 12000"/>
            </a:avLst>
          </a:prstGeom>
          <a:solidFill>
            <a:srgbClr val="EDE9FE"/>
          </a:solidFill>
          <a:ln w="12700">
            <a:solidFill>
              <a:srgbClr val="EDE9F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Oval 44"/>
          <p:cNvSpPr/>
          <p:nvPr/>
        </p:nvSpPr>
        <p:spPr>
          <a:xfrm>
            <a:off x="8055864" y="4553712"/>
            <a:ext cx="274320" cy="27432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FFFFFF"/>
                </a:solidFill>
                <a:latin typeface="Segoe UI"/>
              </a:rPr>
              <a:t>3</a:t>
            </a:r>
          </a:p>
        </p:txBody>
      </p:sp>
      <p:sp>
        <p:nvSpPr>
          <p:cNvPr id="46" name="TextBox 45"/>
          <p:cNvSpPr txBox="1"/>
          <p:nvPr/>
        </p:nvSpPr>
        <p:spPr>
          <a:xfrm>
            <a:off x="8421624" y="4544568"/>
            <a:ext cx="2743200" cy="237744"/>
          </a:xfrm>
          <a:prstGeom prst="rect">
            <a:avLst/>
          </a:prstGeom>
          <a:noFill/>
        </p:spPr>
        <p:txBody>
          <a:bodyPr wrap="square" lIns="36576" tIns="18288" rIns="36576" bIns="18288" anchor="t">
            <a:spAutoFit/>
          </a:bodyPr>
          <a:lstStyle/>
          <a:p>
            <a:pPr algn="l">
              <a:lnSpc>
                <a:spcPct val="100000"/>
              </a:lnSpc>
              <a:spcAft>
                <a:spcPts val="0"/>
              </a:spcAft>
            </a:pPr>
            <a:r>
              <a:rPr sz="1050" b="1" i="0">
                <a:solidFill>
                  <a:srgbClr val="6D28D9"/>
                </a:solidFill>
                <a:latin typeface="Segoe UI"/>
              </a:rPr>
              <a:t>Niềm tin</a:t>
            </a:r>
          </a:p>
        </p:txBody>
      </p:sp>
      <p:sp>
        <p:nvSpPr>
          <p:cNvPr id="47" name="TextBox 46"/>
          <p:cNvSpPr txBox="1"/>
          <p:nvPr/>
        </p:nvSpPr>
        <p:spPr>
          <a:xfrm>
            <a:off x="8421624" y="4828032"/>
            <a:ext cx="2743200" cy="713232"/>
          </a:xfrm>
          <a:prstGeom prst="rect">
            <a:avLst/>
          </a:prstGeom>
          <a:noFill/>
        </p:spPr>
        <p:txBody>
          <a:bodyPr wrap="square" lIns="36576" tIns="18288" rIns="36576" bIns="18288" anchor="t">
            <a:spAutoFit/>
          </a:bodyPr>
          <a:lstStyle/>
          <a:p>
            <a:pPr algn="l">
              <a:lnSpc>
                <a:spcPct val="105000"/>
              </a:lnSpc>
              <a:spcAft>
                <a:spcPts val="0"/>
              </a:spcAft>
            </a:pPr>
            <a:r>
              <a:rPr sz="850" b="0" i="0">
                <a:solidFill>
                  <a:srgbClr val="1E293B"/>
                </a:solidFill>
                <a:latin typeface="Segoe UI"/>
              </a:rPr>
              <a:t>takeover + trace + fallback: người thật luôn thắng, AI không bịa.</a:t>
            </a:r>
          </a:p>
        </p:txBody>
      </p:sp>
      <p:sp>
        <p:nvSpPr>
          <p:cNvPr id="48" name="TextBox 47"/>
          <p:cNvSpPr txBox="1"/>
          <p:nvPr/>
        </p:nvSpPr>
        <p:spPr>
          <a:xfrm>
            <a:off x="594360" y="5925312"/>
            <a:ext cx="11000232" cy="274320"/>
          </a:xfrm>
          <a:prstGeom prst="rect">
            <a:avLst/>
          </a:prstGeom>
          <a:noFill/>
        </p:spPr>
        <p:txBody>
          <a:bodyPr wrap="square" lIns="36576" tIns="18288" rIns="36576" bIns="18288" anchor="t">
            <a:spAutoFit/>
          </a:bodyPr>
          <a:lstStyle/>
          <a:p>
            <a:pPr algn="ctr">
              <a:lnSpc>
                <a:spcPct val="100000"/>
              </a:lnSpc>
              <a:spcAft>
                <a:spcPts val="0"/>
              </a:spcAft>
            </a:pPr>
            <a:r>
              <a:rPr sz="880" b="1" i="0">
                <a:solidFill>
                  <a:srgbClr val="64748B"/>
                </a:solidFill>
                <a:latin typeface="Segoe UI"/>
              </a:rPr>
              <a:t>Next.js 16 · React 19 · Socket.IO · Prisma 7 / PostgreSQL · Transformers.js e5-small · Groq</a:t>
            </a:r>
          </a:p>
        </p:txBody>
      </p:sp>
      <p:sp>
        <p:nvSpPr>
          <p:cNvPr id="49" name="TextBox 48"/>
          <p:cNvSpPr txBox="1"/>
          <p:nvPr/>
        </p:nvSpPr>
        <p:spPr>
          <a:xfrm>
            <a:off x="594360" y="6236208"/>
            <a:ext cx="11000232" cy="201168"/>
          </a:xfrm>
          <a:prstGeom prst="rect">
            <a:avLst/>
          </a:prstGeom>
          <a:noFill/>
        </p:spPr>
        <p:txBody>
          <a:bodyPr wrap="square" lIns="36576" tIns="18288" rIns="36576" bIns="18288" anchor="t">
            <a:spAutoFit/>
          </a:bodyPr>
          <a:lstStyle/>
          <a:p>
            <a:pPr algn="ctr">
              <a:lnSpc>
                <a:spcPct val="100000"/>
              </a:lnSpc>
              <a:spcAft>
                <a:spcPts val="0"/>
              </a:spcAft>
            </a:pPr>
            <a:r>
              <a:rPr sz="1100" b="1" i="0">
                <a:solidFill>
                  <a:srgbClr val="0F766E"/>
                </a:solidFill>
                <a:latin typeface="Segoe UI"/>
              </a:rPr>
              <a:t>Cảm ơn hội đồng — Q&amp;A</a:t>
            </a:r>
          </a:p>
        </p:txBody>
      </p:sp>
      <p:cxnSp>
        <p:nvCxnSpPr>
          <p:cNvPr id="50" name="Connector 49"/>
          <p:cNvCxnSpPr/>
          <p:nvPr/>
        </p:nvCxnSpPr>
        <p:spPr>
          <a:xfrm>
            <a:off x="594360" y="6492240"/>
            <a:ext cx="1100023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94360" y="6537960"/>
            <a:ext cx="7315200" cy="201168"/>
          </a:xfrm>
          <a:prstGeom prst="rect">
            <a:avLst/>
          </a:prstGeom>
          <a:noFill/>
        </p:spPr>
        <p:txBody>
          <a:bodyPr wrap="square" lIns="36576" tIns="18288" rIns="36576" bIns="18288" anchor="t">
            <a:spAutoFit/>
          </a:bodyPr>
          <a:lstStyle/>
          <a:p>
            <a:pPr algn="l">
              <a:lnSpc>
                <a:spcPct val="100000"/>
              </a:lnSpc>
              <a:spcAft>
                <a:spcPts val="0"/>
              </a:spcAft>
            </a:pPr>
            <a:r>
              <a:rPr sz="800" b="0" i="0">
                <a:solidFill>
                  <a:srgbClr val="94A3B8"/>
                </a:solidFill>
                <a:latin typeface="Segoe UI"/>
              </a:rPr>
              <a:t>LiveOrder · Pipeline toàn dự án · 2026</a:t>
            </a:r>
          </a:p>
        </p:txBody>
      </p:sp>
      <p:sp>
        <p:nvSpPr>
          <p:cNvPr id="52" name="TextBox 51"/>
          <p:cNvSpPr txBox="1"/>
          <p:nvPr/>
        </p:nvSpPr>
        <p:spPr>
          <a:xfrm>
            <a:off x="8229600" y="6537960"/>
            <a:ext cx="3364992" cy="201168"/>
          </a:xfrm>
          <a:prstGeom prst="rect">
            <a:avLst/>
          </a:prstGeom>
          <a:noFill/>
        </p:spPr>
        <p:txBody>
          <a:bodyPr wrap="square" lIns="36576" tIns="18288" rIns="36576" bIns="18288" anchor="t">
            <a:spAutoFit/>
          </a:bodyPr>
          <a:lstStyle/>
          <a:p>
            <a:pPr algn="r">
              <a:lnSpc>
                <a:spcPct val="100000"/>
              </a:lnSpc>
              <a:spcAft>
                <a:spcPts val="0"/>
              </a:spcAft>
            </a:pPr>
            <a:r>
              <a:rPr sz="800" b="0" i="0">
                <a:solidFill>
                  <a:srgbClr val="94A3B8"/>
                </a:solidFill>
                <a:latin typeface="Segoe UI"/>
              </a:rPr>
              <a:t>Aho-Corasick  ·  RAG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LiveOrder — Pipeline toàn dự án (Aho-Corasick &amp; RAG)</dc:title>
  <dc:subject>Đồ án tốt nghiệp — livestream commerce</dc:subject>
  <dc:creator>LiveOrder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